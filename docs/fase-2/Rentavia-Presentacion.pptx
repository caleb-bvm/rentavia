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e04f34d-15a2-e124-05a2-948ada249aab}">
          <p14:sldIdLst>
            <p14:sldId id="256"/>
            <p14:sldId id="257"/>
            <p14:sldId id="258"/>
            <p14:sldId id="259"/>
            <p14:sldId id="260"/>
          </p14:sldIdLst>
        </p14:section>
        <p14:section name="Solución" id="{908d6180-e7b4-1823-8dca-f69bca5e8ce8}">
          <p14:sldIdLst>
            <p14:sldId id="261"/>
            <p14:sldId id="262"/>
            <p14:sldId id="263"/>
            <p14:sldId id="264"/>
          </p14:sldIdLst>
        </p14:section>
        <p14:section name="Parte técnica" id="{784aba45-cb8c-c550-bad1-41e343b9a91c}">
          <p14:sldIdLst>
            <p14:sldId id="265"/>
            <p14:sldId id="266"/>
            <p14:sldId id="267"/>
            <p14:sldId id="268"/>
            <p14:sldId id="269"/>
            <p14:sldId id="270"/>
            <p14:sldId id="271"/>
            <p14:sldId id="272"/>
          </p14:sldIdLst>
        </p14:section>
        <p14:section name="Despliegue" id="{e50e933e-ea09-5871-8415-4eb041077b4c}">
          <p14:sldIdLst>
            <p14:sldId id="273"/>
            <p14:sldId id="274"/>
          </p14:sldIdLst>
        </p14:section>
        <p14:section name="Resultados" id="{116b3573-c992-2248-4bd3-7a8b49faed43}">
          <p14:sldIdLst>
            <p14:sldId id="275"/>
            <p14:sldId id="276"/>
            <p14:sldId id="277"/>
          </p14:sldIdLst>
        </p14:section>
        <p14:section name="Conclusiones" id="{d6116c64-68ea-31d9-bf4f-ae54181df1f5}">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Josué Flores (liderazgo y análisis).
Saludo y presentación del equipo. Una frase para enganchar: Rentavía reúne en un solo sistema todo lo que una agencia de renta hace a diario: flota, clientes, reservas, entregas, cobros y mantenimiento, con un recomendador de IA.
El lema "una sola fuente de información" es el mismo de la pantalla de acceso de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Josué Flores.
Recorrido en ocho bloques. Sugerencia de reparto según los roles de la Fase I: Josué (introducción, problema, idea), Michael (solución e interfaz), Cristian (backend e IA), Nathaly (base de datos, Docker y Azure), Jimmy (pruebas, conclusiones y preguntas). Tiempo estimado: 20 a 25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Josué Flores.
Rentavía es la Fase II: el prototipo funcional del diseño que entregamos en la Fase I. Es una herramienta interna: el cliente no tiene cuenta, el empleado registra sus datos.
Si preguntan por qué no hay portal de clientes: el alcance se definió para la operación interna de una agencia piloto; un portal implicaría pagos en línea y correos, que quedaron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Josué Flores.
Estos cuatro problemas salen del análisis de la Fase I. El más grave es la doble reserva, porque genera clientes sin vehículo. Todo el diseño técnico de la solución gira alrededor de evitarla.
No dar cifras de mercado que no tengamos documentadas.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Josué Flores.
La idea tiene tres pilares. El primero es técnico (la agenda única), el segundo es de experiencia de usuario (el flujo guiado) y el tercero es el valor agregado (la IA).
Frase clave: la IA trabaja sobre datos que el sistema ya validó.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Michael Ortiz (frontend y UX/UI).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Michael Ortiz.
Recorrer los módulos rápido; el detalle viene en la demo. Remarcar que el CRUD completo está en los cuatro catálogos y que solo el administrador elimina.
Si preguntan por la eliminación: un cliente o vehículo con reservas no se borra físicamente para conservar el historial; se desactiva o se marca como Retirado.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Michael Ortiz.
La pantalla de inicio prioriza lo que necesita atención hoy: vehículos libres, reservas por entregar, alquileres en curso y devoluciones atrasadas (se resaltan en rojo). Debajo está la guía de cuatro pasos; cada paso abre su pantalla.
El menú se agrupa por tarea (Rentar, Flota y clientes, Configuración, Administración) y la barra superior tiene migas de navegación y el atajo Nueva renta.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Michael Ortiz.
La interfaz conserva la estructura de pantallas de los prototipos de la Fase I (menú lateral, panel con indicadores, tarjetas de vehículos) y se rediseñó con Material Design 3.
Detalles que se pueden mostrar en la demo: contadores para pasajeros y maletas, atajos de período, pestañas por estado en Reservas y Alquileres, y el botón Nuevo cliente desde una reserva, que regresa con el cliente ya seleccionado.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(backend e IA) y Nathaly Martínez (base de datos y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Cuatro proyectos .NET: Domain (entidades y estados), Application (cálculo de días y totales, cruce de intervalos e interfaz IRecomendador), Infrastructure (RentaviaDbContext, migraciones, AgendaService, AlquilerService, OpenAiRecomendador) y Web (controladores, formularios, vistas).
Flujo de una petición: el controlador recibe el formulario, el servicio aplica las reglas, el contexto guarda y la vista muestra el resultado.
Si preguntan por qué no microservicios: una agencia pequeña no los necesita y un solo despliegue evita transacciones distribuidas.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Todo es ecosistema Microsoft, como pide la guía: C# en backend y frontend con ASP.NET Core, EF Core, Identity, SQL Server, Docker y Azure. La IA es OpenAI consumida desde el servidor por HTTP (cumple el punto de consumo de APIs externas).
Versiones exactas: EF Core e Identity 10.0.11; modelo por defecto gpt-4.1-mini, configurable con OpenAI__Modelo.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Nathaly Martínez (base de datos).
Cambiamos de PostgreSQL (propuesto en la Fase I) a SQL Server: tiene proveedor oficial de EF Core y Azure SQL Database como opción directa en la nube.
La tabla Ocupaciones es la agenda: cada reserva o mantenimiento crea una fila; el alquiler reutiliza la de su reserva. Las inspecciones y el cargo adicional son columnas de Alquileres, lo que simplificó dos tablas de la Fase I.
El respaldo database/datos/datos.sql permite cargar los mismos datos en cualquier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Esta es la diapositiva más importante para la defensa técnica. Una consulta previa no basta: dos empleados podrían consultar a la vez, ver el vehículo libre y guardar ambos. Por eso AgendaService abre una transacción serializable y lee el vehículo con UPDLOCK, HOLDLOCK: la segunda transacción espera, y cuando continúa ya ve la primera ocupación.
Los intervalos son semiabiertos [inicio, fin): una devolución a las 10:00 libera el vehículo para una reserva que empieza a las 10:00.
Para ediciones de un mismo registro se usa rowversion (concurrencia optimista), que es otro problema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Entrada → procesamiento → resultado → beneficio, que es justo lo que pide la guía.
La IA solo elige entre candidatos que el sistema ya verificó como libres, por eso nunca sugiere algo que no se pueda reservar. No se envían datos de clientes a OpenAI. Parámetros: store=false, max_output_tokens=800, límite de 10 consultas por minuto por usuario. Cada consulta se guarda en la tabla Recomendaciones con entrada, candidatos, resultado, origen, modelo y versión del prompt (rentavia-v1).
La captura muestra el modo de respaldo porque el equipo de demo no tenía la clave cargada; con la clave, el origen dice OpenAI y cada vehículo trae su explicación.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Cristian Torres.
No hay registro público: las cuentas las crea un administrador o el comando --create-admin. Al bloquear una cuenta se cambia su security stamp y la sesión abierta se invalida en el siguiente chequeo (cada minuto).
La auditoría se guarda en la misma transacción que la operación: o se guardan ambas o ninguna. La bitácora no almacena contraseñas, claves ni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Nathaly Martínez (DevOps).
Archivos: docker/Dockerfile y docker/docker-compose.yml, más .env (no se comparte) creado por Preparar-env.ps1 a partir de .env.example.
Los puertos se publican solo en 127.0.0.1 (web 8080, SQL 14330). La base, las fotos y las claves de sesión viven en volúmenes y sobreviven a docker compose down; down -v borra todo.
En la demo: mostrar docker compose ps con database y web activos.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Nathaly Martínez.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Nathaly Martínez.
Servicios: Container Apps (plan Consumption), Container Registry Basic, Azure SQL Database, Azure Storage, Key Vault y Azure Monitor con Application Insights.
Beneficios: reutiliza la imagen Docker sin cambiar código; Azure SQL evita mantener el servidor e incluye copias automáticas; Container Apps escala según demanda, incluso a cero réplicas; los secretos quedan fuera del código y de la imagen.
Costos consultados el 12 de octubre de 2026 en las páginas de precios de Azure; deben confirmarse en la calculadora antes de un despliegue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Jimmy Peña (pruebas y documentación).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Jimmy Peña.
Las pruebas se hicieron de forma manual en el navegador, con datos ficticios, más el script Verificar-base.sql para las restricciones de la base. Cubren lo que pide la guía: funcionamiento, casos de uso, integración, IA y Docker.
Si preguntan por pruebas automatizadas: existieron durante el desarrollo pero se retiraron del repositorio final; la evidencia entregada son las pruebas funcionales documentadas.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Jimmy Peña.
La rúbrica del pitch técnico pide explicar retos y lecciones aprendidas: esta diapositiva cubre ese punto. Contar un ejemplo concreto de cada reto si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Jimmy Peña.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Jimmy Peña.
Cerrar con la idea central: la Fase II convirtió el diseño de la Fase I en un sistema que funciona de principio a fin. Concentrar reservas, alquileres y mantenimientos en una sola agenda resolvió el problema planteado.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para la ronda de preguntas; puede ocultarse durante la exposición.
Otras preguntas posibles:
- ¿Por qué no microservicios? Una agencia pequeña no los necesita; un solo despliegue evita transacciones distribuidas.
- ¿Qué es rowversion? Concurrencia optimista para ediciones del mismo registro.
- ¿Por qué datetimeoffset UTC? Evita errores de zona horaria; la interfaz convierte a UTC-6.
- ¿Por qué copiar la tarifa en la reserva? Un cambio de precio no altera lo acordado.
- ¿Cómo se aplican las migraciones? Con --migrate o el servicio setup de Docker; la web nunca migra al arrancar.
- ¿Qué datos se envían a OpenAI? Solo preferencias y datos de los vehículos candidatos, nunca datos de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equipo.
Pasar a la demostración si no se hizo antes: iniciar sesión, buscar un vehículo, reservar, entregar, registrar un pago y devolver; luego pedir una recomendación y mostrar docker compose 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V_CONTENT">
    <p:bg>
      <p:bgPr>
        <a:solidFill>
          <a:srgbClr val="1F0F0F"/>
        </a:solidFill>
      </p:bgPr>
    </p:bg>
    <p:spTree>
      <p:nvGrpSpPr>
        <p:cNvPr id="1" name=""/>
        <p:cNvGrpSpPr/>
        <p:nvPr/>
      </p:nvGrpSpPr>
      <p:grpSpPr>
        <a:xfrm>
          <a:off x="0" y="0"/>
          <a:ext cx="0" cy="0"/>
          <a:chOff x="0" y="0"/>
          <a:chExt cx="0" cy="0"/>
        </a:xfrm>
      </p:grpSpPr>
      <p:sp>
        <p:nvSpPr>
          <p:cNvPr id="2" name="Shape 0"/>
          <p:cNvSpPr/>
          <p:nvPr/>
        </p:nvSpPr>
        <p:spPr>
          <a:xfrm>
            <a:off x="548640" y="525780"/>
            <a:ext cx="256032" cy="45720"/>
          </a:xfrm>
          <a:prstGeom prst="rect">
            <a:avLst/>
          </a:prstGeom>
          <a:solidFill>
            <a:schemeClr val="accent1"/>
          </a:solidFill>
          <a:ln/>
        </p:spPr>
      </p:sp>
      <p:sp>
        <p:nvSpPr>
          <p:cNvPr id="3" name="Text 1"/>
          <p:cNvSpPr/>
          <p:nvPr>
            <p:ph idx="101" type="body" hasCustomPrompt="1"/>
          </p:nvPr>
        </p:nvSpPr>
        <p:spPr>
          <a:xfrm>
            <a:off x="896112" y="393192"/>
            <a:ext cx="8229600" cy="310896"/>
          </a:xfrm>
          <a:prstGeom prst="rect">
            <a:avLst/>
          </a:prstGeom>
          <a:noFill/>
          <a:ln/>
        </p:spPr>
        <p:txBody>
          <a:bodyPr wrap="square" rtlCol="0"/>
          <a:lstStyle>
            <a:lvl1pPr indent="0" marL="0">
              <a:buNone/>
              <a:defRPr lang="en-US" sz="1100" b="1" spc="200" kern="0" dirty="0">
                <a:solidFill>
                  <a:schemeClr val="accent2"/>
                </a:solidFill>
                <a:latin typeface="Segoe UI" pitchFamily="34" charset="0"/>
                <a:ea typeface="Segoe UI" pitchFamily="34" charset="-122"/>
                <a:cs typeface="Segoe UI" pitchFamily="34" charset="-120"/>
              </a:defRPr>
            </a:lvl1pPr>
          </a:lstStyle>
          <a:p>
            <a:pPr indent="0" marL="0">
              <a:buNone/>
            </a:pPr>
            <a:endParaRPr lang="en-US" sz="1100" dirty="0"/>
          </a:p>
        </p:txBody>
      </p:sp>
      <p:sp>
        <p:nvSpPr>
          <p:cNvPr id="4" name="Text 1"/>
          <p:cNvSpPr/>
          <p:nvPr>
            <p:ph idx="102" type="title" hasCustomPrompt="1"/>
          </p:nvPr>
        </p:nvSpPr>
        <p:spPr>
          <a:xfrm>
            <a:off x="548640" y="731520"/>
            <a:ext cx="11064240" cy="731520"/>
          </a:xfrm>
          <a:prstGeom prst="rect">
            <a:avLst/>
          </a:prstGeom>
          <a:noFill/>
          <a:ln/>
        </p:spPr>
        <p:txBody>
          <a:bodyPr wrap="square" rtlCol="0"/>
          <a:lstStyle>
            <a:lvl1pPr algn="l" indent="0" marL="0">
              <a:buNone/>
              <a:defRPr lang="en-US" sz="3800" dirty="0">
                <a:solidFill>
                  <a:schemeClr val="bg1"/>
                </a:solidFill>
                <a:latin typeface="Bahnschrift SemiBold Condensed" pitchFamily="34" charset="0"/>
                <a:ea typeface="Bahnschrift SemiBold Condensed" pitchFamily="34" charset="-122"/>
                <a:cs typeface="Bahnschrift SemiBold Condensed" pitchFamily="34" charset="-120"/>
              </a:defRPr>
            </a:lvl1pPr>
          </a:lstStyle>
          <a:p>
            <a:pPr algn="l" indent="0" marL="0">
              <a:buNone/>
            </a:pPr>
            <a:endParaRPr lang="en-US" sz="3800" dirty="0"/>
          </a:p>
        </p:txBody>
      </p:sp>
      <p:sp>
        <p:nvSpPr>
          <p:cNvPr id="5" name="Shape 1"/>
          <p:cNvSpPr/>
          <p:nvPr/>
        </p:nvSpPr>
        <p:spPr>
          <a:xfrm>
            <a:off x="548640" y="6382512"/>
            <a:ext cx="274320" cy="274320"/>
          </a:xfrm>
          <a:prstGeom prst="rect">
            <a:avLst>
              <a:gd name="adj" fmla="val 20000"/>
            </a:avLst>
          </a:prstGeom>
          <a:solidFill>
            <a:schemeClr val="accent1"/>
          </a:solidFill>
          <a:ln/>
        </p:spPr>
      </p:sp>
      <p:sp>
        <p:nvSpPr>
          <p:cNvPr id="6" name="Text 2"/>
          <p:cNvSpPr/>
          <p:nvPr/>
        </p:nvSpPr>
        <p:spPr>
          <a:xfrm>
            <a:off x="548640" y="6382512"/>
            <a:ext cx="274320" cy="274320"/>
          </a:xfrm>
          <a:prstGeom prst="rect">
            <a:avLst/>
          </a:prstGeom>
          <a:noFill/>
          <a:ln/>
        </p:spPr>
        <p:txBody>
          <a:bodyPr wrap="square" lIns="0" tIns="0" rIns="0" bIns="0" rtlCol="0" anchor="ctr"/>
          <a:lstStyle/>
          <a:p>
            <a:pPr algn="ctr" indent="0" marL="0">
              <a:buNone/>
            </a:pPr>
            <a:r>
              <a:rPr lang="en-US" sz="900" dirty="0">
                <a:solidFill>
                  <a:srgbClr val="FFFFFF"/>
                </a:solidFill>
                <a:latin typeface="Bahnschrift SemiBold Condensed" pitchFamily="34" charset="0"/>
                <a:ea typeface="Bahnschrift SemiBold Condensed" pitchFamily="34" charset="-122"/>
                <a:cs typeface="Bahnschrift SemiBold Condensed" pitchFamily="34" charset="-120"/>
              </a:rPr>
              <a:t>RV</a:t>
            </a:r>
            <a:endParaRPr lang="en-US" sz="900" dirty="0"/>
          </a:p>
        </p:txBody>
      </p:sp>
      <p:sp>
        <p:nvSpPr>
          <p:cNvPr id="7" name="Text 3"/>
          <p:cNvSpPr/>
          <p:nvPr/>
        </p:nvSpPr>
        <p:spPr>
          <a:xfrm>
            <a:off x="932688" y="6382512"/>
            <a:ext cx="5486400" cy="274320"/>
          </a:xfrm>
          <a:prstGeom prst="rect">
            <a:avLst/>
          </a:prstGeom>
          <a:noFill/>
          <a:ln/>
        </p:spPr>
        <p:txBody>
          <a:bodyPr wrap="square" lIns="0" tIns="0" rIns="0" bIns="0" rtlCol="0" anchor="ctr"/>
          <a:lstStyle/>
          <a:p>
            <a:pPr indent="0" marL="0">
              <a:buNone/>
            </a:pPr>
            <a:r>
              <a:rPr lang="en-US" sz="1000" dirty="0">
                <a:solidFill>
                  <a:schemeClr val="bg2"/>
                </a:solidFill>
                <a:latin typeface="Segoe UI" pitchFamily="34" charset="0"/>
                <a:ea typeface="Segoe UI" pitchFamily="34" charset="-122"/>
                <a:cs typeface="Segoe UI" pitchFamily="34" charset="-120"/>
              </a:rPr>
              <a:t>RENTAVÍA · Proyecto de Cátedra DSP · Fase II</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V_SECTION">
    <p:bg>
      <p:bgPr>
        <a:solidFill>
          <a:srgbClr val="1F0F0F"/>
        </a:solidFill>
      </p:bgPr>
    </p:bg>
    <p:spTree>
      <p:nvGrpSpPr>
        <p:cNvPr id="1" name=""/>
        <p:cNvGrpSpPr/>
        <p:nvPr/>
      </p:nvGrpSpPr>
      <p:grpSpPr>
        <a:xfrm>
          <a:off x="0" y="0"/>
          <a:ext cx="0" cy="0"/>
          <a:chOff x="0" y="0"/>
          <a:chExt cx="0" cy="0"/>
        </a:xfrm>
      </p:grpSpPr>
      <p:sp>
        <p:nvSpPr>
          <p:cNvPr id="2" name="Shape 0"/>
          <p:cNvSpPr/>
          <p:nvPr/>
        </p:nvSpPr>
        <p:spPr>
          <a:xfrm rot="720000">
            <a:off x="7955280" y="-1097280"/>
            <a:ext cx="5669280" cy="9144000"/>
          </a:xfrm>
          <a:prstGeom prst="rect">
            <a:avLst/>
          </a:prstGeom>
          <a:solidFill>
            <a:schemeClr val="accent1"/>
          </a:solidFill>
          <a:ln/>
        </p:spPr>
      </p:sp>
      <p:sp>
        <p:nvSpPr>
          <p:cNvPr id="3" name="Text 1"/>
          <p:cNvSpPr/>
          <p:nvPr>
            <p:ph idx="101" type="body" hasCustomPrompt="1"/>
          </p:nvPr>
        </p:nvSpPr>
        <p:spPr>
          <a:xfrm>
            <a:off x="548640" y="1463040"/>
            <a:ext cx="5486400" cy="1463040"/>
          </a:xfrm>
          <a:prstGeom prst="rect">
            <a:avLst/>
          </a:prstGeom>
          <a:noFill/>
          <a:ln/>
        </p:spPr>
        <p:txBody>
          <a:bodyPr wrap="square" rtlCol="0"/>
          <a:lstStyle>
            <a:lvl1pPr algn="l" indent="0" marL="0">
              <a:buNone/>
              <a:defRPr lang="en-US" sz="11000" dirty="0">
                <a:solidFill>
                  <a:schemeClr val="accent1"/>
                </a:solidFill>
                <a:latin typeface="Bahnschrift SemiBold Condensed" pitchFamily="34" charset="0"/>
                <a:ea typeface="Bahnschrift SemiBold Condensed" pitchFamily="34" charset="-122"/>
                <a:cs typeface="Bahnschrift SemiBold Condensed" pitchFamily="34" charset="-120"/>
              </a:defRPr>
            </a:lvl1pPr>
          </a:lstStyle>
          <a:p>
            <a:pPr algn="l" indent="0" marL="0">
              <a:buNone/>
            </a:pPr>
            <a:endParaRPr lang="en-US" sz="11000" dirty="0"/>
          </a:p>
        </p:txBody>
      </p:sp>
      <p:sp>
        <p:nvSpPr>
          <p:cNvPr id="4" name="Text 1"/>
          <p:cNvSpPr/>
          <p:nvPr>
            <p:ph idx="102" type="title" hasCustomPrompt="1"/>
          </p:nvPr>
        </p:nvSpPr>
        <p:spPr>
          <a:xfrm>
            <a:off x="548640" y="2971800"/>
            <a:ext cx="6949440" cy="1188720"/>
          </a:xfrm>
          <a:prstGeom prst="rect">
            <a:avLst/>
          </a:prstGeom>
          <a:noFill/>
          <a:ln/>
        </p:spPr>
        <p:txBody>
          <a:bodyPr wrap="square" rtlCol="0"/>
          <a:lstStyle>
            <a:lvl1pPr algn="l" indent="0" marL="0">
              <a:buNone/>
              <a:defRPr lang="en-US" sz="6000" dirty="0">
                <a:solidFill>
                  <a:schemeClr val="bg1"/>
                </a:solidFill>
                <a:latin typeface="Bahnschrift SemiBold Condensed" pitchFamily="34" charset="0"/>
                <a:ea typeface="Bahnschrift SemiBold Condensed" pitchFamily="34" charset="-122"/>
                <a:cs typeface="Bahnschrift SemiBold Condensed" pitchFamily="34" charset="-120"/>
              </a:defRPr>
            </a:lvl1pPr>
          </a:lstStyle>
          <a:p>
            <a:pPr algn="l" indent="0" marL="0">
              <a:buNone/>
            </a:pPr>
            <a:endParaRPr lang="en-US" sz="6000" dirty="0"/>
          </a:p>
        </p:txBody>
      </p:sp>
      <p:sp>
        <p:nvSpPr>
          <p:cNvPr id="5" name="Text 1"/>
          <p:cNvSpPr/>
          <p:nvPr>
            <p:ph idx="103" type="body" hasCustomPrompt="1"/>
          </p:nvPr>
        </p:nvSpPr>
        <p:spPr>
          <a:xfrm>
            <a:off x="548640" y="4206240"/>
            <a:ext cx="6583680" cy="914400"/>
          </a:xfrm>
          <a:prstGeom prst="rect">
            <a:avLst/>
          </a:prstGeom>
          <a:noFill/>
          <a:ln/>
        </p:spPr>
        <p:txBody>
          <a:bodyPr wrap="square" rtlCol="0"/>
          <a:lstStyle>
            <a:lvl1pPr algn="l" indent="0" marL="0">
              <a:buNone/>
              <a:defRPr lang="en-US" sz="1800" dirty="0">
                <a:solidFill>
                  <a:schemeClr val="bg2"/>
                </a:solidFill>
                <a:latin typeface="Segoe UI" pitchFamily="34" charset="0"/>
                <a:ea typeface="Segoe UI" pitchFamily="34" charset="-122"/>
                <a:cs typeface="Segoe UI" pitchFamily="34" charset="-120"/>
              </a:defRPr>
            </a:lvl1pPr>
          </a:lstStyle>
          <a:p>
            <a:pPr algn="l" indent="0" marL="0">
              <a:buNone/>
            </a:pPr>
            <a:endParaRPr lang="en-US" sz="1800" dirty="0"/>
          </a:p>
        </p:txBody>
      </p:sp>
      <p:sp>
        <p:nvSpPr>
          <p:cNvPr id="6" name="Shape 1"/>
          <p:cNvSpPr/>
          <p:nvPr/>
        </p:nvSpPr>
        <p:spPr>
          <a:xfrm>
            <a:off x="548640" y="6382512"/>
            <a:ext cx="274320" cy="274320"/>
          </a:xfrm>
          <a:prstGeom prst="rect">
            <a:avLst>
              <a:gd name="adj" fmla="val 20000"/>
            </a:avLst>
          </a:prstGeom>
          <a:solidFill>
            <a:schemeClr val="accent1"/>
          </a:solidFill>
          <a:ln/>
        </p:spPr>
      </p:sp>
      <p:sp>
        <p:nvSpPr>
          <p:cNvPr id="7" name="Text 2"/>
          <p:cNvSpPr/>
          <p:nvPr/>
        </p:nvSpPr>
        <p:spPr>
          <a:xfrm>
            <a:off x="548640" y="6382512"/>
            <a:ext cx="274320" cy="274320"/>
          </a:xfrm>
          <a:prstGeom prst="rect">
            <a:avLst/>
          </a:prstGeom>
          <a:noFill/>
          <a:ln/>
        </p:spPr>
        <p:txBody>
          <a:bodyPr wrap="square" lIns="0" tIns="0" rIns="0" bIns="0" rtlCol="0" anchor="ctr"/>
          <a:lstStyle/>
          <a:p>
            <a:pPr algn="ctr" indent="0" marL="0">
              <a:buNone/>
            </a:pPr>
            <a:r>
              <a:rPr lang="en-US" sz="900" dirty="0">
                <a:solidFill>
                  <a:srgbClr val="FFFFFF"/>
                </a:solidFill>
                <a:latin typeface="Bahnschrift SemiBold Condensed" pitchFamily="34" charset="0"/>
                <a:ea typeface="Bahnschrift SemiBold Condensed" pitchFamily="34" charset="-122"/>
                <a:cs typeface="Bahnschrift SemiBold Condensed" pitchFamily="34" charset="-120"/>
              </a:rPr>
              <a:t>RV</a:t>
            </a:r>
            <a:endParaRPr lang="en-US" sz="900" dirty="0"/>
          </a:p>
        </p:txBody>
      </p:sp>
      <p:sp>
        <p:nvSpPr>
          <p:cNvPr id="8" name="Text 3"/>
          <p:cNvSpPr/>
          <p:nvPr/>
        </p:nvSpPr>
        <p:spPr>
          <a:xfrm>
            <a:off x="932688" y="6382512"/>
            <a:ext cx="5486400" cy="274320"/>
          </a:xfrm>
          <a:prstGeom prst="rect">
            <a:avLst/>
          </a:prstGeom>
          <a:noFill/>
          <a:ln/>
        </p:spPr>
        <p:txBody>
          <a:bodyPr wrap="square" lIns="0" tIns="0" rIns="0" bIns="0" rtlCol="0" anchor="ctr"/>
          <a:lstStyle/>
          <a:p>
            <a:pPr indent="0" marL="0">
              <a:buNone/>
            </a:pPr>
            <a:r>
              <a:rPr lang="en-US" sz="1000" dirty="0">
                <a:solidFill>
                  <a:schemeClr val="bg2"/>
                </a:solidFill>
                <a:latin typeface="Segoe UI" pitchFamily="34" charset="0"/>
                <a:ea typeface="Segoe UI" pitchFamily="34" charset="-122"/>
                <a:cs typeface="Segoe UI" pitchFamily="34" charset="-120"/>
              </a:rPr>
              <a:t>RENTAVÍA · Proyecto de Cátedra DSP · Fase II</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2.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jp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ehiculo-portada" descr="C:\Users\caleb\AppData\Local\Temp\claude\C--Users-caleb-Documents-Estudios-Universidad-TECNICO-CICLO02-DSP-DSP-Teoria-DSP-Proyecto-Catedra--claude-worktrees-update-project-documentation-92954b\d57d161d-a786-4869-8058-97cb6ca88192\scratchpad\deck\img\crv.png">    </p:cNvPr>
          <p:cNvPicPr>
            <a:picLocks noChangeAspect="1"/>
          </p:cNvPicPr>
          <p:nvPr/>
        </p:nvPicPr>
        <p:blipFill>
          <a:blip r:embed="rId1"/>
          <a:stretch>
            <a:fillRect/>
          </a:stretch>
        </p:blipFill>
        <p:spPr>
          <a:xfrm>
            <a:off x="6812280" y="2057400"/>
            <a:ext cx="5394960" cy="2697480"/>
          </a:xfrm>
          <a:prstGeom prst="rect">
            <a:avLst/>
          </a:prstGeom>
        </p:spPr>
      </p:pic>
      <p:sp>
        <p:nvSpPr>
          <p:cNvPr id="3" name="marca"/>
          <p:cNvSpPr/>
          <p:nvPr/>
        </p:nvSpPr>
        <p:spPr>
          <a:xfrm>
            <a:off x="548640" y="502920"/>
            <a:ext cx="566928" cy="566928"/>
          </a:xfrm>
          <a:prstGeom prst="roundRect">
            <a:avLst>
              <a:gd name="adj" fmla="val 22581"/>
            </a:avLst>
          </a:prstGeom>
          <a:solidFill>
            <a:schemeClr val="accent1"/>
          </a:solidFill>
          <a:ln/>
        </p:spPr>
      </p:sp>
      <p:sp>
        <p:nvSpPr>
          <p:cNvPr id="4" name="Text 1"/>
          <p:cNvSpPr txBox="1"/>
          <p:nvPr/>
        </p:nvSpPr>
        <p:spPr>
          <a:xfrm>
            <a:off x="548640" y="502920"/>
            <a:ext cx="566928" cy="566928"/>
          </a:xfrm>
          <a:prstGeom prst="rect">
            <a:avLst/>
          </a:prstGeom>
          <a:noFill/>
          <a:ln/>
        </p:spPr>
        <p:txBody>
          <a:bodyPr wrap="square" lIns="0" tIns="0" rIns="0" bIns="0" rtlCol="0" anchor="ctr"/>
          <a:lstStyle/>
          <a:p>
            <a:pPr algn="ctr" indent="0" marL="0">
              <a:buNone/>
            </a:pPr>
            <a:r>
              <a:rPr lang="en-US" sz="2000" dirty="0">
                <a:solidFill>
                  <a:srgbClr val="FFFFFF"/>
                </a:solidFill>
                <a:latin typeface="Bahnschrift SemiBold Condensed" pitchFamily="34" charset="0"/>
                <a:ea typeface="Bahnschrift SemiBold Condensed" pitchFamily="34" charset="-122"/>
                <a:cs typeface="Bahnschrift SemiBold Condensed" pitchFamily="34" charset="-120"/>
              </a:rPr>
              <a:t>RV</a:t>
            </a:r>
            <a:endParaRPr lang="en-US" sz="2000" dirty="0"/>
          </a:p>
        </p:txBody>
      </p:sp>
      <p:sp>
        <p:nvSpPr>
          <p:cNvPr id="5" name="Text 2"/>
          <p:cNvSpPr txBox="1"/>
          <p:nvPr/>
        </p:nvSpPr>
        <p:spPr>
          <a:xfrm>
            <a:off x="1243584" y="502920"/>
            <a:ext cx="2743200" cy="566928"/>
          </a:xfrm>
          <a:prstGeom prst="rect">
            <a:avLst/>
          </a:prstGeom>
          <a:noFill/>
          <a:ln/>
        </p:spPr>
        <p:txBody>
          <a:bodyPr wrap="square" lIns="0" tIns="0" rIns="0" bIns="0" rtlCol="0" anchor="ctr"/>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RENTAVÍA</a:t>
            </a:r>
            <a:endParaRPr lang="en-US" sz="1400" dirty="0"/>
          </a:p>
          <a:p>
            <a:pPr indent="0" marL="0">
              <a:buNone/>
            </a:pPr>
            <a:r>
              <a:rPr lang="en-US" sz="900" b="1" spc="200" kern="0" dirty="0">
                <a:solidFill>
                  <a:schemeClr val="bg2"/>
                </a:solidFill>
                <a:latin typeface="Segoe UI" pitchFamily="34" charset="0"/>
                <a:ea typeface="Segoe UI" pitchFamily="34" charset="-122"/>
                <a:cs typeface="Segoe UI" pitchFamily="34" charset="-120"/>
              </a:rPr>
              <a:t>GESTIÓN DE FLOTA</a:t>
            </a:r>
            <a:endParaRPr lang="en-US" sz="1400" dirty="0"/>
          </a:p>
        </p:txBody>
      </p:sp>
      <p:sp>
        <p:nvSpPr>
          <p:cNvPr id="6" name="Shape 3"/>
          <p:cNvSpPr/>
          <p:nvPr/>
        </p:nvSpPr>
        <p:spPr>
          <a:xfrm>
            <a:off x="548640" y="1801368"/>
            <a:ext cx="256032" cy="45720"/>
          </a:xfrm>
          <a:prstGeom prst="rect">
            <a:avLst/>
          </a:prstGeom>
          <a:solidFill>
            <a:schemeClr val="accent1"/>
          </a:solidFill>
          <a:ln/>
        </p:spPr>
      </p:sp>
      <p:sp>
        <p:nvSpPr>
          <p:cNvPr id="7" name="Text 4"/>
          <p:cNvSpPr txBox="1"/>
          <p:nvPr/>
        </p:nvSpPr>
        <p:spPr>
          <a:xfrm>
            <a:off x="896112" y="1664208"/>
            <a:ext cx="54864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PROYECTO DE CÁTEDRA · FASE II</a:t>
            </a:r>
            <a:endParaRPr lang="en-US" sz="1100" dirty="0"/>
          </a:p>
        </p:txBody>
      </p:sp>
      <p:sp>
        <p:nvSpPr>
          <p:cNvPr id="8" name="Text 5"/>
          <p:cNvSpPr txBox="1"/>
          <p:nvPr/>
        </p:nvSpPr>
        <p:spPr>
          <a:xfrm>
            <a:off x="548640" y="2103120"/>
            <a:ext cx="6309360" cy="2240280"/>
          </a:xfrm>
          <a:prstGeom prst="rect">
            <a:avLst/>
          </a:prstGeom>
          <a:noFill/>
          <a:ln/>
        </p:spPr>
        <p:txBody>
          <a:bodyPr wrap="square" lIns="0" tIns="0" rIns="0" bIns="0" rtlCol="0" anchor="t"/>
          <a:lstStyle/>
          <a:p>
            <a:pPr indent="0" marL="0">
              <a:buNone/>
            </a:pPr>
            <a:r>
              <a:rPr lang="en-US" sz="4800" dirty="0">
                <a:solidFill>
                  <a:schemeClr val="bg1"/>
                </a:solidFill>
                <a:latin typeface="Bahnschrift SemiBold Condensed" pitchFamily="34" charset="0"/>
                <a:ea typeface="Bahnschrift SemiBold Condensed" pitchFamily="34" charset="-122"/>
                <a:cs typeface="Bahnschrift SemiBold Condensed" pitchFamily="34" charset="-120"/>
              </a:rPr>
              <a:t>TODA TU AGENCIA DE RENTA, EN </a:t>
            </a:r>
            <a:pPr indent="0" marL="0">
              <a:buNone/>
            </a:pPr>
            <a:r>
              <a:rPr lang="en-US" sz="4800" dirty="0">
                <a:solidFill>
                  <a:schemeClr val="accent2"/>
                </a:solidFill>
                <a:latin typeface="Bahnschrift SemiBold Condensed" pitchFamily="34" charset="0"/>
                <a:ea typeface="Bahnschrift SemiBold Condensed" pitchFamily="34" charset="-122"/>
                <a:cs typeface="Bahnschrift SemiBold Condensed" pitchFamily="34" charset="-120"/>
              </a:rPr>
              <a:t>UNA SOLA FUENTE</a:t>
            </a:r>
            <a:pPr indent="0" marL="0">
              <a:buNone/>
            </a:pPr>
            <a:r>
              <a:rPr lang="en-US" sz="4800" dirty="0">
                <a:solidFill>
                  <a:schemeClr val="bg1"/>
                </a:solidFill>
                <a:latin typeface="Bahnschrift SemiBold Condensed" pitchFamily="34" charset="0"/>
                <a:ea typeface="Bahnschrift SemiBold Condensed" pitchFamily="34" charset="-122"/>
                <a:cs typeface="Bahnschrift SemiBold Condensed" pitchFamily="34" charset="-120"/>
              </a:rPr>
              <a:t> DE INFORMACIÓN</a:t>
            </a:r>
            <a:endParaRPr lang="en-US" sz="4800" dirty="0"/>
          </a:p>
        </p:txBody>
      </p:sp>
      <p:sp>
        <p:nvSpPr>
          <p:cNvPr id="9" name="Text 6"/>
          <p:cNvSpPr txBox="1"/>
          <p:nvPr/>
        </p:nvSpPr>
        <p:spPr>
          <a:xfrm>
            <a:off x="548640" y="4526280"/>
            <a:ext cx="6035040" cy="640080"/>
          </a:xfrm>
          <a:prstGeom prst="rect">
            <a:avLst/>
          </a:prstGeom>
          <a:noFill/>
          <a:ln/>
        </p:spPr>
        <p:txBody>
          <a:bodyPr wrap="square" lIns="0" tIns="0" rIns="0" bIns="0" rtlCol="0" anchor="t"/>
          <a:lstStyle/>
          <a:p>
            <a:pPr indent="0" marL="0">
              <a:buNone/>
            </a:pPr>
            <a:r>
              <a:rPr lang="en-US" sz="1600" dirty="0">
                <a:solidFill>
                  <a:schemeClr val="bg2"/>
                </a:solidFill>
                <a:latin typeface="Segoe UI" pitchFamily="34" charset="0"/>
                <a:ea typeface="Segoe UI" pitchFamily="34" charset="-122"/>
                <a:cs typeface="Segoe UI" pitchFamily="34" charset="-120"/>
              </a:rPr>
              <a:t>Sistema web inteligente para la gestión de renta de vehículos en pymes de El Salvador.</a:t>
            </a:r>
            <a:endParaRPr lang="en-US" sz="1600" dirty="0"/>
          </a:p>
        </p:txBody>
      </p:sp>
      <p:sp>
        <p:nvSpPr>
          <p:cNvPr id="10" name="Text 7"/>
          <p:cNvSpPr txBox="1"/>
          <p:nvPr/>
        </p:nvSpPr>
        <p:spPr>
          <a:xfrm>
            <a:off x="548640" y="5257800"/>
            <a:ext cx="6400800" cy="32004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Desarrollo de Aplicaciones con Software Propietario · Universidad Don Bosco · Ciclo 02-2026</a:t>
            </a:r>
            <a:endParaRPr lang="en-US" sz="1200" dirty="0"/>
          </a:p>
        </p:txBody>
      </p:sp>
      <p:sp>
        <p:nvSpPr>
          <p:cNvPr id="11" name="Text 8"/>
          <p:cNvSpPr txBox="1"/>
          <p:nvPr/>
        </p:nvSpPr>
        <p:spPr>
          <a:xfrm>
            <a:off x="548640" y="5577840"/>
            <a:ext cx="6400800" cy="32004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Docente: Ing. René Mauricio Tejada</a:t>
            </a:r>
            <a:endParaRPr lang="en-US" sz="1200" dirty="0"/>
          </a:p>
        </p:txBody>
      </p:sp>
      <p:sp>
        <p:nvSpPr>
          <p:cNvPr id="13"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endParaRPr lang="en-US" sz="11000" dirty="0"/>
          </a:p>
        </p:txBody>
      </p:sp>
      <p:sp>
        <p:nvSpPr>
          <p:cNvPr id="14"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endParaRPr lang="en-US" sz="6000" dirty="0"/>
          </a:p>
        </p:txBody>
      </p:sp>
      <p:sp>
        <p:nvSpPr>
          <p:cNvPr id="15"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RECORRIDO DE LA EXPOSICIÓN</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AGENDA</a:t>
            </a:r>
            <a:endParaRPr lang="en-US" sz="3800" dirty="0"/>
          </a:p>
        </p:txBody>
      </p:sp>
      <p:sp>
        <p:nvSpPr>
          <p:cNvPr id="4" name="agenda-01"/>
          <p:cNvSpPr/>
          <p:nvPr/>
        </p:nvSpPr>
        <p:spPr>
          <a:xfrm>
            <a:off x="548640" y="1783080"/>
            <a:ext cx="2606040" cy="1920240"/>
          </a:xfrm>
          <a:prstGeom prst="roundRect">
            <a:avLst>
              <a:gd name="adj" fmla="val 6667"/>
            </a:avLst>
          </a:prstGeom>
          <a:solidFill>
            <a:schemeClr val="tx2"/>
          </a:solidFill>
          <a:ln/>
        </p:spPr>
      </p:sp>
      <p:sp>
        <p:nvSpPr>
          <p:cNvPr id="5" name="icono-MdInfo"/>
          <p:cNvSpPr/>
          <p:nvPr/>
        </p:nvSpPr>
        <p:spPr>
          <a:xfrm>
            <a:off x="777240" y="2011680"/>
            <a:ext cx="502920" cy="502920"/>
          </a:xfrm>
          <a:prstGeom prst="roundRect">
            <a:avLst>
              <a:gd name="adj" fmla="val 22000"/>
            </a:avLst>
          </a:prstGeom>
          <a:solidFill>
            <a:schemeClr val="accent1"/>
          </a:solidFill>
          <a:ln/>
        </p:spPr>
      </p:sp>
      <p:pic>
        <p:nvPicPr>
          <p:cNvPr id="6" name="glifo-MdInfo" descr="preencoded.png">    </p:cNvPr>
          <p:cNvPicPr>
            <a:picLocks noChangeAspect="1"/>
          </p:cNvPicPr>
          <p:nvPr/>
        </p:nvPicPr>
        <p:blipFill>
          <a:blip r:embed="rId1"/>
          <a:stretch>
            <a:fillRect/>
          </a:stretch>
        </p:blipFill>
        <p:spPr>
          <a:xfrm>
            <a:off x="877824" y="2112264"/>
            <a:ext cx="301752" cy="301752"/>
          </a:xfrm>
          <a:prstGeom prst="rect">
            <a:avLst/>
          </a:prstGeom>
        </p:spPr>
      </p:pic>
      <p:sp>
        <p:nvSpPr>
          <p:cNvPr id="7" name="Text 4"/>
          <p:cNvSpPr txBox="1"/>
          <p:nvPr/>
        </p:nvSpPr>
        <p:spPr>
          <a:xfrm>
            <a:off x="2331720" y="198424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01</a:t>
            </a:r>
            <a:endParaRPr lang="en-US" sz="2800" dirty="0"/>
          </a:p>
        </p:txBody>
      </p:sp>
      <p:sp>
        <p:nvSpPr>
          <p:cNvPr id="8" name="Text 5"/>
          <p:cNvSpPr txBox="1"/>
          <p:nvPr/>
        </p:nvSpPr>
        <p:spPr>
          <a:xfrm>
            <a:off x="777240" y="269748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INTRODUCCIÓN</a:t>
            </a:r>
            <a:endParaRPr lang="en-US" sz="2200" dirty="0"/>
          </a:p>
        </p:txBody>
      </p:sp>
      <p:sp>
        <p:nvSpPr>
          <p:cNvPr id="9" name="Text 6"/>
          <p:cNvSpPr txBox="1"/>
          <p:nvPr/>
        </p:nvSpPr>
        <p:spPr>
          <a:xfrm>
            <a:off x="777240" y="310896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Qué es Rentavía y el equipo</a:t>
            </a:r>
            <a:endParaRPr lang="en-US" sz="1200" dirty="0"/>
          </a:p>
        </p:txBody>
      </p:sp>
      <p:sp>
        <p:nvSpPr>
          <p:cNvPr id="10" name="agenda-02"/>
          <p:cNvSpPr/>
          <p:nvPr/>
        </p:nvSpPr>
        <p:spPr>
          <a:xfrm>
            <a:off x="3355848" y="1783080"/>
            <a:ext cx="2606040" cy="1920240"/>
          </a:xfrm>
          <a:prstGeom prst="roundRect">
            <a:avLst>
              <a:gd name="adj" fmla="val 6667"/>
            </a:avLst>
          </a:prstGeom>
          <a:solidFill>
            <a:schemeClr val="tx2"/>
          </a:solidFill>
          <a:ln/>
        </p:spPr>
      </p:sp>
      <p:sp>
        <p:nvSpPr>
          <p:cNvPr id="11" name="icono-MdReportProblem"/>
          <p:cNvSpPr/>
          <p:nvPr/>
        </p:nvSpPr>
        <p:spPr>
          <a:xfrm>
            <a:off x="3584448" y="2011680"/>
            <a:ext cx="502920" cy="502920"/>
          </a:xfrm>
          <a:prstGeom prst="roundRect">
            <a:avLst>
              <a:gd name="adj" fmla="val 22000"/>
            </a:avLst>
          </a:prstGeom>
          <a:solidFill>
            <a:schemeClr val="accent1"/>
          </a:solidFill>
          <a:ln/>
        </p:spPr>
      </p:sp>
      <p:pic>
        <p:nvPicPr>
          <p:cNvPr id="12" name="glifo-MdReportProblem" descr="preencoded.png">    </p:cNvPr>
          <p:cNvPicPr>
            <a:picLocks noChangeAspect="1"/>
          </p:cNvPicPr>
          <p:nvPr/>
        </p:nvPicPr>
        <p:blipFill>
          <a:blip r:embed="rId2"/>
          <a:stretch>
            <a:fillRect/>
          </a:stretch>
        </p:blipFill>
        <p:spPr>
          <a:xfrm>
            <a:off x="3685032" y="2112264"/>
            <a:ext cx="301752" cy="301752"/>
          </a:xfrm>
          <a:prstGeom prst="rect">
            <a:avLst/>
          </a:prstGeom>
        </p:spPr>
      </p:pic>
      <p:sp>
        <p:nvSpPr>
          <p:cNvPr id="13" name="Text 9"/>
          <p:cNvSpPr txBox="1"/>
          <p:nvPr/>
        </p:nvSpPr>
        <p:spPr>
          <a:xfrm>
            <a:off x="5138928" y="198424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02</a:t>
            </a:r>
            <a:endParaRPr lang="en-US" sz="2800" dirty="0"/>
          </a:p>
        </p:txBody>
      </p:sp>
      <p:sp>
        <p:nvSpPr>
          <p:cNvPr id="14" name="Text 10"/>
          <p:cNvSpPr txBox="1"/>
          <p:nvPr/>
        </p:nvSpPr>
        <p:spPr>
          <a:xfrm>
            <a:off x="3584448" y="269748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PROBLEMA</a:t>
            </a:r>
            <a:endParaRPr lang="en-US" sz="2200" dirty="0"/>
          </a:p>
        </p:txBody>
      </p:sp>
      <p:sp>
        <p:nvSpPr>
          <p:cNvPr id="15" name="Text 11"/>
          <p:cNvSpPr txBox="1"/>
          <p:nvPr/>
        </p:nvSpPr>
        <p:spPr>
          <a:xfrm>
            <a:off x="3584448" y="310896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Lo que falla hoy en una agencia</a:t>
            </a:r>
            <a:endParaRPr lang="en-US" sz="1200" dirty="0"/>
          </a:p>
        </p:txBody>
      </p:sp>
      <p:sp>
        <p:nvSpPr>
          <p:cNvPr id="16" name="agenda-03"/>
          <p:cNvSpPr/>
          <p:nvPr/>
        </p:nvSpPr>
        <p:spPr>
          <a:xfrm>
            <a:off x="6163056" y="1783080"/>
            <a:ext cx="2606040" cy="1920240"/>
          </a:xfrm>
          <a:prstGeom prst="roundRect">
            <a:avLst>
              <a:gd name="adj" fmla="val 6667"/>
            </a:avLst>
          </a:prstGeom>
          <a:solidFill>
            <a:schemeClr val="tx2"/>
          </a:solidFill>
          <a:ln/>
        </p:spPr>
      </p:sp>
      <p:sp>
        <p:nvSpPr>
          <p:cNvPr id="17" name="icono-MdLightbulb"/>
          <p:cNvSpPr/>
          <p:nvPr/>
        </p:nvSpPr>
        <p:spPr>
          <a:xfrm>
            <a:off x="6391656" y="2011680"/>
            <a:ext cx="502920" cy="502920"/>
          </a:xfrm>
          <a:prstGeom prst="roundRect">
            <a:avLst>
              <a:gd name="adj" fmla="val 22000"/>
            </a:avLst>
          </a:prstGeom>
          <a:solidFill>
            <a:schemeClr val="accent1"/>
          </a:solidFill>
          <a:ln/>
        </p:spPr>
      </p:sp>
      <p:pic>
        <p:nvPicPr>
          <p:cNvPr id="18" name="glifo-MdLightbulb" descr="preencoded.png">    </p:cNvPr>
          <p:cNvPicPr>
            <a:picLocks noChangeAspect="1"/>
          </p:cNvPicPr>
          <p:nvPr/>
        </p:nvPicPr>
        <p:blipFill>
          <a:blip r:embed="rId3"/>
          <a:stretch>
            <a:fillRect/>
          </a:stretch>
        </p:blipFill>
        <p:spPr>
          <a:xfrm>
            <a:off x="6492240" y="2112264"/>
            <a:ext cx="301752" cy="301752"/>
          </a:xfrm>
          <a:prstGeom prst="rect">
            <a:avLst/>
          </a:prstGeom>
        </p:spPr>
      </p:pic>
      <p:sp>
        <p:nvSpPr>
          <p:cNvPr id="19" name="Text 14"/>
          <p:cNvSpPr txBox="1"/>
          <p:nvPr/>
        </p:nvSpPr>
        <p:spPr>
          <a:xfrm>
            <a:off x="7946136" y="198424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03</a:t>
            </a:r>
            <a:endParaRPr lang="en-US" sz="2800" dirty="0"/>
          </a:p>
        </p:txBody>
      </p:sp>
      <p:sp>
        <p:nvSpPr>
          <p:cNvPr id="20" name="Text 15"/>
          <p:cNvSpPr txBox="1"/>
          <p:nvPr/>
        </p:nvSpPr>
        <p:spPr>
          <a:xfrm>
            <a:off x="6391656" y="269748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IDEA</a:t>
            </a:r>
            <a:endParaRPr lang="en-US" sz="2200" dirty="0"/>
          </a:p>
        </p:txBody>
      </p:sp>
      <p:sp>
        <p:nvSpPr>
          <p:cNvPr id="21" name="Text 16"/>
          <p:cNvSpPr txBox="1"/>
          <p:nvPr/>
        </p:nvSpPr>
        <p:spPr>
          <a:xfrm>
            <a:off x="6391656" y="310896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Una agenda única y un flujo guiado</a:t>
            </a:r>
            <a:endParaRPr lang="en-US" sz="1200" dirty="0"/>
          </a:p>
        </p:txBody>
      </p:sp>
      <p:sp>
        <p:nvSpPr>
          <p:cNvPr id="22" name="agenda-04"/>
          <p:cNvSpPr/>
          <p:nvPr/>
        </p:nvSpPr>
        <p:spPr>
          <a:xfrm>
            <a:off x="8970264" y="1783080"/>
            <a:ext cx="2606040" cy="1920240"/>
          </a:xfrm>
          <a:prstGeom prst="roundRect">
            <a:avLst>
              <a:gd name="adj" fmla="val 6667"/>
            </a:avLst>
          </a:prstGeom>
          <a:solidFill>
            <a:schemeClr val="tx2"/>
          </a:solidFill>
          <a:ln/>
        </p:spPr>
      </p:sp>
      <p:sp>
        <p:nvSpPr>
          <p:cNvPr id="23" name="icono-MdSpaceDashboard"/>
          <p:cNvSpPr/>
          <p:nvPr/>
        </p:nvSpPr>
        <p:spPr>
          <a:xfrm>
            <a:off x="9198864" y="2011680"/>
            <a:ext cx="502920" cy="502920"/>
          </a:xfrm>
          <a:prstGeom prst="roundRect">
            <a:avLst>
              <a:gd name="adj" fmla="val 22000"/>
            </a:avLst>
          </a:prstGeom>
          <a:solidFill>
            <a:schemeClr val="accent1"/>
          </a:solidFill>
          <a:ln/>
        </p:spPr>
      </p:sp>
      <p:pic>
        <p:nvPicPr>
          <p:cNvPr id="24" name="glifo-MdSpaceDashboard" descr="preencoded.png">    </p:cNvPr>
          <p:cNvPicPr>
            <a:picLocks noChangeAspect="1"/>
          </p:cNvPicPr>
          <p:nvPr/>
        </p:nvPicPr>
        <p:blipFill>
          <a:blip r:embed="rId4"/>
          <a:stretch>
            <a:fillRect/>
          </a:stretch>
        </p:blipFill>
        <p:spPr>
          <a:xfrm>
            <a:off x="9299448" y="2112264"/>
            <a:ext cx="301752" cy="301752"/>
          </a:xfrm>
          <a:prstGeom prst="rect">
            <a:avLst/>
          </a:prstGeom>
        </p:spPr>
      </p:pic>
      <p:sp>
        <p:nvSpPr>
          <p:cNvPr id="25" name="Text 19"/>
          <p:cNvSpPr txBox="1"/>
          <p:nvPr/>
        </p:nvSpPr>
        <p:spPr>
          <a:xfrm>
            <a:off x="10753344" y="198424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04</a:t>
            </a:r>
            <a:endParaRPr lang="en-US" sz="2800" dirty="0"/>
          </a:p>
        </p:txBody>
      </p:sp>
      <p:sp>
        <p:nvSpPr>
          <p:cNvPr id="26" name="Text 20"/>
          <p:cNvSpPr txBox="1"/>
          <p:nvPr/>
        </p:nvSpPr>
        <p:spPr>
          <a:xfrm>
            <a:off x="9198864" y="269748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SOLUCIÓN</a:t>
            </a:r>
            <a:endParaRPr lang="en-US" sz="2200" dirty="0"/>
          </a:p>
        </p:txBody>
      </p:sp>
      <p:sp>
        <p:nvSpPr>
          <p:cNvPr id="27" name="Text 21"/>
          <p:cNvSpPr txBox="1"/>
          <p:nvPr/>
        </p:nvSpPr>
        <p:spPr>
          <a:xfrm>
            <a:off x="9198864" y="310896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Módulos, ciclo de renta e interfaz</a:t>
            </a:r>
            <a:endParaRPr lang="en-US" sz="1200" dirty="0"/>
          </a:p>
        </p:txBody>
      </p:sp>
      <p:sp>
        <p:nvSpPr>
          <p:cNvPr id="28" name="agenda-05"/>
          <p:cNvSpPr/>
          <p:nvPr/>
        </p:nvSpPr>
        <p:spPr>
          <a:xfrm>
            <a:off x="548640" y="3931920"/>
            <a:ext cx="2606040" cy="1920240"/>
          </a:xfrm>
          <a:prstGeom prst="roundRect">
            <a:avLst>
              <a:gd name="adj" fmla="val 6667"/>
            </a:avLst>
          </a:prstGeom>
          <a:solidFill>
            <a:schemeClr val="tx2"/>
          </a:solidFill>
          <a:ln/>
        </p:spPr>
      </p:sp>
      <p:sp>
        <p:nvSpPr>
          <p:cNvPr id="29" name="icono-MdCode"/>
          <p:cNvSpPr/>
          <p:nvPr/>
        </p:nvSpPr>
        <p:spPr>
          <a:xfrm>
            <a:off x="777240" y="4160520"/>
            <a:ext cx="502920" cy="502920"/>
          </a:xfrm>
          <a:prstGeom prst="roundRect">
            <a:avLst>
              <a:gd name="adj" fmla="val 22000"/>
            </a:avLst>
          </a:prstGeom>
          <a:solidFill>
            <a:schemeClr val="accent1"/>
          </a:solidFill>
          <a:ln/>
        </p:spPr>
      </p:sp>
      <p:pic>
        <p:nvPicPr>
          <p:cNvPr id="30" name="glifo-MdCode" descr="preencoded.png">    </p:cNvPr>
          <p:cNvPicPr>
            <a:picLocks noChangeAspect="1"/>
          </p:cNvPicPr>
          <p:nvPr/>
        </p:nvPicPr>
        <p:blipFill>
          <a:blip r:embed="rId5"/>
          <a:stretch>
            <a:fillRect/>
          </a:stretch>
        </p:blipFill>
        <p:spPr>
          <a:xfrm>
            <a:off x="877824" y="4261104"/>
            <a:ext cx="301752" cy="301752"/>
          </a:xfrm>
          <a:prstGeom prst="rect">
            <a:avLst/>
          </a:prstGeom>
        </p:spPr>
      </p:pic>
      <p:sp>
        <p:nvSpPr>
          <p:cNvPr id="31" name="Text 24"/>
          <p:cNvSpPr txBox="1"/>
          <p:nvPr/>
        </p:nvSpPr>
        <p:spPr>
          <a:xfrm>
            <a:off x="2331720" y="413308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05</a:t>
            </a:r>
            <a:endParaRPr lang="en-US" sz="2800" dirty="0"/>
          </a:p>
        </p:txBody>
      </p:sp>
      <p:sp>
        <p:nvSpPr>
          <p:cNvPr id="32" name="Text 25"/>
          <p:cNvSpPr txBox="1"/>
          <p:nvPr/>
        </p:nvSpPr>
        <p:spPr>
          <a:xfrm>
            <a:off x="777240" y="484632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PARTE TÉCNICA</a:t>
            </a:r>
            <a:endParaRPr lang="en-US" sz="2200" dirty="0"/>
          </a:p>
        </p:txBody>
      </p:sp>
      <p:sp>
        <p:nvSpPr>
          <p:cNvPr id="33" name="Text 26"/>
          <p:cNvSpPr txBox="1"/>
          <p:nvPr/>
        </p:nvSpPr>
        <p:spPr>
          <a:xfrm>
            <a:off x="777240" y="525780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Arquitectura, datos, IA y Docker</a:t>
            </a:r>
            <a:endParaRPr lang="en-US" sz="1200" dirty="0"/>
          </a:p>
        </p:txBody>
      </p:sp>
      <p:sp>
        <p:nvSpPr>
          <p:cNvPr id="34" name="agenda-06"/>
          <p:cNvSpPr/>
          <p:nvPr/>
        </p:nvSpPr>
        <p:spPr>
          <a:xfrm>
            <a:off x="3355848" y="3931920"/>
            <a:ext cx="2606040" cy="1920240"/>
          </a:xfrm>
          <a:prstGeom prst="roundRect">
            <a:avLst>
              <a:gd name="adj" fmla="val 6667"/>
            </a:avLst>
          </a:prstGeom>
          <a:solidFill>
            <a:schemeClr val="tx2"/>
          </a:solidFill>
          <a:ln/>
        </p:spPr>
      </p:sp>
      <p:sp>
        <p:nvSpPr>
          <p:cNvPr id="35" name="icono-MdCloud"/>
          <p:cNvSpPr/>
          <p:nvPr/>
        </p:nvSpPr>
        <p:spPr>
          <a:xfrm>
            <a:off x="3584448" y="4160520"/>
            <a:ext cx="502920" cy="502920"/>
          </a:xfrm>
          <a:prstGeom prst="roundRect">
            <a:avLst>
              <a:gd name="adj" fmla="val 22000"/>
            </a:avLst>
          </a:prstGeom>
          <a:solidFill>
            <a:schemeClr val="accent1"/>
          </a:solidFill>
          <a:ln/>
        </p:spPr>
      </p:sp>
      <p:pic>
        <p:nvPicPr>
          <p:cNvPr id="36" name="glifo-MdCloud" descr="preencoded.png">    </p:cNvPr>
          <p:cNvPicPr>
            <a:picLocks noChangeAspect="1"/>
          </p:cNvPicPr>
          <p:nvPr/>
        </p:nvPicPr>
        <p:blipFill>
          <a:blip r:embed="rId6"/>
          <a:stretch>
            <a:fillRect/>
          </a:stretch>
        </p:blipFill>
        <p:spPr>
          <a:xfrm>
            <a:off x="3685032" y="4261104"/>
            <a:ext cx="301752" cy="301752"/>
          </a:xfrm>
          <a:prstGeom prst="rect">
            <a:avLst/>
          </a:prstGeom>
        </p:spPr>
      </p:pic>
      <p:sp>
        <p:nvSpPr>
          <p:cNvPr id="37" name="Text 29"/>
          <p:cNvSpPr txBox="1"/>
          <p:nvPr/>
        </p:nvSpPr>
        <p:spPr>
          <a:xfrm>
            <a:off x="5138928" y="413308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06</a:t>
            </a:r>
            <a:endParaRPr lang="en-US" sz="2800" dirty="0"/>
          </a:p>
        </p:txBody>
      </p:sp>
      <p:sp>
        <p:nvSpPr>
          <p:cNvPr id="38" name="Text 30"/>
          <p:cNvSpPr txBox="1"/>
          <p:nvPr/>
        </p:nvSpPr>
        <p:spPr>
          <a:xfrm>
            <a:off x="3584448" y="484632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DESPLIEGUE</a:t>
            </a:r>
            <a:endParaRPr lang="en-US" sz="2200" dirty="0"/>
          </a:p>
        </p:txBody>
      </p:sp>
      <p:sp>
        <p:nvSpPr>
          <p:cNvPr id="39" name="Text 31"/>
          <p:cNvSpPr txBox="1"/>
          <p:nvPr/>
        </p:nvSpPr>
        <p:spPr>
          <a:xfrm>
            <a:off x="3584448" y="525780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Propuesta en Microsoft Azure</a:t>
            </a:r>
            <a:endParaRPr lang="en-US" sz="1200" dirty="0"/>
          </a:p>
        </p:txBody>
      </p:sp>
      <p:sp>
        <p:nvSpPr>
          <p:cNvPr id="40" name="agenda-07"/>
          <p:cNvSpPr/>
          <p:nvPr/>
        </p:nvSpPr>
        <p:spPr>
          <a:xfrm>
            <a:off x="6163056" y="3931920"/>
            <a:ext cx="2606040" cy="1920240"/>
          </a:xfrm>
          <a:prstGeom prst="roundRect">
            <a:avLst>
              <a:gd name="adj" fmla="val 6667"/>
            </a:avLst>
          </a:prstGeom>
          <a:solidFill>
            <a:schemeClr val="tx2"/>
          </a:solidFill>
          <a:ln/>
        </p:spPr>
      </p:sp>
      <p:sp>
        <p:nvSpPr>
          <p:cNvPr id="41" name="icono-MdFactCheck"/>
          <p:cNvSpPr/>
          <p:nvPr/>
        </p:nvSpPr>
        <p:spPr>
          <a:xfrm>
            <a:off x="6391656" y="4160520"/>
            <a:ext cx="502920" cy="502920"/>
          </a:xfrm>
          <a:prstGeom prst="roundRect">
            <a:avLst>
              <a:gd name="adj" fmla="val 22000"/>
            </a:avLst>
          </a:prstGeom>
          <a:solidFill>
            <a:schemeClr val="accent1"/>
          </a:solidFill>
          <a:ln/>
        </p:spPr>
      </p:sp>
      <p:pic>
        <p:nvPicPr>
          <p:cNvPr id="42" name="glifo-MdFactCheck" descr="preencoded.png">    </p:cNvPr>
          <p:cNvPicPr>
            <a:picLocks noChangeAspect="1"/>
          </p:cNvPicPr>
          <p:nvPr/>
        </p:nvPicPr>
        <p:blipFill>
          <a:blip r:embed="rId7"/>
          <a:stretch>
            <a:fillRect/>
          </a:stretch>
        </p:blipFill>
        <p:spPr>
          <a:xfrm>
            <a:off x="6492240" y="4261104"/>
            <a:ext cx="301752" cy="301752"/>
          </a:xfrm>
          <a:prstGeom prst="rect">
            <a:avLst/>
          </a:prstGeom>
        </p:spPr>
      </p:pic>
      <p:sp>
        <p:nvSpPr>
          <p:cNvPr id="43" name="Text 34"/>
          <p:cNvSpPr txBox="1"/>
          <p:nvPr/>
        </p:nvSpPr>
        <p:spPr>
          <a:xfrm>
            <a:off x="7946136" y="413308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07</a:t>
            </a:r>
            <a:endParaRPr lang="en-US" sz="2800" dirty="0"/>
          </a:p>
        </p:txBody>
      </p:sp>
      <p:sp>
        <p:nvSpPr>
          <p:cNvPr id="44" name="Text 35"/>
          <p:cNvSpPr txBox="1"/>
          <p:nvPr/>
        </p:nvSpPr>
        <p:spPr>
          <a:xfrm>
            <a:off x="6391656" y="484632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RESULTADOS</a:t>
            </a:r>
            <a:endParaRPr lang="en-US" sz="2200" dirty="0"/>
          </a:p>
        </p:txBody>
      </p:sp>
      <p:sp>
        <p:nvSpPr>
          <p:cNvPr id="45" name="Text 36"/>
          <p:cNvSpPr txBox="1"/>
          <p:nvPr/>
        </p:nvSpPr>
        <p:spPr>
          <a:xfrm>
            <a:off x="6391656" y="525780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Pruebas, retos y lecciones</a:t>
            </a:r>
            <a:endParaRPr lang="en-US" sz="1200" dirty="0"/>
          </a:p>
        </p:txBody>
      </p:sp>
      <p:sp>
        <p:nvSpPr>
          <p:cNvPr id="46" name="agenda-08"/>
          <p:cNvSpPr/>
          <p:nvPr/>
        </p:nvSpPr>
        <p:spPr>
          <a:xfrm>
            <a:off x="8970264" y="3931920"/>
            <a:ext cx="2606040" cy="1920240"/>
          </a:xfrm>
          <a:prstGeom prst="roundRect">
            <a:avLst>
              <a:gd name="adj" fmla="val 6667"/>
            </a:avLst>
          </a:prstGeom>
          <a:solidFill>
            <a:schemeClr val="tx2"/>
          </a:solidFill>
          <a:ln/>
        </p:spPr>
      </p:sp>
      <p:sp>
        <p:nvSpPr>
          <p:cNvPr id="47" name="icono-MdFlag"/>
          <p:cNvSpPr/>
          <p:nvPr/>
        </p:nvSpPr>
        <p:spPr>
          <a:xfrm>
            <a:off x="9198864" y="4160520"/>
            <a:ext cx="502920" cy="502920"/>
          </a:xfrm>
          <a:prstGeom prst="roundRect">
            <a:avLst>
              <a:gd name="adj" fmla="val 22000"/>
            </a:avLst>
          </a:prstGeom>
          <a:solidFill>
            <a:schemeClr val="accent1"/>
          </a:solidFill>
          <a:ln/>
        </p:spPr>
      </p:sp>
      <p:pic>
        <p:nvPicPr>
          <p:cNvPr id="48" name="glifo-MdFlag" descr="preencoded.png">    </p:cNvPr>
          <p:cNvPicPr>
            <a:picLocks noChangeAspect="1"/>
          </p:cNvPicPr>
          <p:nvPr/>
        </p:nvPicPr>
        <p:blipFill>
          <a:blip r:embed="rId8"/>
          <a:stretch>
            <a:fillRect/>
          </a:stretch>
        </p:blipFill>
        <p:spPr>
          <a:xfrm>
            <a:off x="9299448" y="4261104"/>
            <a:ext cx="301752" cy="301752"/>
          </a:xfrm>
          <a:prstGeom prst="rect">
            <a:avLst/>
          </a:prstGeom>
        </p:spPr>
      </p:pic>
      <p:sp>
        <p:nvSpPr>
          <p:cNvPr id="49" name="Text 39"/>
          <p:cNvSpPr txBox="1"/>
          <p:nvPr/>
        </p:nvSpPr>
        <p:spPr>
          <a:xfrm>
            <a:off x="10753344" y="4133088"/>
            <a:ext cx="594360" cy="548640"/>
          </a:xfrm>
          <a:prstGeom prst="rect">
            <a:avLst/>
          </a:prstGeom>
          <a:noFill/>
          <a:ln/>
        </p:spPr>
        <p:txBody>
          <a:bodyPr wrap="square" lIns="0" tIns="0" rIns="0" bIns="0" rtlCol="0" anchor="ctr"/>
          <a:lstStyle/>
          <a:p>
            <a:pPr algn="r" indent="0" marL="0">
              <a:buNone/>
            </a:pPr>
            <a:r>
              <a:rPr lang="en-US" sz="2800" dirty="0">
                <a:solidFill>
                  <a:schemeClr val="accent1"/>
                </a:solidFill>
                <a:latin typeface="Bahnschrift SemiBold Condensed" pitchFamily="34" charset="0"/>
                <a:ea typeface="Bahnschrift SemiBold Condensed" pitchFamily="34" charset="-122"/>
                <a:cs typeface="Bahnschrift SemiBold Condensed" pitchFamily="34" charset="-120"/>
              </a:rPr>
              <a:t>08</a:t>
            </a:r>
            <a:endParaRPr lang="en-US" sz="2800" dirty="0"/>
          </a:p>
        </p:txBody>
      </p:sp>
      <p:sp>
        <p:nvSpPr>
          <p:cNvPr id="50" name="Text 40"/>
          <p:cNvSpPr txBox="1"/>
          <p:nvPr/>
        </p:nvSpPr>
        <p:spPr>
          <a:xfrm>
            <a:off x="9198864" y="4846320"/>
            <a:ext cx="2194560" cy="41148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CONCLUSIONES</a:t>
            </a:r>
            <a:endParaRPr lang="en-US" sz="2200" dirty="0"/>
          </a:p>
        </p:txBody>
      </p:sp>
      <p:sp>
        <p:nvSpPr>
          <p:cNvPr id="51" name="Text 41"/>
          <p:cNvSpPr txBox="1"/>
          <p:nvPr/>
        </p:nvSpPr>
        <p:spPr>
          <a:xfrm>
            <a:off x="9198864" y="5257800"/>
            <a:ext cx="219456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Lo logrado y próximos pasos</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INTRODUCCIÓN</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¿QUÉ ES RENTAVÍA?</a:t>
            </a:r>
            <a:endParaRPr lang="en-US" sz="3800" dirty="0"/>
          </a:p>
        </p:txBody>
      </p:sp>
      <p:sp>
        <p:nvSpPr>
          <p:cNvPr id="4" name="Text 2"/>
          <p:cNvSpPr txBox="1"/>
          <p:nvPr/>
        </p:nvSpPr>
        <p:spPr>
          <a:xfrm>
            <a:off x="548640" y="1737360"/>
            <a:ext cx="6035040" cy="1188720"/>
          </a:xfrm>
          <a:prstGeom prst="rect">
            <a:avLst/>
          </a:prstGeom>
          <a:noFill/>
          <a:ln/>
        </p:spPr>
        <p:txBody>
          <a:bodyPr wrap="square" lIns="0" tIns="0" rIns="0" bIns="0" rtlCol="0" anchor="t"/>
          <a:lstStyle/>
          <a:p>
            <a:pPr indent="0" marL="0">
              <a:buNone/>
            </a:pPr>
            <a:r>
              <a:rPr lang="en-US" sz="1600" dirty="0">
                <a:solidFill>
                  <a:schemeClr val="bg1"/>
                </a:solidFill>
                <a:latin typeface="Segoe UI" pitchFamily="34" charset="0"/>
                <a:ea typeface="Segoe UI" pitchFamily="34" charset="-122"/>
                <a:cs typeface="Segoe UI" pitchFamily="34" charset="-120"/>
              </a:rPr>
              <a:t>Una aplicación web para el personal de una agencia de renta de vehículos. Centraliza flota, clientes, reservas, entregas, devoluciones, pagos y mantenimientos, y sugiere vehículos con inteligencia artificial.</a:t>
            </a:r>
            <a:endParaRPr lang="en-US" sz="1600" dirty="0"/>
          </a:p>
        </p:txBody>
      </p:sp>
      <p:sp>
        <p:nvSpPr>
          <p:cNvPr id="5" name="card"/>
          <p:cNvSpPr/>
          <p:nvPr/>
        </p:nvSpPr>
        <p:spPr>
          <a:xfrm>
            <a:off x="548640" y="3063240"/>
            <a:ext cx="6035040" cy="914400"/>
          </a:xfrm>
          <a:prstGeom prst="roundRect">
            <a:avLst>
              <a:gd name="adj" fmla="val 14000"/>
            </a:avLst>
          </a:prstGeom>
          <a:solidFill>
            <a:schemeClr val="tx2"/>
          </a:solidFill>
          <a:ln/>
        </p:spPr>
      </p:sp>
      <p:sp>
        <p:nvSpPr>
          <p:cNvPr id="6" name="icono-MdManageAccounts"/>
          <p:cNvSpPr/>
          <p:nvPr/>
        </p:nvSpPr>
        <p:spPr>
          <a:xfrm>
            <a:off x="731520" y="3264408"/>
            <a:ext cx="512064" cy="512064"/>
          </a:xfrm>
          <a:prstGeom prst="roundRect">
            <a:avLst>
              <a:gd name="adj" fmla="val 22000"/>
            </a:avLst>
          </a:prstGeom>
          <a:solidFill>
            <a:schemeClr val="accent1"/>
          </a:solidFill>
          <a:ln/>
        </p:spPr>
      </p:sp>
      <p:pic>
        <p:nvPicPr>
          <p:cNvPr id="7" name="glifo-MdManageAccounts" descr="preencoded.png">    </p:cNvPr>
          <p:cNvPicPr>
            <a:picLocks noChangeAspect="1"/>
          </p:cNvPicPr>
          <p:nvPr/>
        </p:nvPicPr>
        <p:blipFill>
          <a:blip r:embed="rId1"/>
          <a:stretch>
            <a:fillRect/>
          </a:stretch>
        </p:blipFill>
        <p:spPr>
          <a:xfrm>
            <a:off x="833933" y="3366821"/>
            <a:ext cx="307238" cy="307238"/>
          </a:xfrm>
          <a:prstGeom prst="rect">
            <a:avLst/>
          </a:prstGeom>
        </p:spPr>
      </p:pic>
      <p:sp>
        <p:nvSpPr>
          <p:cNvPr id="8" name="Text 5"/>
          <p:cNvSpPr txBox="1"/>
          <p:nvPr/>
        </p:nvSpPr>
        <p:spPr>
          <a:xfrm>
            <a:off x="1417320" y="3182112"/>
            <a:ext cx="502920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Quién la usa</a:t>
            </a:r>
            <a:endParaRPr lang="en-US" sz="1400" dirty="0"/>
          </a:p>
        </p:txBody>
      </p:sp>
      <p:sp>
        <p:nvSpPr>
          <p:cNvPr id="9" name="Text 6"/>
          <p:cNvSpPr txBox="1"/>
          <p:nvPr/>
        </p:nvSpPr>
        <p:spPr>
          <a:xfrm>
            <a:off x="1417320" y="3456432"/>
            <a:ext cx="502920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Personal interno con dos roles: Administrador y Empleado. Los clientes no ingresan al sistema.</a:t>
            </a:r>
            <a:endParaRPr lang="en-US" sz="1200" dirty="0"/>
          </a:p>
        </p:txBody>
      </p:sp>
      <p:sp>
        <p:nvSpPr>
          <p:cNvPr id="10" name="card"/>
          <p:cNvSpPr/>
          <p:nvPr/>
        </p:nvSpPr>
        <p:spPr>
          <a:xfrm>
            <a:off x="548640" y="4114800"/>
            <a:ext cx="6035040" cy="914400"/>
          </a:xfrm>
          <a:prstGeom prst="roundRect">
            <a:avLst>
              <a:gd name="adj" fmla="val 14000"/>
            </a:avLst>
          </a:prstGeom>
          <a:solidFill>
            <a:schemeClr val="tx2"/>
          </a:solidFill>
          <a:ln/>
        </p:spPr>
      </p:sp>
      <p:sp>
        <p:nvSpPr>
          <p:cNvPr id="11" name="icono-MdStore"/>
          <p:cNvSpPr/>
          <p:nvPr/>
        </p:nvSpPr>
        <p:spPr>
          <a:xfrm>
            <a:off x="731520" y="4315968"/>
            <a:ext cx="512064" cy="512064"/>
          </a:xfrm>
          <a:prstGeom prst="roundRect">
            <a:avLst>
              <a:gd name="adj" fmla="val 22000"/>
            </a:avLst>
          </a:prstGeom>
          <a:solidFill>
            <a:schemeClr val="accent1"/>
          </a:solidFill>
          <a:ln/>
        </p:spPr>
      </p:sp>
      <p:pic>
        <p:nvPicPr>
          <p:cNvPr id="12" name="glifo-MdStore" descr="preencoded.png">    </p:cNvPr>
          <p:cNvPicPr>
            <a:picLocks noChangeAspect="1"/>
          </p:cNvPicPr>
          <p:nvPr/>
        </p:nvPicPr>
        <p:blipFill>
          <a:blip r:embed="rId2"/>
          <a:stretch>
            <a:fillRect/>
          </a:stretch>
        </p:blipFill>
        <p:spPr>
          <a:xfrm>
            <a:off x="833933" y="4418381"/>
            <a:ext cx="307238" cy="307238"/>
          </a:xfrm>
          <a:prstGeom prst="rect">
            <a:avLst/>
          </a:prstGeom>
        </p:spPr>
      </p:pic>
      <p:sp>
        <p:nvSpPr>
          <p:cNvPr id="13" name="Text 9"/>
          <p:cNvSpPr txBox="1"/>
          <p:nvPr/>
        </p:nvSpPr>
        <p:spPr>
          <a:xfrm>
            <a:off x="1417320" y="4233672"/>
            <a:ext cx="502920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Alcance</a:t>
            </a:r>
            <a:endParaRPr lang="en-US" sz="1400" dirty="0"/>
          </a:p>
        </p:txBody>
      </p:sp>
      <p:sp>
        <p:nvSpPr>
          <p:cNvPr id="14" name="Text 10"/>
          <p:cNvSpPr txBox="1"/>
          <p:nvPr/>
        </p:nvSpPr>
        <p:spPr>
          <a:xfrm>
            <a:off x="1417320" y="4507992"/>
            <a:ext cx="502920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Una agencia piloto de El Salvador: dólares, horario UTC-6 y cobro por períodos de 24 horas.</a:t>
            </a:r>
            <a:endParaRPr lang="en-US" sz="1200" dirty="0"/>
          </a:p>
        </p:txBody>
      </p:sp>
      <p:sp>
        <p:nvSpPr>
          <p:cNvPr id="15" name="card"/>
          <p:cNvSpPr/>
          <p:nvPr/>
        </p:nvSpPr>
        <p:spPr>
          <a:xfrm>
            <a:off x="548640" y="5166360"/>
            <a:ext cx="6035040" cy="914400"/>
          </a:xfrm>
          <a:prstGeom prst="roundRect">
            <a:avLst>
              <a:gd name="adj" fmla="val 14000"/>
            </a:avLst>
          </a:prstGeom>
          <a:solidFill>
            <a:schemeClr val="tx2"/>
          </a:solidFill>
          <a:ln/>
        </p:spPr>
      </p:sp>
      <p:sp>
        <p:nvSpPr>
          <p:cNvPr id="16" name="icono-MdBlock"/>
          <p:cNvSpPr/>
          <p:nvPr/>
        </p:nvSpPr>
        <p:spPr>
          <a:xfrm>
            <a:off x="731520" y="5367528"/>
            <a:ext cx="512064" cy="512064"/>
          </a:xfrm>
          <a:prstGeom prst="roundRect">
            <a:avLst>
              <a:gd name="adj" fmla="val 22000"/>
            </a:avLst>
          </a:prstGeom>
          <a:solidFill>
            <a:schemeClr val="accent1"/>
          </a:solidFill>
          <a:ln/>
        </p:spPr>
      </p:sp>
      <p:pic>
        <p:nvPicPr>
          <p:cNvPr id="17" name="glifo-MdBlock" descr="preencoded.png">    </p:cNvPr>
          <p:cNvPicPr>
            <a:picLocks noChangeAspect="1"/>
          </p:cNvPicPr>
          <p:nvPr/>
        </p:nvPicPr>
        <p:blipFill>
          <a:blip r:embed="rId3"/>
          <a:stretch>
            <a:fillRect/>
          </a:stretch>
        </p:blipFill>
        <p:spPr>
          <a:xfrm>
            <a:off x="833933" y="5469941"/>
            <a:ext cx="307238" cy="307238"/>
          </a:xfrm>
          <a:prstGeom prst="rect">
            <a:avLst/>
          </a:prstGeom>
        </p:spPr>
      </p:pic>
      <p:sp>
        <p:nvSpPr>
          <p:cNvPr id="18" name="Text 13"/>
          <p:cNvSpPr txBox="1"/>
          <p:nvPr/>
        </p:nvSpPr>
        <p:spPr>
          <a:xfrm>
            <a:off x="1417320" y="5285232"/>
            <a:ext cx="502920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Fuera del prototipo</a:t>
            </a:r>
            <a:endParaRPr lang="en-US" sz="1400" dirty="0"/>
          </a:p>
        </p:txBody>
      </p:sp>
      <p:sp>
        <p:nvSpPr>
          <p:cNvPr id="19" name="Text 14"/>
          <p:cNvSpPr txBox="1"/>
          <p:nvPr/>
        </p:nvSpPr>
        <p:spPr>
          <a:xfrm>
            <a:off x="1417320" y="5559552"/>
            <a:ext cx="502920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Pasarela de pagos, envío de correos, rastreo GPS y aplicación móvil nativa.</a:t>
            </a:r>
            <a:endParaRPr lang="en-US" sz="1200" dirty="0"/>
          </a:p>
        </p:txBody>
      </p:sp>
      <p:sp>
        <p:nvSpPr>
          <p:cNvPr id="20" name="equipo"/>
          <p:cNvSpPr/>
          <p:nvPr/>
        </p:nvSpPr>
        <p:spPr>
          <a:xfrm>
            <a:off x="6995160" y="1737360"/>
            <a:ext cx="4645152" cy="4389120"/>
          </a:xfrm>
          <a:prstGeom prst="roundRect">
            <a:avLst>
              <a:gd name="adj" fmla="val 2917"/>
            </a:avLst>
          </a:prstGeom>
          <a:solidFill>
            <a:schemeClr val="tx2"/>
          </a:solidFill>
          <a:ln/>
        </p:spPr>
      </p:sp>
      <p:sp>
        <p:nvSpPr>
          <p:cNvPr id="21" name="Text 16"/>
          <p:cNvSpPr txBox="1"/>
          <p:nvPr/>
        </p:nvSpPr>
        <p:spPr>
          <a:xfrm>
            <a:off x="7269480" y="1920240"/>
            <a:ext cx="411480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EQUIPO Y ROLES</a:t>
            </a:r>
            <a:endParaRPr lang="en-US" sz="2200" dirty="0"/>
          </a:p>
        </p:txBody>
      </p:sp>
      <p:sp>
        <p:nvSpPr>
          <p:cNvPr id="22" name="avatar"/>
          <p:cNvSpPr/>
          <p:nvPr/>
        </p:nvSpPr>
        <p:spPr>
          <a:xfrm>
            <a:off x="7269480" y="2505456"/>
            <a:ext cx="475488" cy="475488"/>
          </a:xfrm>
          <a:prstGeom prst="ellipse">
            <a:avLst/>
          </a:prstGeom>
          <a:solidFill>
            <a:schemeClr val="accent6"/>
          </a:solidFill>
          <a:ln w="15875">
            <a:solidFill>
              <a:schemeClr val="accent1"/>
            </a:solidFill>
            <a:prstDash val="solid"/>
          </a:ln>
        </p:spPr>
      </p:sp>
      <p:sp>
        <p:nvSpPr>
          <p:cNvPr id="23" name="Text 18"/>
          <p:cNvSpPr txBox="1"/>
          <p:nvPr/>
        </p:nvSpPr>
        <p:spPr>
          <a:xfrm>
            <a:off x="7269480" y="2505456"/>
            <a:ext cx="475488" cy="475488"/>
          </a:xfrm>
          <a:prstGeom prst="rect">
            <a:avLst/>
          </a:prstGeom>
          <a:noFill/>
          <a:ln/>
        </p:spPr>
        <p:txBody>
          <a:bodyPr wrap="square" lIns="0" tIns="0" rIns="0" bIns="0" rtlCol="0" anchor="ctr"/>
          <a:lstStyle/>
          <a:p>
            <a:pPr algn="ctr" indent="0" marL="0">
              <a:buNone/>
            </a:pPr>
            <a:r>
              <a:rPr lang="en-US" sz="1500" dirty="0">
                <a:solidFill>
                  <a:schemeClr val="accent2"/>
                </a:solidFill>
                <a:latin typeface="Bahnschrift SemiBold Condensed" pitchFamily="34" charset="0"/>
                <a:ea typeface="Bahnschrift SemiBold Condensed" pitchFamily="34" charset="-122"/>
                <a:cs typeface="Bahnschrift SemiBold Condensed" pitchFamily="34" charset="-120"/>
              </a:rPr>
              <a:t>JF</a:t>
            </a:r>
            <a:endParaRPr lang="en-US" sz="1500" dirty="0"/>
          </a:p>
        </p:txBody>
      </p:sp>
      <p:sp>
        <p:nvSpPr>
          <p:cNvPr id="24" name="Text 19"/>
          <p:cNvSpPr txBox="1"/>
          <p:nvPr/>
        </p:nvSpPr>
        <p:spPr>
          <a:xfrm>
            <a:off x="7909560" y="2468880"/>
            <a:ext cx="356616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Josué Flores</a:t>
            </a:r>
            <a:endParaRPr lang="en-US" sz="1400" dirty="0"/>
          </a:p>
        </p:txBody>
      </p:sp>
      <p:sp>
        <p:nvSpPr>
          <p:cNvPr id="25" name="Text 20"/>
          <p:cNvSpPr txBox="1"/>
          <p:nvPr/>
        </p:nvSpPr>
        <p:spPr>
          <a:xfrm>
            <a:off x="7909560" y="2743200"/>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Liderazgo y análisis</a:t>
            </a:r>
            <a:endParaRPr lang="en-US" sz="1200" dirty="0"/>
          </a:p>
        </p:txBody>
      </p:sp>
      <p:sp>
        <p:nvSpPr>
          <p:cNvPr id="26" name="avatar"/>
          <p:cNvSpPr/>
          <p:nvPr/>
        </p:nvSpPr>
        <p:spPr>
          <a:xfrm>
            <a:off x="7269480" y="3218688"/>
            <a:ext cx="475488" cy="475488"/>
          </a:xfrm>
          <a:prstGeom prst="ellipse">
            <a:avLst/>
          </a:prstGeom>
          <a:solidFill>
            <a:schemeClr val="accent6"/>
          </a:solidFill>
          <a:ln w="15875">
            <a:solidFill>
              <a:schemeClr val="accent1"/>
            </a:solidFill>
            <a:prstDash val="solid"/>
          </a:ln>
        </p:spPr>
      </p:sp>
      <p:sp>
        <p:nvSpPr>
          <p:cNvPr id="27" name="Text 22"/>
          <p:cNvSpPr txBox="1"/>
          <p:nvPr/>
        </p:nvSpPr>
        <p:spPr>
          <a:xfrm>
            <a:off x="7269480" y="3218688"/>
            <a:ext cx="475488" cy="475488"/>
          </a:xfrm>
          <a:prstGeom prst="rect">
            <a:avLst/>
          </a:prstGeom>
          <a:noFill/>
          <a:ln/>
        </p:spPr>
        <p:txBody>
          <a:bodyPr wrap="square" lIns="0" tIns="0" rIns="0" bIns="0" rtlCol="0" anchor="ctr"/>
          <a:lstStyle/>
          <a:p>
            <a:pPr algn="ctr" indent="0" marL="0">
              <a:buNone/>
            </a:pPr>
            <a:r>
              <a:rPr lang="en-US" sz="1500" dirty="0">
                <a:solidFill>
                  <a:schemeClr val="accent2"/>
                </a:solidFill>
                <a:latin typeface="Bahnschrift SemiBold Condensed" pitchFamily="34" charset="0"/>
                <a:ea typeface="Bahnschrift SemiBold Condensed" pitchFamily="34" charset="-122"/>
                <a:cs typeface="Bahnschrift SemiBold Condensed" pitchFamily="34" charset="-120"/>
              </a:rPr>
              <a:t>CT</a:t>
            </a:r>
            <a:endParaRPr lang="en-US" sz="1500" dirty="0"/>
          </a:p>
        </p:txBody>
      </p:sp>
      <p:sp>
        <p:nvSpPr>
          <p:cNvPr id="28" name="Text 23"/>
          <p:cNvSpPr txBox="1"/>
          <p:nvPr/>
        </p:nvSpPr>
        <p:spPr>
          <a:xfrm>
            <a:off x="7909560" y="3182112"/>
            <a:ext cx="356616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Cristian Torres</a:t>
            </a:r>
            <a:endParaRPr lang="en-US" sz="1400" dirty="0"/>
          </a:p>
        </p:txBody>
      </p:sp>
      <p:sp>
        <p:nvSpPr>
          <p:cNvPr id="29" name="Text 24"/>
          <p:cNvSpPr txBox="1"/>
          <p:nvPr/>
        </p:nvSpPr>
        <p:spPr>
          <a:xfrm>
            <a:off x="7909560" y="3456432"/>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Backend e inteligencia artificial</a:t>
            </a:r>
            <a:endParaRPr lang="en-US" sz="1200" dirty="0"/>
          </a:p>
        </p:txBody>
      </p:sp>
      <p:sp>
        <p:nvSpPr>
          <p:cNvPr id="30" name="avatar"/>
          <p:cNvSpPr/>
          <p:nvPr/>
        </p:nvSpPr>
        <p:spPr>
          <a:xfrm>
            <a:off x="7269480" y="3931920"/>
            <a:ext cx="475488" cy="475488"/>
          </a:xfrm>
          <a:prstGeom prst="ellipse">
            <a:avLst/>
          </a:prstGeom>
          <a:solidFill>
            <a:schemeClr val="accent6"/>
          </a:solidFill>
          <a:ln w="15875">
            <a:solidFill>
              <a:schemeClr val="accent1"/>
            </a:solidFill>
            <a:prstDash val="solid"/>
          </a:ln>
        </p:spPr>
      </p:sp>
      <p:sp>
        <p:nvSpPr>
          <p:cNvPr id="31" name="Text 26"/>
          <p:cNvSpPr txBox="1"/>
          <p:nvPr/>
        </p:nvSpPr>
        <p:spPr>
          <a:xfrm>
            <a:off x="7269480" y="3931920"/>
            <a:ext cx="475488" cy="475488"/>
          </a:xfrm>
          <a:prstGeom prst="rect">
            <a:avLst/>
          </a:prstGeom>
          <a:noFill/>
          <a:ln/>
        </p:spPr>
        <p:txBody>
          <a:bodyPr wrap="square" lIns="0" tIns="0" rIns="0" bIns="0" rtlCol="0" anchor="ctr"/>
          <a:lstStyle/>
          <a:p>
            <a:pPr algn="ctr" indent="0" marL="0">
              <a:buNone/>
            </a:pPr>
            <a:r>
              <a:rPr lang="en-US" sz="1500" dirty="0">
                <a:solidFill>
                  <a:schemeClr val="accent2"/>
                </a:solidFill>
                <a:latin typeface="Bahnschrift SemiBold Condensed" pitchFamily="34" charset="0"/>
                <a:ea typeface="Bahnschrift SemiBold Condensed" pitchFamily="34" charset="-122"/>
                <a:cs typeface="Bahnschrift SemiBold Condensed" pitchFamily="34" charset="-120"/>
              </a:rPr>
              <a:t>MO</a:t>
            </a:r>
            <a:endParaRPr lang="en-US" sz="1500" dirty="0"/>
          </a:p>
        </p:txBody>
      </p:sp>
      <p:sp>
        <p:nvSpPr>
          <p:cNvPr id="32" name="Text 27"/>
          <p:cNvSpPr txBox="1"/>
          <p:nvPr/>
        </p:nvSpPr>
        <p:spPr>
          <a:xfrm>
            <a:off x="7909560" y="3895344"/>
            <a:ext cx="356616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Michael Ortiz</a:t>
            </a:r>
            <a:endParaRPr lang="en-US" sz="1400" dirty="0"/>
          </a:p>
        </p:txBody>
      </p:sp>
      <p:sp>
        <p:nvSpPr>
          <p:cNvPr id="33" name="Text 28"/>
          <p:cNvSpPr txBox="1"/>
          <p:nvPr/>
        </p:nvSpPr>
        <p:spPr>
          <a:xfrm>
            <a:off x="7909560" y="4169664"/>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Frontend y UX/UI</a:t>
            </a:r>
            <a:endParaRPr lang="en-US" sz="1200" dirty="0"/>
          </a:p>
        </p:txBody>
      </p:sp>
      <p:sp>
        <p:nvSpPr>
          <p:cNvPr id="34" name="avatar"/>
          <p:cNvSpPr/>
          <p:nvPr/>
        </p:nvSpPr>
        <p:spPr>
          <a:xfrm>
            <a:off x="7269480" y="4645152"/>
            <a:ext cx="475488" cy="475488"/>
          </a:xfrm>
          <a:prstGeom prst="ellipse">
            <a:avLst/>
          </a:prstGeom>
          <a:solidFill>
            <a:schemeClr val="accent6"/>
          </a:solidFill>
          <a:ln w="15875">
            <a:solidFill>
              <a:schemeClr val="accent1"/>
            </a:solidFill>
            <a:prstDash val="solid"/>
          </a:ln>
        </p:spPr>
      </p:sp>
      <p:sp>
        <p:nvSpPr>
          <p:cNvPr id="35" name="Text 30"/>
          <p:cNvSpPr txBox="1"/>
          <p:nvPr/>
        </p:nvSpPr>
        <p:spPr>
          <a:xfrm>
            <a:off x="7269480" y="4645152"/>
            <a:ext cx="475488" cy="475488"/>
          </a:xfrm>
          <a:prstGeom prst="rect">
            <a:avLst/>
          </a:prstGeom>
          <a:noFill/>
          <a:ln/>
        </p:spPr>
        <p:txBody>
          <a:bodyPr wrap="square" lIns="0" tIns="0" rIns="0" bIns="0" rtlCol="0" anchor="ctr"/>
          <a:lstStyle/>
          <a:p>
            <a:pPr algn="ctr" indent="0" marL="0">
              <a:buNone/>
            </a:pPr>
            <a:r>
              <a:rPr lang="en-US" sz="1500" dirty="0">
                <a:solidFill>
                  <a:schemeClr val="accent2"/>
                </a:solidFill>
                <a:latin typeface="Bahnschrift SemiBold Condensed" pitchFamily="34" charset="0"/>
                <a:ea typeface="Bahnschrift SemiBold Condensed" pitchFamily="34" charset="-122"/>
                <a:cs typeface="Bahnschrift SemiBold Condensed" pitchFamily="34" charset="-120"/>
              </a:rPr>
              <a:t>NM</a:t>
            </a:r>
            <a:endParaRPr lang="en-US" sz="1500" dirty="0"/>
          </a:p>
        </p:txBody>
      </p:sp>
      <p:sp>
        <p:nvSpPr>
          <p:cNvPr id="36" name="Text 31"/>
          <p:cNvSpPr txBox="1"/>
          <p:nvPr/>
        </p:nvSpPr>
        <p:spPr>
          <a:xfrm>
            <a:off x="7909560" y="4608576"/>
            <a:ext cx="356616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Nathaly Martínez</a:t>
            </a:r>
            <a:endParaRPr lang="en-US" sz="1400" dirty="0"/>
          </a:p>
        </p:txBody>
      </p:sp>
      <p:sp>
        <p:nvSpPr>
          <p:cNvPr id="37" name="Text 32"/>
          <p:cNvSpPr txBox="1"/>
          <p:nvPr/>
        </p:nvSpPr>
        <p:spPr>
          <a:xfrm>
            <a:off x="7909560" y="4882896"/>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Base de datos y DevOps</a:t>
            </a:r>
            <a:endParaRPr lang="en-US" sz="1200" dirty="0"/>
          </a:p>
        </p:txBody>
      </p:sp>
      <p:sp>
        <p:nvSpPr>
          <p:cNvPr id="38" name="avatar"/>
          <p:cNvSpPr/>
          <p:nvPr/>
        </p:nvSpPr>
        <p:spPr>
          <a:xfrm>
            <a:off x="7269480" y="5358384"/>
            <a:ext cx="475488" cy="475488"/>
          </a:xfrm>
          <a:prstGeom prst="ellipse">
            <a:avLst/>
          </a:prstGeom>
          <a:solidFill>
            <a:schemeClr val="accent6"/>
          </a:solidFill>
          <a:ln w="15875">
            <a:solidFill>
              <a:schemeClr val="accent1"/>
            </a:solidFill>
            <a:prstDash val="solid"/>
          </a:ln>
        </p:spPr>
      </p:sp>
      <p:sp>
        <p:nvSpPr>
          <p:cNvPr id="39" name="Text 34"/>
          <p:cNvSpPr txBox="1"/>
          <p:nvPr/>
        </p:nvSpPr>
        <p:spPr>
          <a:xfrm>
            <a:off x="7269480" y="5358384"/>
            <a:ext cx="475488" cy="475488"/>
          </a:xfrm>
          <a:prstGeom prst="rect">
            <a:avLst/>
          </a:prstGeom>
          <a:noFill/>
          <a:ln/>
        </p:spPr>
        <p:txBody>
          <a:bodyPr wrap="square" lIns="0" tIns="0" rIns="0" bIns="0" rtlCol="0" anchor="ctr"/>
          <a:lstStyle/>
          <a:p>
            <a:pPr algn="ctr" indent="0" marL="0">
              <a:buNone/>
            </a:pPr>
            <a:r>
              <a:rPr lang="en-US" sz="1500" dirty="0">
                <a:solidFill>
                  <a:schemeClr val="accent2"/>
                </a:solidFill>
                <a:latin typeface="Bahnschrift SemiBold Condensed" pitchFamily="34" charset="0"/>
                <a:ea typeface="Bahnschrift SemiBold Condensed" pitchFamily="34" charset="-122"/>
                <a:cs typeface="Bahnschrift SemiBold Condensed" pitchFamily="34" charset="-120"/>
              </a:rPr>
              <a:t>JP</a:t>
            </a:r>
            <a:endParaRPr lang="en-US" sz="1500" dirty="0"/>
          </a:p>
        </p:txBody>
      </p:sp>
      <p:sp>
        <p:nvSpPr>
          <p:cNvPr id="40" name="Text 35"/>
          <p:cNvSpPr txBox="1"/>
          <p:nvPr/>
        </p:nvSpPr>
        <p:spPr>
          <a:xfrm>
            <a:off x="7909560" y="5321808"/>
            <a:ext cx="356616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Jimmy Peña</a:t>
            </a:r>
            <a:endParaRPr lang="en-US" sz="1400" dirty="0"/>
          </a:p>
        </p:txBody>
      </p:sp>
      <p:sp>
        <p:nvSpPr>
          <p:cNvPr id="41" name="Text 36"/>
          <p:cNvSpPr txBox="1"/>
          <p:nvPr/>
        </p:nvSpPr>
        <p:spPr>
          <a:xfrm>
            <a:off x="7909560" y="5596128"/>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Pruebas y documentación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EL PROBLEMA</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LO QUE FALLA HOY EN UNA AGENCIA</a:t>
            </a:r>
            <a:endParaRPr lang="en-US" sz="3800" dirty="0"/>
          </a:p>
        </p:txBody>
      </p:sp>
      <p:sp>
        <p:nvSpPr>
          <p:cNvPr id="4" name="card"/>
          <p:cNvSpPr/>
          <p:nvPr/>
        </p:nvSpPr>
        <p:spPr>
          <a:xfrm>
            <a:off x="548640" y="1783080"/>
            <a:ext cx="5440680" cy="1508760"/>
          </a:xfrm>
          <a:prstGeom prst="roundRect">
            <a:avLst>
              <a:gd name="adj" fmla="val 8485"/>
            </a:avLst>
          </a:prstGeom>
          <a:solidFill>
            <a:schemeClr val="tx2"/>
          </a:solidFill>
          <a:ln/>
        </p:spPr>
      </p:sp>
      <p:sp>
        <p:nvSpPr>
          <p:cNvPr id="5" name="icono-MdEventBusy"/>
          <p:cNvSpPr/>
          <p:nvPr/>
        </p:nvSpPr>
        <p:spPr>
          <a:xfrm>
            <a:off x="822960" y="2057400"/>
            <a:ext cx="640080" cy="640080"/>
          </a:xfrm>
          <a:prstGeom prst="roundRect">
            <a:avLst>
              <a:gd name="adj" fmla="val 22000"/>
            </a:avLst>
          </a:prstGeom>
          <a:solidFill>
            <a:schemeClr val="accent1"/>
          </a:solidFill>
          <a:ln/>
        </p:spPr>
      </p:sp>
      <p:pic>
        <p:nvPicPr>
          <p:cNvPr id="6" name="glifo-MdEventBusy" descr="preencoded.png">    </p:cNvPr>
          <p:cNvPicPr>
            <a:picLocks noChangeAspect="1"/>
          </p:cNvPicPr>
          <p:nvPr/>
        </p:nvPicPr>
        <p:blipFill>
          <a:blip r:embed="rId1"/>
          <a:stretch>
            <a:fillRect/>
          </a:stretch>
        </p:blipFill>
        <p:spPr>
          <a:xfrm>
            <a:off x="950976" y="2185416"/>
            <a:ext cx="384048" cy="384048"/>
          </a:xfrm>
          <a:prstGeom prst="rect">
            <a:avLst/>
          </a:prstGeom>
        </p:spPr>
      </p:pic>
      <p:sp>
        <p:nvSpPr>
          <p:cNvPr id="7" name="Text 4"/>
          <p:cNvSpPr txBox="1"/>
          <p:nvPr/>
        </p:nvSpPr>
        <p:spPr>
          <a:xfrm>
            <a:off x="1691640" y="2039112"/>
            <a:ext cx="411480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DOBLES RESERVAS</a:t>
            </a:r>
            <a:endParaRPr lang="en-US" sz="2200" dirty="0"/>
          </a:p>
        </p:txBody>
      </p:sp>
      <p:sp>
        <p:nvSpPr>
          <p:cNvPr id="8" name="Text 5"/>
          <p:cNvSpPr txBox="1"/>
          <p:nvPr/>
        </p:nvSpPr>
        <p:spPr>
          <a:xfrm>
            <a:off x="1691640" y="2441448"/>
            <a:ext cx="4114800" cy="731520"/>
          </a:xfrm>
          <a:prstGeom prst="rect">
            <a:avLst/>
          </a:prstGeom>
          <a:noFill/>
          <a:ln/>
        </p:spPr>
        <p:txBody>
          <a:bodyPr wrap="square" lIns="0" tIns="0" rIns="0" bIns="0" rtlCol="0" anchor="t"/>
          <a:lstStyle/>
          <a:p>
            <a:pPr indent="0" marL="0">
              <a:buNone/>
            </a:pPr>
            <a:r>
              <a:rPr lang="en-US" sz="1300" dirty="0">
                <a:solidFill>
                  <a:schemeClr val="bg2"/>
                </a:solidFill>
                <a:latin typeface="Segoe UI" pitchFamily="34" charset="0"/>
                <a:ea typeface="Segoe UI" pitchFamily="34" charset="-122"/>
                <a:cs typeface="Segoe UI" pitchFamily="34" charset="-120"/>
              </a:rPr>
              <a:t>Dos empleados pueden apartar el mismo vehículo para fechas que se cruzan si cada uno consulta por su cuenta.</a:t>
            </a:r>
            <a:endParaRPr lang="en-US" sz="1300" dirty="0"/>
          </a:p>
        </p:txBody>
      </p:sp>
      <p:sp>
        <p:nvSpPr>
          <p:cNvPr id="9" name="card"/>
          <p:cNvSpPr/>
          <p:nvPr/>
        </p:nvSpPr>
        <p:spPr>
          <a:xfrm>
            <a:off x="6190488" y="1783080"/>
            <a:ext cx="5440680" cy="1508760"/>
          </a:xfrm>
          <a:prstGeom prst="roundRect">
            <a:avLst>
              <a:gd name="adj" fmla="val 8485"/>
            </a:avLst>
          </a:prstGeom>
          <a:solidFill>
            <a:schemeClr val="tx2"/>
          </a:solidFill>
          <a:ln/>
        </p:spPr>
      </p:sp>
      <p:sp>
        <p:nvSpPr>
          <p:cNvPr id="10" name="icono-MdFolderOpen"/>
          <p:cNvSpPr/>
          <p:nvPr/>
        </p:nvSpPr>
        <p:spPr>
          <a:xfrm>
            <a:off x="6464808" y="2057400"/>
            <a:ext cx="640080" cy="640080"/>
          </a:xfrm>
          <a:prstGeom prst="roundRect">
            <a:avLst>
              <a:gd name="adj" fmla="val 22000"/>
            </a:avLst>
          </a:prstGeom>
          <a:solidFill>
            <a:schemeClr val="accent1"/>
          </a:solidFill>
          <a:ln/>
        </p:spPr>
      </p:sp>
      <p:pic>
        <p:nvPicPr>
          <p:cNvPr id="11" name="glifo-MdFolderOpen" descr="preencoded.png">    </p:cNvPr>
          <p:cNvPicPr>
            <a:picLocks noChangeAspect="1"/>
          </p:cNvPicPr>
          <p:nvPr/>
        </p:nvPicPr>
        <p:blipFill>
          <a:blip r:embed="rId2"/>
          <a:stretch>
            <a:fillRect/>
          </a:stretch>
        </p:blipFill>
        <p:spPr>
          <a:xfrm>
            <a:off x="6592824" y="2185416"/>
            <a:ext cx="384048" cy="384048"/>
          </a:xfrm>
          <a:prstGeom prst="rect">
            <a:avLst/>
          </a:prstGeom>
        </p:spPr>
      </p:pic>
      <p:sp>
        <p:nvSpPr>
          <p:cNvPr id="12" name="Text 8"/>
          <p:cNvSpPr txBox="1"/>
          <p:nvPr/>
        </p:nvSpPr>
        <p:spPr>
          <a:xfrm>
            <a:off x="7333488" y="2039112"/>
            <a:ext cx="411480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INFORMACIÓN DISPERSA</a:t>
            </a:r>
            <a:endParaRPr lang="en-US" sz="2200" dirty="0"/>
          </a:p>
        </p:txBody>
      </p:sp>
      <p:sp>
        <p:nvSpPr>
          <p:cNvPr id="13" name="Text 9"/>
          <p:cNvSpPr txBox="1"/>
          <p:nvPr/>
        </p:nvSpPr>
        <p:spPr>
          <a:xfrm>
            <a:off x="7333488" y="2441448"/>
            <a:ext cx="4114800" cy="731520"/>
          </a:xfrm>
          <a:prstGeom prst="rect">
            <a:avLst/>
          </a:prstGeom>
          <a:noFill/>
          <a:ln/>
        </p:spPr>
        <p:txBody>
          <a:bodyPr wrap="square" lIns="0" tIns="0" rIns="0" bIns="0" rtlCol="0" anchor="t"/>
          <a:lstStyle/>
          <a:p>
            <a:pPr indent="0" marL="0">
              <a:buNone/>
            </a:pPr>
            <a:r>
              <a:rPr lang="en-US" sz="1300" dirty="0">
                <a:solidFill>
                  <a:schemeClr val="bg2"/>
                </a:solidFill>
                <a:latin typeface="Segoe UI" pitchFamily="34" charset="0"/>
                <a:ea typeface="Segoe UI" pitchFamily="34" charset="-122"/>
                <a:cs typeface="Segoe UI" pitchFamily="34" charset="-120"/>
              </a:rPr>
              <a:t>Clientes, contratos, pagos y mantenimientos viven en hojas de cálculo, cuadernos y mensajes.</a:t>
            </a:r>
            <a:endParaRPr lang="en-US" sz="1300" dirty="0"/>
          </a:p>
        </p:txBody>
      </p:sp>
      <p:sp>
        <p:nvSpPr>
          <p:cNvPr id="14" name="card"/>
          <p:cNvSpPr/>
          <p:nvPr/>
        </p:nvSpPr>
        <p:spPr>
          <a:xfrm>
            <a:off x="548640" y="3474720"/>
            <a:ext cx="5440680" cy="1508760"/>
          </a:xfrm>
          <a:prstGeom prst="roundRect">
            <a:avLst>
              <a:gd name="adj" fmla="val 8485"/>
            </a:avLst>
          </a:prstGeom>
          <a:solidFill>
            <a:schemeClr val="tx2"/>
          </a:solidFill>
          <a:ln/>
        </p:spPr>
      </p:sp>
      <p:sp>
        <p:nvSpPr>
          <p:cNvPr id="15" name="icono-MdHistory"/>
          <p:cNvSpPr/>
          <p:nvPr/>
        </p:nvSpPr>
        <p:spPr>
          <a:xfrm>
            <a:off x="822960" y="3749040"/>
            <a:ext cx="640080" cy="640080"/>
          </a:xfrm>
          <a:prstGeom prst="roundRect">
            <a:avLst>
              <a:gd name="adj" fmla="val 22000"/>
            </a:avLst>
          </a:prstGeom>
          <a:solidFill>
            <a:schemeClr val="accent1"/>
          </a:solidFill>
          <a:ln/>
        </p:spPr>
      </p:sp>
      <p:pic>
        <p:nvPicPr>
          <p:cNvPr id="16" name="glifo-MdHistory" descr="preencoded.png">    </p:cNvPr>
          <p:cNvPicPr>
            <a:picLocks noChangeAspect="1"/>
          </p:cNvPicPr>
          <p:nvPr/>
        </p:nvPicPr>
        <p:blipFill>
          <a:blip r:embed="rId3"/>
          <a:stretch>
            <a:fillRect/>
          </a:stretch>
        </p:blipFill>
        <p:spPr>
          <a:xfrm>
            <a:off x="950976" y="3877056"/>
            <a:ext cx="384048" cy="384048"/>
          </a:xfrm>
          <a:prstGeom prst="rect">
            <a:avLst/>
          </a:prstGeom>
        </p:spPr>
      </p:pic>
      <p:sp>
        <p:nvSpPr>
          <p:cNvPr id="17" name="Text 12"/>
          <p:cNvSpPr txBox="1"/>
          <p:nvPr/>
        </p:nvSpPr>
        <p:spPr>
          <a:xfrm>
            <a:off x="1691640" y="3730752"/>
            <a:ext cx="411480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SIN TRAZABILIDAD</a:t>
            </a:r>
            <a:endParaRPr lang="en-US" sz="2200" dirty="0"/>
          </a:p>
        </p:txBody>
      </p:sp>
      <p:sp>
        <p:nvSpPr>
          <p:cNvPr id="18" name="Text 13"/>
          <p:cNvSpPr txBox="1"/>
          <p:nvPr/>
        </p:nvSpPr>
        <p:spPr>
          <a:xfrm>
            <a:off x="1691640" y="4133088"/>
            <a:ext cx="4114800" cy="731520"/>
          </a:xfrm>
          <a:prstGeom prst="rect">
            <a:avLst/>
          </a:prstGeom>
          <a:noFill/>
          <a:ln/>
        </p:spPr>
        <p:txBody>
          <a:bodyPr wrap="square" lIns="0" tIns="0" rIns="0" bIns="0" rtlCol="0" anchor="t"/>
          <a:lstStyle/>
          <a:p>
            <a:pPr indent="0" marL="0">
              <a:buNone/>
            </a:pPr>
            <a:r>
              <a:rPr lang="en-US" sz="1300" dirty="0">
                <a:solidFill>
                  <a:schemeClr val="bg2"/>
                </a:solidFill>
                <a:latin typeface="Segoe UI" pitchFamily="34" charset="0"/>
                <a:ea typeface="Segoe UI" pitchFamily="34" charset="-122"/>
                <a:cs typeface="Segoe UI" pitchFamily="34" charset="-120"/>
              </a:rPr>
              <a:t>No queda claro quién entregó un vehículo, con cuánto combustible, ni cuánto falta por cobrar.</a:t>
            </a:r>
            <a:endParaRPr lang="en-US" sz="1300" dirty="0"/>
          </a:p>
        </p:txBody>
      </p:sp>
      <p:sp>
        <p:nvSpPr>
          <p:cNvPr id="19" name="card"/>
          <p:cNvSpPr/>
          <p:nvPr/>
        </p:nvSpPr>
        <p:spPr>
          <a:xfrm>
            <a:off x="6190488" y="3474720"/>
            <a:ext cx="5440680" cy="1508760"/>
          </a:xfrm>
          <a:prstGeom prst="roundRect">
            <a:avLst>
              <a:gd name="adj" fmla="val 8485"/>
            </a:avLst>
          </a:prstGeom>
          <a:solidFill>
            <a:schemeClr val="tx2"/>
          </a:solidFill>
          <a:ln/>
        </p:spPr>
      </p:sp>
      <p:sp>
        <p:nvSpPr>
          <p:cNvPr id="20" name="icono-MdManageSearch"/>
          <p:cNvSpPr/>
          <p:nvPr/>
        </p:nvSpPr>
        <p:spPr>
          <a:xfrm>
            <a:off x="6464808" y="3749040"/>
            <a:ext cx="640080" cy="640080"/>
          </a:xfrm>
          <a:prstGeom prst="roundRect">
            <a:avLst>
              <a:gd name="adj" fmla="val 22000"/>
            </a:avLst>
          </a:prstGeom>
          <a:solidFill>
            <a:schemeClr val="accent1"/>
          </a:solidFill>
          <a:ln/>
        </p:spPr>
      </p:sp>
      <p:pic>
        <p:nvPicPr>
          <p:cNvPr id="21" name="glifo-MdManageSearch" descr="preencoded.png">    </p:cNvPr>
          <p:cNvPicPr>
            <a:picLocks noChangeAspect="1"/>
          </p:cNvPicPr>
          <p:nvPr/>
        </p:nvPicPr>
        <p:blipFill>
          <a:blip r:embed="rId4"/>
          <a:stretch>
            <a:fillRect/>
          </a:stretch>
        </p:blipFill>
        <p:spPr>
          <a:xfrm>
            <a:off x="6592824" y="3877056"/>
            <a:ext cx="384048" cy="384048"/>
          </a:xfrm>
          <a:prstGeom prst="rect">
            <a:avLst/>
          </a:prstGeom>
        </p:spPr>
      </p:pic>
      <p:sp>
        <p:nvSpPr>
          <p:cNvPr id="22" name="Text 16"/>
          <p:cNvSpPr txBox="1"/>
          <p:nvPr/>
        </p:nvSpPr>
        <p:spPr>
          <a:xfrm>
            <a:off x="7333488" y="3730752"/>
            <a:ext cx="411480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ATENCIÓN LENTA</a:t>
            </a:r>
            <a:endParaRPr lang="en-US" sz="2200" dirty="0"/>
          </a:p>
        </p:txBody>
      </p:sp>
      <p:sp>
        <p:nvSpPr>
          <p:cNvPr id="23" name="Text 17"/>
          <p:cNvSpPr txBox="1"/>
          <p:nvPr/>
        </p:nvSpPr>
        <p:spPr>
          <a:xfrm>
            <a:off x="7333488" y="4133088"/>
            <a:ext cx="4114800" cy="731520"/>
          </a:xfrm>
          <a:prstGeom prst="rect">
            <a:avLst/>
          </a:prstGeom>
          <a:noFill/>
          <a:ln/>
        </p:spPr>
        <p:txBody>
          <a:bodyPr wrap="square" lIns="0" tIns="0" rIns="0" bIns="0" rtlCol="0" anchor="t"/>
          <a:lstStyle/>
          <a:p>
            <a:pPr indent="0" marL="0">
              <a:buNone/>
            </a:pPr>
            <a:r>
              <a:rPr lang="en-US" sz="1300" dirty="0">
                <a:solidFill>
                  <a:schemeClr val="bg2"/>
                </a:solidFill>
                <a:latin typeface="Segoe UI" pitchFamily="34" charset="0"/>
                <a:ea typeface="Segoe UI" pitchFamily="34" charset="-122"/>
                <a:cs typeface="Segoe UI" pitchFamily="34" charset="-120"/>
              </a:rPr>
              <a:t>Elegir el vehículo adecuado para cada viaje obliga a revisar toda la flota a mano.</a:t>
            </a:r>
            <a:endParaRPr lang="en-US" sz="1300" dirty="0"/>
          </a:p>
        </p:txBody>
      </p:sp>
      <p:sp>
        <p:nvSpPr>
          <p:cNvPr id="24" name="pregunta"/>
          <p:cNvSpPr/>
          <p:nvPr/>
        </p:nvSpPr>
        <p:spPr>
          <a:xfrm>
            <a:off x="548640" y="5257800"/>
            <a:ext cx="11091672" cy="868680"/>
          </a:xfrm>
          <a:prstGeom prst="roundRect">
            <a:avLst>
              <a:gd name="adj" fmla="val 14737"/>
            </a:avLst>
          </a:prstGeom>
          <a:solidFill>
            <a:schemeClr val="accent6"/>
          </a:solidFill>
          <a:ln/>
        </p:spPr>
      </p:sp>
      <p:sp>
        <p:nvSpPr>
          <p:cNvPr id="25" name="Text 19"/>
          <p:cNvSpPr txBox="1"/>
          <p:nvPr/>
        </p:nvSpPr>
        <p:spPr>
          <a:xfrm>
            <a:off x="822960" y="5257800"/>
            <a:ext cx="10607040" cy="868680"/>
          </a:xfrm>
          <a:prstGeom prst="rect">
            <a:avLst/>
          </a:prstGeom>
          <a:noFill/>
          <a:ln/>
        </p:spPr>
        <p:txBody>
          <a:bodyPr wrap="square" lIns="0" tIns="0" rIns="0" bIns="0" rtlCol="0" anchor="ctr"/>
          <a:lstStyle/>
          <a:p>
            <a:pPr indent="0" marL="0">
              <a:buNone/>
            </a:pPr>
            <a:r>
              <a:rPr lang="en-US" sz="1600" b="1" dirty="0">
                <a:solidFill>
                  <a:schemeClr val="accent2"/>
                </a:solidFill>
                <a:latin typeface="Segoe UI" pitchFamily="34" charset="0"/>
                <a:ea typeface="Segoe UI" pitchFamily="34" charset="-122"/>
                <a:cs typeface="Segoe UI" pitchFamily="34" charset="-120"/>
              </a:rPr>
              <a:t>Pregunta central: </a:t>
            </a:r>
            <a:pPr indent="0" marL="0">
              <a:buNone/>
            </a:pPr>
            <a:r>
              <a:rPr lang="en-US" sz="1600" dirty="0">
                <a:solidFill>
                  <a:schemeClr val="bg1"/>
                </a:solidFill>
                <a:latin typeface="Segoe UI" pitchFamily="34" charset="0"/>
                <a:ea typeface="Segoe UI" pitchFamily="34" charset="-122"/>
                <a:cs typeface="Segoe UI" pitchFamily="34" charset="-120"/>
              </a:rPr>
              <a:t>¿cómo evitar que un vehículo se asigne dos veces y atender más rápido sin perder el control de cada renta?</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LA IDEA</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UNA SOLA FUENTE DE INFORMACIÓN</a:t>
            </a:r>
            <a:endParaRPr lang="en-US" sz="3800" dirty="0"/>
          </a:p>
        </p:txBody>
      </p:sp>
      <p:sp>
        <p:nvSpPr>
          <p:cNvPr id="4" name="Text 2"/>
          <p:cNvSpPr txBox="1"/>
          <p:nvPr/>
        </p:nvSpPr>
        <p:spPr>
          <a:xfrm>
            <a:off x="548640" y="1737360"/>
            <a:ext cx="11064240" cy="822960"/>
          </a:xfrm>
          <a:prstGeom prst="rect">
            <a:avLst/>
          </a:prstGeom>
          <a:noFill/>
          <a:ln/>
        </p:spPr>
        <p:txBody>
          <a:bodyPr wrap="square" lIns="0" tIns="0" rIns="0" bIns="0" rtlCol="0" anchor="t"/>
          <a:lstStyle/>
          <a:p>
            <a:pPr indent="0" marL="0">
              <a:buNone/>
            </a:pPr>
            <a:r>
              <a:rPr lang="en-US" sz="1800" dirty="0">
                <a:solidFill>
                  <a:schemeClr val="bg1"/>
                </a:solidFill>
                <a:latin typeface="Segoe UI" pitchFamily="34" charset="0"/>
                <a:ea typeface="Segoe UI" pitchFamily="34" charset="-122"/>
                <a:cs typeface="Segoe UI" pitchFamily="34" charset="-120"/>
              </a:rPr>
              <a:t>Si todas las operaciones que ocupan un vehículo pasan por </a:t>
            </a:r>
            <a:pPr indent="0" marL="0">
              <a:buNone/>
            </a:pPr>
            <a:r>
              <a:rPr lang="en-US" sz="1800" b="1" dirty="0">
                <a:solidFill>
                  <a:schemeClr val="accent2"/>
                </a:solidFill>
                <a:latin typeface="Segoe UI" pitchFamily="34" charset="0"/>
                <a:ea typeface="Segoe UI" pitchFamily="34" charset="-122"/>
                <a:cs typeface="Segoe UI" pitchFamily="34" charset="-120"/>
              </a:rPr>
              <a:t>una misma agenda</a:t>
            </a:r>
            <a:pPr indent="0" marL="0">
              <a:buNone/>
            </a:pPr>
            <a:r>
              <a:rPr lang="en-US" sz="1800" dirty="0">
                <a:solidFill>
                  <a:schemeClr val="bg1"/>
                </a:solidFill>
                <a:latin typeface="Segoe UI" pitchFamily="34" charset="0"/>
                <a:ea typeface="Segoe UI" pitchFamily="34" charset="-122"/>
                <a:cs typeface="Segoe UI" pitchFamily="34" charset="-120"/>
              </a:rPr>
              <a:t>, el sistema puede garantizar que nunca se asigne dos veces. Sobre esa base, la IA solo tiene que ayudar a elegir.</a:t>
            </a:r>
            <a:endParaRPr lang="en-US" sz="1800" dirty="0"/>
          </a:p>
        </p:txBody>
      </p:sp>
      <p:sp>
        <p:nvSpPr>
          <p:cNvPr id="5" name="card"/>
          <p:cNvSpPr/>
          <p:nvPr/>
        </p:nvSpPr>
        <p:spPr>
          <a:xfrm>
            <a:off x="548640" y="2788920"/>
            <a:ext cx="3566160" cy="2377440"/>
          </a:xfrm>
          <a:prstGeom prst="roundRect">
            <a:avLst>
              <a:gd name="adj" fmla="val 5385"/>
            </a:avLst>
          </a:prstGeom>
          <a:solidFill>
            <a:schemeClr val="tx2"/>
          </a:solidFill>
          <a:ln/>
        </p:spPr>
      </p:sp>
      <p:sp>
        <p:nvSpPr>
          <p:cNvPr id="6" name="icono-MdCalendarMonth"/>
          <p:cNvSpPr/>
          <p:nvPr/>
        </p:nvSpPr>
        <p:spPr>
          <a:xfrm>
            <a:off x="822960" y="3017520"/>
            <a:ext cx="640080" cy="640080"/>
          </a:xfrm>
          <a:prstGeom prst="roundRect">
            <a:avLst>
              <a:gd name="adj" fmla="val 22000"/>
            </a:avLst>
          </a:prstGeom>
          <a:solidFill>
            <a:schemeClr val="accent1"/>
          </a:solidFill>
          <a:ln/>
        </p:spPr>
      </p:sp>
      <p:pic>
        <p:nvPicPr>
          <p:cNvPr id="7" name="glifo-MdCalendarMonth" descr="preencoded.png">    </p:cNvPr>
          <p:cNvPicPr>
            <a:picLocks noChangeAspect="1"/>
          </p:cNvPicPr>
          <p:nvPr/>
        </p:nvPicPr>
        <p:blipFill>
          <a:blip r:embed="rId1"/>
          <a:stretch>
            <a:fillRect/>
          </a:stretch>
        </p:blipFill>
        <p:spPr>
          <a:xfrm>
            <a:off x="950976" y="3145536"/>
            <a:ext cx="384048" cy="384048"/>
          </a:xfrm>
          <a:prstGeom prst="rect">
            <a:avLst/>
          </a:prstGeom>
        </p:spPr>
      </p:pic>
      <p:sp>
        <p:nvSpPr>
          <p:cNvPr id="8" name="Text 5"/>
          <p:cNvSpPr txBox="1"/>
          <p:nvPr/>
        </p:nvSpPr>
        <p:spPr>
          <a:xfrm>
            <a:off x="822960" y="3794760"/>
            <a:ext cx="301752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AGENDA ÚNICA</a:t>
            </a:r>
            <a:endParaRPr lang="en-US" sz="2200" dirty="0"/>
          </a:p>
        </p:txBody>
      </p:sp>
      <p:sp>
        <p:nvSpPr>
          <p:cNvPr id="9" name="Text 6"/>
          <p:cNvSpPr txBox="1"/>
          <p:nvPr/>
        </p:nvSpPr>
        <p:spPr>
          <a:xfrm>
            <a:off x="822960" y="4187952"/>
            <a:ext cx="3063240" cy="896112"/>
          </a:xfrm>
          <a:prstGeom prst="rect">
            <a:avLst/>
          </a:prstGeom>
          <a:noFill/>
          <a:ln/>
        </p:spPr>
        <p:txBody>
          <a:bodyPr wrap="square" lIns="0" tIns="0" rIns="0" bIns="0" rtlCol="0" anchor="t"/>
          <a:lstStyle/>
          <a:p>
            <a:pPr indent="0" marL="0">
              <a:buNone/>
            </a:pPr>
            <a:r>
              <a:rPr lang="en-US" sz="1250" dirty="0">
                <a:solidFill>
                  <a:schemeClr val="bg2"/>
                </a:solidFill>
                <a:latin typeface="Segoe UI" pitchFamily="34" charset="0"/>
                <a:ea typeface="Segoe UI" pitchFamily="34" charset="-122"/>
                <a:cs typeface="Segoe UI" pitchFamily="34" charset="-120"/>
              </a:rPr>
              <a:t>Reservas, alquileres y mantenimientos se registran en la tabla Ocupaciones y se validan con la misma regla de cruce de fechas.</a:t>
            </a:r>
            <a:endParaRPr lang="en-US" sz="1250" dirty="0"/>
          </a:p>
        </p:txBody>
      </p:sp>
      <p:sp>
        <p:nvSpPr>
          <p:cNvPr id="10" name="card"/>
          <p:cNvSpPr/>
          <p:nvPr/>
        </p:nvSpPr>
        <p:spPr>
          <a:xfrm>
            <a:off x="4297680" y="2788920"/>
            <a:ext cx="3566160" cy="2377440"/>
          </a:xfrm>
          <a:prstGeom prst="roundRect">
            <a:avLst>
              <a:gd name="adj" fmla="val 5385"/>
            </a:avLst>
          </a:prstGeom>
          <a:solidFill>
            <a:schemeClr val="tx2"/>
          </a:solidFill>
          <a:ln/>
        </p:spPr>
      </p:sp>
      <p:sp>
        <p:nvSpPr>
          <p:cNvPr id="11" name="icono-MdRoute"/>
          <p:cNvSpPr/>
          <p:nvPr/>
        </p:nvSpPr>
        <p:spPr>
          <a:xfrm>
            <a:off x="4572000" y="3017520"/>
            <a:ext cx="640080" cy="640080"/>
          </a:xfrm>
          <a:prstGeom prst="roundRect">
            <a:avLst>
              <a:gd name="adj" fmla="val 22000"/>
            </a:avLst>
          </a:prstGeom>
          <a:solidFill>
            <a:schemeClr val="accent1"/>
          </a:solidFill>
          <a:ln/>
        </p:spPr>
      </p:sp>
      <p:pic>
        <p:nvPicPr>
          <p:cNvPr id="12" name="glifo-MdRoute" descr="preencoded.png">    </p:cNvPr>
          <p:cNvPicPr>
            <a:picLocks noChangeAspect="1"/>
          </p:cNvPicPr>
          <p:nvPr/>
        </p:nvPicPr>
        <p:blipFill>
          <a:blip r:embed="rId2"/>
          <a:stretch>
            <a:fillRect/>
          </a:stretch>
        </p:blipFill>
        <p:spPr>
          <a:xfrm>
            <a:off x="4700016" y="3145536"/>
            <a:ext cx="384048" cy="384048"/>
          </a:xfrm>
          <a:prstGeom prst="rect">
            <a:avLst/>
          </a:prstGeom>
        </p:spPr>
      </p:pic>
      <p:sp>
        <p:nvSpPr>
          <p:cNvPr id="13" name="Text 9"/>
          <p:cNvSpPr txBox="1"/>
          <p:nvPr/>
        </p:nvSpPr>
        <p:spPr>
          <a:xfrm>
            <a:off x="4572000" y="3794760"/>
            <a:ext cx="301752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FLUJO GUIADO</a:t>
            </a:r>
            <a:endParaRPr lang="en-US" sz="2200" dirty="0"/>
          </a:p>
        </p:txBody>
      </p:sp>
      <p:sp>
        <p:nvSpPr>
          <p:cNvPr id="14" name="Text 10"/>
          <p:cNvSpPr txBox="1"/>
          <p:nvPr/>
        </p:nvSpPr>
        <p:spPr>
          <a:xfrm>
            <a:off x="4572000" y="4187952"/>
            <a:ext cx="3063240" cy="896112"/>
          </a:xfrm>
          <a:prstGeom prst="rect">
            <a:avLst/>
          </a:prstGeom>
          <a:noFill/>
          <a:ln/>
        </p:spPr>
        <p:txBody>
          <a:bodyPr wrap="square" lIns="0" tIns="0" rIns="0" bIns="0" rtlCol="0" anchor="t"/>
          <a:lstStyle/>
          <a:p>
            <a:pPr indent="0" marL="0">
              <a:buNone/>
            </a:pPr>
            <a:r>
              <a:rPr lang="en-US" sz="1250" dirty="0">
                <a:solidFill>
                  <a:schemeClr val="bg2"/>
                </a:solidFill>
                <a:latin typeface="Segoe UI" pitchFamily="34" charset="0"/>
                <a:ea typeface="Segoe UI" pitchFamily="34" charset="-122"/>
                <a:cs typeface="Segoe UI" pitchFamily="34" charset="-120"/>
              </a:rPr>
              <a:t>Cada renta sigue cuatro pasos: buscar, reservar, entregar y devolver y cobrar. La interfaz muestra siempre en qué paso se está.</a:t>
            </a:r>
            <a:endParaRPr lang="en-US" sz="1250" dirty="0"/>
          </a:p>
        </p:txBody>
      </p:sp>
      <p:sp>
        <p:nvSpPr>
          <p:cNvPr id="15" name="card"/>
          <p:cNvSpPr/>
          <p:nvPr/>
        </p:nvSpPr>
        <p:spPr>
          <a:xfrm>
            <a:off x="8046720" y="2788920"/>
            <a:ext cx="3566160" cy="2377440"/>
          </a:xfrm>
          <a:prstGeom prst="roundRect">
            <a:avLst>
              <a:gd name="adj" fmla="val 5385"/>
            </a:avLst>
          </a:prstGeom>
          <a:solidFill>
            <a:schemeClr val="tx2"/>
          </a:solidFill>
          <a:ln/>
        </p:spPr>
      </p:sp>
      <p:sp>
        <p:nvSpPr>
          <p:cNvPr id="16" name="icono-MdAutoAwesome"/>
          <p:cNvSpPr/>
          <p:nvPr/>
        </p:nvSpPr>
        <p:spPr>
          <a:xfrm>
            <a:off x="8321040" y="3017520"/>
            <a:ext cx="640080" cy="640080"/>
          </a:xfrm>
          <a:prstGeom prst="roundRect">
            <a:avLst>
              <a:gd name="adj" fmla="val 22000"/>
            </a:avLst>
          </a:prstGeom>
          <a:solidFill>
            <a:schemeClr val="accent1"/>
          </a:solidFill>
          <a:ln/>
        </p:spPr>
      </p:sp>
      <p:pic>
        <p:nvPicPr>
          <p:cNvPr id="17" name="glifo-MdAutoAwesome" descr="preencoded.png">    </p:cNvPr>
          <p:cNvPicPr>
            <a:picLocks noChangeAspect="1"/>
          </p:cNvPicPr>
          <p:nvPr/>
        </p:nvPicPr>
        <p:blipFill>
          <a:blip r:embed="rId3"/>
          <a:stretch>
            <a:fillRect/>
          </a:stretch>
        </p:blipFill>
        <p:spPr>
          <a:xfrm>
            <a:off x="8449056" y="3145536"/>
            <a:ext cx="384048" cy="384048"/>
          </a:xfrm>
          <a:prstGeom prst="rect">
            <a:avLst/>
          </a:prstGeom>
        </p:spPr>
      </p:pic>
      <p:sp>
        <p:nvSpPr>
          <p:cNvPr id="18" name="Text 13"/>
          <p:cNvSpPr txBox="1"/>
          <p:nvPr/>
        </p:nvSpPr>
        <p:spPr>
          <a:xfrm>
            <a:off x="8321040" y="3794760"/>
            <a:ext cx="3017520" cy="365760"/>
          </a:xfrm>
          <a:prstGeom prst="rect">
            <a:avLst/>
          </a:prstGeom>
          <a:noFill/>
          <a:ln/>
        </p:spPr>
        <p:txBody>
          <a:bodyPr wrap="square" lIns="0" tIns="0" rIns="0" bIns="0" rtlCol="0" anchor="t"/>
          <a:lstStyle/>
          <a:p>
            <a:pPr indent="0" marL="0">
              <a:buNone/>
            </a:pPr>
            <a:r>
              <a:rPr lang="en-US" sz="2200" dirty="0">
                <a:solidFill>
                  <a:schemeClr val="bg1"/>
                </a:solidFill>
                <a:latin typeface="Bahnschrift SemiBold Condensed" pitchFamily="34" charset="0"/>
                <a:ea typeface="Bahnschrift SemiBold Condensed" pitchFamily="34" charset="-122"/>
                <a:cs typeface="Bahnschrift SemiBold Condensed" pitchFamily="34" charset="-120"/>
              </a:rPr>
              <a:t>IA QUE ASISTE</a:t>
            </a:r>
            <a:endParaRPr lang="en-US" sz="2200" dirty="0"/>
          </a:p>
        </p:txBody>
      </p:sp>
      <p:sp>
        <p:nvSpPr>
          <p:cNvPr id="19" name="Text 14"/>
          <p:cNvSpPr txBox="1"/>
          <p:nvPr/>
        </p:nvSpPr>
        <p:spPr>
          <a:xfrm>
            <a:off x="8321040" y="4187952"/>
            <a:ext cx="3063240" cy="896112"/>
          </a:xfrm>
          <a:prstGeom prst="rect">
            <a:avLst/>
          </a:prstGeom>
          <a:noFill/>
          <a:ln/>
        </p:spPr>
        <p:txBody>
          <a:bodyPr wrap="square" lIns="0" tIns="0" rIns="0" bIns="0" rtlCol="0" anchor="t"/>
          <a:lstStyle/>
          <a:p>
            <a:pPr indent="0" marL="0">
              <a:buNone/>
            </a:pPr>
            <a:r>
              <a:rPr lang="en-US" sz="1250" dirty="0">
                <a:solidFill>
                  <a:schemeClr val="bg2"/>
                </a:solidFill>
                <a:latin typeface="Segoe UI" pitchFamily="34" charset="0"/>
                <a:ea typeface="Segoe UI" pitchFamily="34" charset="-122"/>
                <a:cs typeface="Segoe UI" pitchFamily="34" charset="-120"/>
              </a:rPr>
              <a:t>El recomendador sugiere entre vehículos ya disponibles y explica por qué. Nunca reserva ni decide por el empleado.</a:t>
            </a:r>
            <a:endParaRPr lang="en-US" sz="1250" dirty="0"/>
          </a:p>
        </p:txBody>
      </p:sp>
      <p:sp>
        <p:nvSpPr>
          <p:cNvPr id="20" name="hint"/>
          <p:cNvSpPr/>
          <p:nvPr/>
        </p:nvSpPr>
        <p:spPr>
          <a:xfrm>
            <a:off x="548640" y="5349240"/>
            <a:ext cx="11091672" cy="822960"/>
          </a:xfrm>
          <a:prstGeom prst="roundRect">
            <a:avLst>
              <a:gd name="adj" fmla="val 15556"/>
            </a:avLst>
          </a:prstGeom>
          <a:solidFill>
            <a:schemeClr val="accent6"/>
          </a:solidFill>
          <a:ln/>
        </p:spPr>
      </p:sp>
      <p:sp>
        <p:nvSpPr>
          <p:cNvPr id="21" name="icono-MdLightbulb"/>
          <p:cNvSpPr/>
          <p:nvPr/>
        </p:nvSpPr>
        <p:spPr>
          <a:xfrm>
            <a:off x="731520" y="5532120"/>
            <a:ext cx="384048" cy="384048"/>
          </a:xfrm>
          <a:prstGeom prst="roundRect">
            <a:avLst>
              <a:gd name="adj" fmla="val 22000"/>
            </a:avLst>
          </a:prstGeom>
          <a:solidFill>
            <a:schemeClr val="accent1"/>
          </a:solidFill>
          <a:ln/>
        </p:spPr>
      </p:sp>
      <p:pic>
        <p:nvPicPr>
          <p:cNvPr id="22" name="glifo-MdLightbulb" descr="preencoded.png">    </p:cNvPr>
          <p:cNvPicPr>
            <a:picLocks noChangeAspect="1"/>
          </p:cNvPicPr>
          <p:nvPr/>
        </p:nvPicPr>
        <p:blipFill>
          <a:blip r:embed="rId4"/>
          <a:stretch>
            <a:fillRect/>
          </a:stretch>
        </p:blipFill>
        <p:spPr>
          <a:xfrm>
            <a:off x="808330" y="5608930"/>
            <a:ext cx="230429" cy="230429"/>
          </a:xfrm>
          <a:prstGeom prst="rect">
            <a:avLst/>
          </a:prstGeom>
        </p:spPr>
      </p:pic>
      <p:sp>
        <p:nvSpPr>
          <p:cNvPr id="23" name="Text 17"/>
          <p:cNvSpPr txBox="1"/>
          <p:nvPr/>
        </p:nvSpPr>
        <p:spPr>
          <a:xfrm>
            <a:off x="1261872" y="5504688"/>
            <a:ext cx="1019556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CONCEPTO</a:t>
            </a:r>
            <a:endParaRPr lang="en-US" sz="1050" dirty="0"/>
          </a:p>
        </p:txBody>
      </p:sp>
      <p:sp>
        <p:nvSpPr>
          <p:cNvPr id="24" name="Text 18"/>
          <p:cNvSpPr txBox="1"/>
          <p:nvPr/>
        </p:nvSpPr>
        <p:spPr>
          <a:xfrm>
            <a:off x="1261872" y="5806440"/>
            <a:ext cx="10195560" cy="25603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Fuente única de verdad: cada dato se guarda en un solo lugar. Así la disponibilidad que ve un empleado es la misma que ve otro en ese momento.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04</a:t>
            </a:r>
            <a:endParaRPr lang="en-US" sz="11000" dirty="0"/>
          </a:p>
        </p:txBody>
      </p:sp>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LA SOLUCIÓN</a:t>
            </a:r>
            <a:endParaRPr lang="en-US" sz="6000" dirty="0"/>
          </a:p>
        </p:txBody>
      </p:sp>
      <p:sp>
        <p:nvSpPr>
          <p:cNvPr id="4"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Módulos, ciclo de renta e interfaz de Rentavía.</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LA SOLUCIÓN</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OCHO MÓDULOS INTEGRADOS</a:t>
            </a:r>
            <a:endParaRPr lang="en-US" sz="3800" dirty="0"/>
          </a:p>
        </p:txBody>
      </p:sp>
      <p:sp>
        <p:nvSpPr>
          <p:cNvPr id="4" name="card"/>
          <p:cNvSpPr/>
          <p:nvPr/>
        </p:nvSpPr>
        <p:spPr>
          <a:xfrm>
            <a:off x="548640" y="1783080"/>
            <a:ext cx="2606040" cy="1645920"/>
          </a:xfrm>
          <a:prstGeom prst="roundRect">
            <a:avLst>
              <a:gd name="adj" fmla="val 7778"/>
            </a:avLst>
          </a:prstGeom>
          <a:solidFill>
            <a:schemeClr val="tx2"/>
          </a:solidFill>
          <a:ln/>
        </p:spPr>
      </p:sp>
      <p:sp>
        <p:nvSpPr>
          <p:cNvPr id="5" name="icono-MdManageAccounts"/>
          <p:cNvSpPr/>
          <p:nvPr/>
        </p:nvSpPr>
        <p:spPr>
          <a:xfrm>
            <a:off x="777240" y="2011680"/>
            <a:ext cx="502920" cy="502920"/>
          </a:xfrm>
          <a:prstGeom prst="roundRect">
            <a:avLst>
              <a:gd name="adj" fmla="val 22000"/>
            </a:avLst>
          </a:prstGeom>
          <a:solidFill>
            <a:schemeClr val="accent6"/>
          </a:solidFill>
          <a:ln/>
        </p:spPr>
      </p:sp>
      <p:pic>
        <p:nvPicPr>
          <p:cNvPr id="6" name="glifo-MdManageAccounts" descr="preencoded.png">    </p:cNvPr>
          <p:cNvPicPr>
            <a:picLocks noChangeAspect="1"/>
          </p:cNvPicPr>
          <p:nvPr/>
        </p:nvPicPr>
        <p:blipFill>
          <a:blip r:embed="rId1"/>
          <a:stretch>
            <a:fillRect/>
          </a:stretch>
        </p:blipFill>
        <p:spPr>
          <a:xfrm>
            <a:off x="877824" y="2112264"/>
            <a:ext cx="301752" cy="301752"/>
          </a:xfrm>
          <a:prstGeom prst="rect">
            <a:avLst/>
          </a:prstGeom>
        </p:spPr>
      </p:pic>
      <p:sp>
        <p:nvSpPr>
          <p:cNvPr id="7" name="Text 4"/>
          <p:cNvSpPr txBox="1"/>
          <p:nvPr/>
        </p:nvSpPr>
        <p:spPr>
          <a:xfrm>
            <a:off x="777240" y="26243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Acceso y usuarios</a:t>
            </a:r>
            <a:endParaRPr lang="en-US" sz="1400" dirty="0"/>
          </a:p>
        </p:txBody>
      </p:sp>
      <p:sp>
        <p:nvSpPr>
          <p:cNvPr id="8" name="Text 5"/>
          <p:cNvSpPr txBox="1"/>
          <p:nvPr/>
        </p:nvSpPr>
        <p:spPr>
          <a:xfrm>
            <a:off x="777240" y="29169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Inicio de sesión, roles y bloqueo de cuentas</a:t>
            </a:r>
            <a:endParaRPr lang="en-US" sz="1150" dirty="0"/>
          </a:p>
        </p:txBody>
      </p:sp>
      <p:sp>
        <p:nvSpPr>
          <p:cNvPr id="9" name="card"/>
          <p:cNvSpPr/>
          <p:nvPr/>
        </p:nvSpPr>
        <p:spPr>
          <a:xfrm>
            <a:off x="3355848" y="1783080"/>
            <a:ext cx="2606040" cy="1645920"/>
          </a:xfrm>
          <a:prstGeom prst="roundRect">
            <a:avLst>
              <a:gd name="adj" fmla="val 7778"/>
            </a:avLst>
          </a:prstGeom>
          <a:solidFill>
            <a:schemeClr val="tx2"/>
          </a:solidFill>
          <a:ln/>
        </p:spPr>
      </p:sp>
      <p:sp>
        <p:nvSpPr>
          <p:cNvPr id="10" name="icono-MdCategory"/>
          <p:cNvSpPr/>
          <p:nvPr/>
        </p:nvSpPr>
        <p:spPr>
          <a:xfrm>
            <a:off x="3584448" y="2011680"/>
            <a:ext cx="502920" cy="502920"/>
          </a:xfrm>
          <a:prstGeom prst="roundRect">
            <a:avLst>
              <a:gd name="adj" fmla="val 22000"/>
            </a:avLst>
          </a:prstGeom>
          <a:solidFill>
            <a:schemeClr val="accent6"/>
          </a:solidFill>
          <a:ln/>
        </p:spPr>
      </p:sp>
      <p:pic>
        <p:nvPicPr>
          <p:cNvPr id="11" name="glifo-MdCategory" descr="preencoded.png">    </p:cNvPr>
          <p:cNvPicPr>
            <a:picLocks noChangeAspect="1"/>
          </p:cNvPicPr>
          <p:nvPr/>
        </p:nvPicPr>
        <p:blipFill>
          <a:blip r:embed="rId2"/>
          <a:stretch>
            <a:fillRect/>
          </a:stretch>
        </p:blipFill>
        <p:spPr>
          <a:xfrm>
            <a:off x="3685032" y="2112264"/>
            <a:ext cx="301752" cy="301752"/>
          </a:xfrm>
          <a:prstGeom prst="rect">
            <a:avLst/>
          </a:prstGeom>
        </p:spPr>
      </p:pic>
      <p:sp>
        <p:nvSpPr>
          <p:cNvPr id="12" name="Text 8"/>
          <p:cNvSpPr txBox="1"/>
          <p:nvPr/>
        </p:nvSpPr>
        <p:spPr>
          <a:xfrm>
            <a:off x="3584448" y="26243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Catálogos</a:t>
            </a:r>
            <a:endParaRPr lang="en-US" sz="1400" dirty="0"/>
          </a:p>
        </p:txBody>
      </p:sp>
      <p:sp>
        <p:nvSpPr>
          <p:cNvPr id="13" name="Text 9"/>
          <p:cNvSpPr txBox="1"/>
          <p:nvPr/>
        </p:nvSpPr>
        <p:spPr>
          <a:xfrm>
            <a:off x="3584448" y="29169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Categorías, sucursales, clientes y vehículos con foto</a:t>
            </a:r>
            <a:endParaRPr lang="en-US" sz="1150" dirty="0"/>
          </a:p>
        </p:txBody>
      </p:sp>
      <p:sp>
        <p:nvSpPr>
          <p:cNvPr id="14" name="card"/>
          <p:cNvSpPr/>
          <p:nvPr/>
        </p:nvSpPr>
        <p:spPr>
          <a:xfrm>
            <a:off x="6163056" y="1783080"/>
            <a:ext cx="2606040" cy="1645920"/>
          </a:xfrm>
          <a:prstGeom prst="roundRect">
            <a:avLst>
              <a:gd name="adj" fmla="val 7778"/>
            </a:avLst>
          </a:prstGeom>
          <a:solidFill>
            <a:schemeClr val="tx2"/>
          </a:solidFill>
          <a:ln/>
        </p:spPr>
      </p:sp>
      <p:sp>
        <p:nvSpPr>
          <p:cNvPr id="15" name="icono-MdEventAvailable"/>
          <p:cNvSpPr/>
          <p:nvPr/>
        </p:nvSpPr>
        <p:spPr>
          <a:xfrm>
            <a:off x="6391656" y="2011680"/>
            <a:ext cx="502920" cy="502920"/>
          </a:xfrm>
          <a:prstGeom prst="roundRect">
            <a:avLst>
              <a:gd name="adj" fmla="val 22000"/>
            </a:avLst>
          </a:prstGeom>
          <a:solidFill>
            <a:schemeClr val="accent6"/>
          </a:solidFill>
          <a:ln/>
        </p:spPr>
      </p:sp>
      <p:pic>
        <p:nvPicPr>
          <p:cNvPr id="16" name="glifo-MdEventAvailable" descr="preencoded.png">    </p:cNvPr>
          <p:cNvPicPr>
            <a:picLocks noChangeAspect="1"/>
          </p:cNvPicPr>
          <p:nvPr/>
        </p:nvPicPr>
        <p:blipFill>
          <a:blip r:embed="rId3"/>
          <a:stretch>
            <a:fillRect/>
          </a:stretch>
        </p:blipFill>
        <p:spPr>
          <a:xfrm>
            <a:off x="6492240" y="2112264"/>
            <a:ext cx="301752" cy="301752"/>
          </a:xfrm>
          <a:prstGeom prst="rect">
            <a:avLst/>
          </a:prstGeom>
        </p:spPr>
      </p:pic>
      <p:sp>
        <p:nvSpPr>
          <p:cNvPr id="17" name="Text 12"/>
          <p:cNvSpPr txBox="1"/>
          <p:nvPr/>
        </p:nvSpPr>
        <p:spPr>
          <a:xfrm>
            <a:off x="6391656" y="26243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Disponibilidad</a:t>
            </a:r>
            <a:endParaRPr lang="en-US" sz="1400" dirty="0"/>
          </a:p>
        </p:txBody>
      </p:sp>
      <p:sp>
        <p:nvSpPr>
          <p:cNvPr id="18" name="Text 13"/>
          <p:cNvSpPr txBox="1"/>
          <p:nvPr/>
        </p:nvSpPr>
        <p:spPr>
          <a:xfrm>
            <a:off x="6391656" y="29169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Vehículos libres por fechas, capacidad y sucursal</a:t>
            </a:r>
            <a:endParaRPr lang="en-US" sz="1150" dirty="0"/>
          </a:p>
        </p:txBody>
      </p:sp>
      <p:sp>
        <p:nvSpPr>
          <p:cNvPr id="19" name="card"/>
          <p:cNvSpPr/>
          <p:nvPr/>
        </p:nvSpPr>
        <p:spPr>
          <a:xfrm>
            <a:off x="8970264" y="1783080"/>
            <a:ext cx="2606040" cy="1645920"/>
          </a:xfrm>
          <a:prstGeom prst="roundRect">
            <a:avLst>
              <a:gd name="adj" fmla="val 7778"/>
            </a:avLst>
          </a:prstGeom>
          <a:solidFill>
            <a:schemeClr val="tx2"/>
          </a:solidFill>
          <a:ln/>
        </p:spPr>
      </p:sp>
      <p:sp>
        <p:nvSpPr>
          <p:cNvPr id="20" name="icono-MdEvent"/>
          <p:cNvSpPr/>
          <p:nvPr/>
        </p:nvSpPr>
        <p:spPr>
          <a:xfrm>
            <a:off x="9198864" y="2011680"/>
            <a:ext cx="502920" cy="502920"/>
          </a:xfrm>
          <a:prstGeom prst="roundRect">
            <a:avLst>
              <a:gd name="adj" fmla="val 22000"/>
            </a:avLst>
          </a:prstGeom>
          <a:solidFill>
            <a:schemeClr val="accent6"/>
          </a:solidFill>
          <a:ln/>
        </p:spPr>
      </p:sp>
      <p:pic>
        <p:nvPicPr>
          <p:cNvPr id="21" name="glifo-MdEvent" descr="preencoded.png">    </p:cNvPr>
          <p:cNvPicPr>
            <a:picLocks noChangeAspect="1"/>
          </p:cNvPicPr>
          <p:nvPr/>
        </p:nvPicPr>
        <p:blipFill>
          <a:blip r:embed="rId4"/>
          <a:stretch>
            <a:fillRect/>
          </a:stretch>
        </p:blipFill>
        <p:spPr>
          <a:xfrm>
            <a:off x="9299448" y="2112264"/>
            <a:ext cx="301752" cy="301752"/>
          </a:xfrm>
          <a:prstGeom prst="rect">
            <a:avLst/>
          </a:prstGeom>
        </p:spPr>
      </p:pic>
      <p:sp>
        <p:nvSpPr>
          <p:cNvPr id="22" name="Text 16"/>
          <p:cNvSpPr txBox="1"/>
          <p:nvPr/>
        </p:nvSpPr>
        <p:spPr>
          <a:xfrm>
            <a:off x="9198864" y="26243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Reservas</a:t>
            </a:r>
            <a:endParaRPr lang="en-US" sz="1400" dirty="0"/>
          </a:p>
        </p:txBody>
      </p:sp>
      <p:sp>
        <p:nvSpPr>
          <p:cNvPr id="23" name="Text 17"/>
          <p:cNvSpPr txBox="1"/>
          <p:nvPr/>
        </p:nvSpPr>
        <p:spPr>
          <a:xfrm>
            <a:off x="9198864" y="29169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Crear, editar y cancelar sin cruces de fechas</a:t>
            </a:r>
            <a:endParaRPr lang="en-US" sz="1150" dirty="0"/>
          </a:p>
        </p:txBody>
      </p:sp>
      <p:sp>
        <p:nvSpPr>
          <p:cNvPr id="24" name="card"/>
          <p:cNvSpPr/>
          <p:nvPr/>
        </p:nvSpPr>
        <p:spPr>
          <a:xfrm>
            <a:off x="548640" y="3611880"/>
            <a:ext cx="2606040" cy="1645920"/>
          </a:xfrm>
          <a:prstGeom prst="roundRect">
            <a:avLst>
              <a:gd name="adj" fmla="val 7778"/>
            </a:avLst>
          </a:prstGeom>
          <a:solidFill>
            <a:schemeClr val="tx2"/>
          </a:solidFill>
          <a:ln/>
        </p:spPr>
      </p:sp>
      <p:sp>
        <p:nvSpPr>
          <p:cNvPr id="25" name="icono-MdCarRental"/>
          <p:cNvSpPr/>
          <p:nvPr/>
        </p:nvSpPr>
        <p:spPr>
          <a:xfrm>
            <a:off x="777240" y="3840480"/>
            <a:ext cx="502920" cy="502920"/>
          </a:xfrm>
          <a:prstGeom prst="roundRect">
            <a:avLst>
              <a:gd name="adj" fmla="val 22000"/>
            </a:avLst>
          </a:prstGeom>
          <a:solidFill>
            <a:schemeClr val="accent6"/>
          </a:solidFill>
          <a:ln/>
        </p:spPr>
      </p:sp>
      <p:pic>
        <p:nvPicPr>
          <p:cNvPr id="26" name="glifo-MdCarRental" descr="preencoded.png">    </p:cNvPr>
          <p:cNvPicPr>
            <a:picLocks noChangeAspect="1"/>
          </p:cNvPicPr>
          <p:nvPr/>
        </p:nvPicPr>
        <p:blipFill>
          <a:blip r:embed="rId5"/>
          <a:stretch>
            <a:fillRect/>
          </a:stretch>
        </p:blipFill>
        <p:spPr>
          <a:xfrm>
            <a:off x="877824" y="3941064"/>
            <a:ext cx="301752" cy="301752"/>
          </a:xfrm>
          <a:prstGeom prst="rect">
            <a:avLst/>
          </a:prstGeom>
        </p:spPr>
      </p:pic>
      <p:sp>
        <p:nvSpPr>
          <p:cNvPr id="27" name="Text 20"/>
          <p:cNvSpPr txBox="1"/>
          <p:nvPr/>
        </p:nvSpPr>
        <p:spPr>
          <a:xfrm>
            <a:off x="777240" y="44531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Alquileres y pagos</a:t>
            </a:r>
            <a:endParaRPr lang="en-US" sz="1400" dirty="0"/>
          </a:p>
        </p:txBody>
      </p:sp>
      <p:sp>
        <p:nvSpPr>
          <p:cNvPr id="28" name="Text 21"/>
          <p:cNvSpPr txBox="1"/>
          <p:nvPr/>
        </p:nvSpPr>
        <p:spPr>
          <a:xfrm>
            <a:off x="777240" y="47457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Entrega e inspección, devolución, cargos y cobros</a:t>
            </a:r>
            <a:endParaRPr lang="en-US" sz="1150" dirty="0"/>
          </a:p>
        </p:txBody>
      </p:sp>
      <p:sp>
        <p:nvSpPr>
          <p:cNvPr id="29" name="card"/>
          <p:cNvSpPr/>
          <p:nvPr/>
        </p:nvSpPr>
        <p:spPr>
          <a:xfrm>
            <a:off x="3355848" y="3611880"/>
            <a:ext cx="2606040" cy="1645920"/>
          </a:xfrm>
          <a:prstGeom prst="roundRect">
            <a:avLst>
              <a:gd name="adj" fmla="val 7778"/>
            </a:avLst>
          </a:prstGeom>
          <a:solidFill>
            <a:schemeClr val="tx2"/>
          </a:solidFill>
          <a:ln/>
        </p:spPr>
      </p:sp>
      <p:sp>
        <p:nvSpPr>
          <p:cNvPr id="30" name="icono-MdBuild"/>
          <p:cNvSpPr/>
          <p:nvPr/>
        </p:nvSpPr>
        <p:spPr>
          <a:xfrm>
            <a:off x="3584448" y="3840480"/>
            <a:ext cx="502920" cy="502920"/>
          </a:xfrm>
          <a:prstGeom prst="roundRect">
            <a:avLst>
              <a:gd name="adj" fmla="val 22000"/>
            </a:avLst>
          </a:prstGeom>
          <a:solidFill>
            <a:schemeClr val="accent6"/>
          </a:solidFill>
          <a:ln/>
        </p:spPr>
      </p:sp>
      <p:pic>
        <p:nvPicPr>
          <p:cNvPr id="31" name="glifo-MdBuild" descr="preencoded.png">    </p:cNvPr>
          <p:cNvPicPr>
            <a:picLocks noChangeAspect="1"/>
          </p:cNvPicPr>
          <p:nvPr/>
        </p:nvPicPr>
        <p:blipFill>
          <a:blip r:embed="rId6"/>
          <a:stretch>
            <a:fillRect/>
          </a:stretch>
        </p:blipFill>
        <p:spPr>
          <a:xfrm>
            <a:off x="3685032" y="3941064"/>
            <a:ext cx="301752" cy="301752"/>
          </a:xfrm>
          <a:prstGeom prst="rect">
            <a:avLst/>
          </a:prstGeom>
        </p:spPr>
      </p:pic>
      <p:sp>
        <p:nvSpPr>
          <p:cNvPr id="32" name="Text 24"/>
          <p:cNvSpPr txBox="1"/>
          <p:nvPr/>
        </p:nvSpPr>
        <p:spPr>
          <a:xfrm>
            <a:off x="3584448" y="44531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Mantenimiento</a:t>
            </a:r>
            <a:endParaRPr lang="en-US" sz="1400" dirty="0"/>
          </a:p>
        </p:txBody>
      </p:sp>
      <p:sp>
        <p:nvSpPr>
          <p:cNvPr id="33" name="Text 25"/>
          <p:cNvSpPr txBox="1"/>
          <p:nvPr/>
        </p:nvSpPr>
        <p:spPr>
          <a:xfrm>
            <a:off x="3584448" y="47457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Servicios preventivos y correctivos que bloquean la agenda</a:t>
            </a:r>
            <a:endParaRPr lang="en-US" sz="1150" dirty="0"/>
          </a:p>
        </p:txBody>
      </p:sp>
      <p:sp>
        <p:nvSpPr>
          <p:cNvPr id="34" name="card"/>
          <p:cNvSpPr/>
          <p:nvPr/>
        </p:nvSpPr>
        <p:spPr>
          <a:xfrm>
            <a:off x="6163056" y="3611880"/>
            <a:ext cx="2606040" cy="1645920"/>
          </a:xfrm>
          <a:prstGeom prst="roundRect">
            <a:avLst>
              <a:gd name="adj" fmla="val 7778"/>
            </a:avLst>
          </a:prstGeom>
          <a:solidFill>
            <a:schemeClr val="tx2"/>
          </a:solidFill>
          <a:ln/>
        </p:spPr>
      </p:sp>
      <p:sp>
        <p:nvSpPr>
          <p:cNvPr id="35" name="icono-MdAutoAwesome"/>
          <p:cNvSpPr/>
          <p:nvPr/>
        </p:nvSpPr>
        <p:spPr>
          <a:xfrm>
            <a:off x="6391656" y="3840480"/>
            <a:ext cx="502920" cy="502920"/>
          </a:xfrm>
          <a:prstGeom prst="roundRect">
            <a:avLst>
              <a:gd name="adj" fmla="val 22000"/>
            </a:avLst>
          </a:prstGeom>
          <a:solidFill>
            <a:schemeClr val="accent1"/>
          </a:solidFill>
          <a:ln/>
        </p:spPr>
      </p:sp>
      <p:pic>
        <p:nvPicPr>
          <p:cNvPr id="36" name="glifo-MdAutoAwesome" descr="preencoded.png">    </p:cNvPr>
          <p:cNvPicPr>
            <a:picLocks noChangeAspect="1"/>
          </p:cNvPicPr>
          <p:nvPr/>
        </p:nvPicPr>
        <p:blipFill>
          <a:blip r:embed="rId7"/>
          <a:stretch>
            <a:fillRect/>
          </a:stretch>
        </p:blipFill>
        <p:spPr>
          <a:xfrm>
            <a:off x="6492240" y="3941064"/>
            <a:ext cx="301752" cy="301752"/>
          </a:xfrm>
          <a:prstGeom prst="rect">
            <a:avLst/>
          </a:prstGeom>
        </p:spPr>
      </p:pic>
      <p:sp>
        <p:nvSpPr>
          <p:cNvPr id="37" name="Text 28"/>
          <p:cNvSpPr txBox="1"/>
          <p:nvPr/>
        </p:nvSpPr>
        <p:spPr>
          <a:xfrm>
            <a:off x="6391656" y="44531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Recomendador IA</a:t>
            </a:r>
            <a:endParaRPr lang="en-US" sz="1400" dirty="0"/>
          </a:p>
        </p:txBody>
      </p:sp>
      <p:sp>
        <p:nvSpPr>
          <p:cNvPr id="38" name="Text 29"/>
          <p:cNvSpPr txBox="1"/>
          <p:nvPr/>
        </p:nvSpPr>
        <p:spPr>
          <a:xfrm>
            <a:off x="6391656" y="47457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Sugerencias de OpenAI con explicación</a:t>
            </a:r>
            <a:endParaRPr lang="en-US" sz="1150" dirty="0"/>
          </a:p>
        </p:txBody>
      </p:sp>
      <p:sp>
        <p:nvSpPr>
          <p:cNvPr id="39" name="card"/>
          <p:cNvSpPr/>
          <p:nvPr/>
        </p:nvSpPr>
        <p:spPr>
          <a:xfrm>
            <a:off x="8970264" y="3611880"/>
            <a:ext cx="2606040" cy="1645920"/>
          </a:xfrm>
          <a:prstGeom prst="roundRect">
            <a:avLst>
              <a:gd name="adj" fmla="val 7778"/>
            </a:avLst>
          </a:prstGeom>
          <a:solidFill>
            <a:schemeClr val="tx2"/>
          </a:solidFill>
          <a:ln/>
        </p:spPr>
      </p:sp>
      <p:sp>
        <p:nvSpPr>
          <p:cNvPr id="40" name="icono-MdAnalytics"/>
          <p:cNvSpPr/>
          <p:nvPr/>
        </p:nvSpPr>
        <p:spPr>
          <a:xfrm>
            <a:off x="9198864" y="3840480"/>
            <a:ext cx="502920" cy="502920"/>
          </a:xfrm>
          <a:prstGeom prst="roundRect">
            <a:avLst>
              <a:gd name="adj" fmla="val 22000"/>
            </a:avLst>
          </a:prstGeom>
          <a:solidFill>
            <a:schemeClr val="accent6"/>
          </a:solidFill>
          <a:ln/>
        </p:spPr>
      </p:sp>
      <p:pic>
        <p:nvPicPr>
          <p:cNvPr id="41" name="glifo-MdAnalytics" descr="preencoded.png">    </p:cNvPr>
          <p:cNvPicPr>
            <a:picLocks noChangeAspect="1"/>
          </p:cNvPicPr>
          <p:nvPr/>
        </p:nvPicPr>
        <p:blipFill>
          <a:blip r:embed="rId8"/>
          <a:stretch>
            <a:fillRect/>
          </a:stretch>
        </p:blipFill>
        <p:spPr>
          <a:xfrm>
            <a:off x="9299448" y="3941064"/>
            <a:ext cx="301752" cy="301752"/>
          </a:xfrm>
          <a:prstGeom prst="rect">
            <a:avLst/>
          </a:prstGeom>
        </p:spPr>
      </p:pic>
      <p:sp>
        <p:nvSpPr>
          <p:cNvPr id="42" name="Text 32"/>
          <p:cNvSpPr txBox="1"/>
          <p:nvPr/>
        </p:nvSpPr>
        <p:spPr>
          <a:xfrm>
            <a:off x="9198864" y="4453128"/>
            <a:ext cx="2240280" cy="292608"/>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Reportes y auditoría</a:t>
            </a:r>
            <a:endParaRPr lang="en-US" sz="1400" dirty="0"/>
          </a:p>
        </p:txBody>
      </p:sp>
      <p:sp>
        <p:nvSpPr>
          <p:cNvPr id="43" name="Text 33"/>
          <p:cNvSpPr txBox="1"/>
          <p:nvPr/>
        </p:nvSpPr>
        <p:spPr>
          <a:xfrm>
            <a:off x="9198864" y="4745736"/>
            <a:ext cx="2240280" cy="45720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Ingresos, uso de la flota y bitácora</a:t>
            </a:r>
            <a:endParaRPr lang="en-US" sz="1150" dirty="0"/>
          </a:p>
        </p:txBody>
      </p:sp>
      <p:sp>
        <p:nvSpPr>
          <p:cNvPr id="44" name="hint"/>
          <p:cNvSpPr/>
          <p:nvPr/>
        </p:nvSpPr>
        <p:spPr>
          <a:xfrm>
            <a:off x="548640" y="5440680"/>
            <a:ext cx="11091672" cy="731520"/>
          </a:xfrm>
          <a:prstGeom prst="roundRect">
            <a:avLst>
              <a:gd name="adj" fmla="val 17500"/>
            </a:avLst>
          </a:prstGeom>
          <a:solidFill>
            <a:schemeClr val="accent6"/>
          </a:solidFill>
          <a:ln/>
        </p:spPr>
      </p:sp>
      <p:sp>
        <p:nvSpPr>
          <p:cNvPr id="45" name="icono-MdLightbulb"/>
          <p:cNvSpPr/>
          <p:nvPr/>
        </p:nvSpPr>
        <p:spPr>
          <a:xfrm>
            <a:off x="731520" y="5623560"/>
            <a:ext cx="384048" cy="384048"/>
          </a:xfrm>
          <a:prstGeom prst="roundRect">
            <a:avLst>
              <a:gd name="adj" fmla="val 22000"/>
            </a:avLst>
          </a:prstGeom>
          <a:solidFill>
            <a:schemeClr val="accent1"/>
          </a:solidFill>
          <a:ln/>
        </p:spPr>
      </p:sp>
      <p:pic>
        <p:nvPicPr>
          <p:cNvPr id="46" name="glifo-MdLightbulb" descr="preencoded.png">    </p:cNvPr>
          <p:cNvPicPr>
            <a:picLocks noChangeAspect="1"/>
          </p:cNvPicPr>
          <p:nvPr/>
        </p:nvPicPr>
        <p:blipFill>
          <a:blip r:embed="rId9"/>
          <a:stretch>
            <a:fillRect/>
          </a:stretch>
        </p:blipFill>
        <p:spPr>
          <a:xfrm>
            <a:off x="808330" y="5700370"/>
            <a:ext cx="230429" cy="230429"/>
          </a:xfrm>
          <a:prstGeom prst="rect">
            <a:avLst/>
          </a:prstGeom>
        </p:spPr>
      </p:pic>
      <p:sp>
        <p:nvSpPr>
          <p:cNvPr id="47" name="Text 36"/>
          <p:cNvSpPr txBox="1"/>
          <p:nvPr/>
        </p:nvSpPr>
        <p:spPr>
          <a:xfrm>
            <a:off x="1261872" y="5596128"/>
            <a:ext cx="1019556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CRUD</a:t>
            </a:r>
            <a:endParaRPr lang="en-US" sz="1050" dirty="0"/>
          </a:p>
        </p:txBody>
      </p:sp>
      <p:sp>
        <p:nvSpPr>
          <p:cNvPr id="48" name="Text 37"/>
          <p:cNvSpPr txBox="1"/>
          <p:nvPr/>
        </p:nvSpPr>
        <p:spPr>
          <a:xfrm>
            <a:off x="1261872" y="5897880"/>
            <a:ext cx="10195560" cy="16459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Create, Read, Update, Delete. Los catálogos tienen las cuatro operaciones; eliminar algo con historial lo desactiva o lo marca como Retirado.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FLUJO GUIADO</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EL CICLO DE UNA RENTA</a:t>
            </a:r>
            <a:endParaRPr lang="en-US" sz="3800" dirty="0"/>
          </a:p>
        </p:txBody>
      </p:sp>
      <p:sp>
        <p:nvSpPr>
          <p:cNvPr id="4" name="paso-1"/>
          <p:cNvSpPr/>
          <p:nvPr/>
        </p:nvSpPr>
        <p:spPr>
          <a:xfrm>
            <a:off x="548640" y="1783080"/>
            <a:ext cx="4480560" cy="868680"/>
          </a:xfrm>
          <a:prstGeom prst="roundRect">
            <a:avLst>
              <a:gd name="adj" fmla="val 14737"/>
            </a:avLst>
          </a:prstGeom>
          <a:solidFill>
            <a:schemeClr val="accent1"/>
          </a:solidFill>
          <a:ln/>
        </p:spPr>
      </p:sp>
      <p:sp>
        <p:nvSpPr>
          <p:cNvPr id="5" name="icono-MdSearch"/>
          <p:cNvSpPr/>
          <p:nvPr/>
        </p:nvSpPr>
        <p:spPr>
          <a:xfrm>
            <a:off x="731520" y="1965960"/>
            <a:ext cx="502920" cy="502920"/>
          </a:xfrm>
          <a:prstGeom prst="roundRect">
            <a:avLst>
              <a:gd name="adj" fmla="val 22000"/>
            </a:avLst>
          </a:prstGeom>
          <a:solidFill>
            <a:schemeClr val="accent6"/>
          </a:solidFill>
          <a:ln/>
        </p:spPr>
      </p:sp>
      <p:pic>
        <p:nvPicPr>
          <p:cNvPr id="6" name="glifo-MdSearch" descr="preencoded.png">    </p:cNvPr>
          <p:cNvPicPr>
            <a:picLocks noChangeAspect="1"/>
          </p:cNvPicPr>
          <p:nvPr/>
        </p:nvPicPr>
        <p:blipFill>
          <a:blip r:embed="rId1"/>
          <a:stretch>
            <a:fillRect/>
          </a:stretch>
        </p:blipFill>
        <p:spPr>
          <a:xfrm>
            <a:off x="832104" y="2066544"/>
            <a:ext cx="301752" cy="301752"/>
          </a:xfrm>
          <a:prstGeom prst="rect">
            <a:avLst/>
          </a:prstGeom>
        </p:spPr>
      </p:pic>
      <p:sp>
        <p:nvSpPr>
          <p:cNvPr id="7" name="Text 4"/>
          <p:cNvSpPr txBox="1"/>
          <p:nvPr/>
        </p:nvSpPr>
        <p:spPr>
          <a:xfrm>
            <a:off x="1417320" y="1892808"/>
            <a:ext cx="2743200" cy="228600"/>
          </a:xfrm>
          <a:prstGeom prst="rect">
            <a:avLst/>
          </a:prstGeom>
          <a:noFill/>
          <a:ln/>
        </p:spPr>
        <p:txBody>
          <a:bodyPr wrap="square" lIns="0" tIns="0" rIns="0" bIns="0" rtlCol="0" anchor="t"/>
          <a:lstStyle/>
          <a:p>
            <a:pPr indent="0" marL="0">
              <a:buNone/>
            </a:pPr>
            <a:r>
              <a:rPr lang="en-US" sz="1000" b="1" spc="150" kern="0" dirty="0">
                <a:solidFill>
                  <a:schemeClr val="bg1"/>
                </a:solidFill>
                <a:latin typeface="Segoe UI" pitchFamily="34" charset="0"/>
                <a:ea typeface="Segoe UI" pitchFamily="34" charset="-122"/>
                <a:cs typeface="Segoe UI" pitchFamily="34" charset="-120"/>
              </a:rPr>
              <a:t>PASO 1</a:t>
            </a:r>
            <a:endParaRPr lang="en-US" sz="1000" dirty="0"/>
          </a:p>
        </p:txBody>
      </p:sp>
      <p:sp>
        <p:nvSpPr>
          <p:cNvPr id="8" name="Text 5"/>
          <p:cNvSpPr txBox="1"/>
          <p:nvPr/>
        </p:nvSpPr>
        <p:spPr>
          <a:xfrm>
            <a:off x="1417320" y="2112264"/>
            <a:ext cx="3383280" cy="274320"/>
          </a:xfrm>
          <a:prstGeom prst="rect">
            <a:avLst/>
          </a:prstGeom>
          <a:noFill/>
          <a:ln/>
        </p:spPr>
        <p:txBody>
          <a:bodyPr wrap="square" lIns="0" tIns="0" rIns="0" bIns="0" rtlCol="0" anchor="t"/>
          <a:lstStyle/>
          <a:p>
            <a:pPr indent="0" marL="0">
              <a:buNone/>
            </a:pPr>
            <a:r>
              <a:rPr lang="en-US" sz="1500" b="1" dirty="0">
                <a:solidFill>
                  <a:schemeClr val="bg1"/>
                </a:solidFill>
                <a:latin typeface="Segoe UI" pitchFamily="34" charset="0"/>
                <a:ea typeface="Segoe UI" pitchFamily="34" charset="-122"/>
                <a:cs typeface="Segoe UI" pitchFamily="34" charset="-120"/>
              </a:rPr>
              <a:t>Buscar vehículo</a:t>
            </a:r>
            <a:endParaRPr lang="en-US" sz="1500" dirty="0"/>
          </a:p>
        </p:txBody>
      </p:sp>
      <p:sp>
        <p:nvSpPr>
          <p:cNvPr id="9" name="Text 6"/>
          <p:cNvSpPr txBox="1"/>
          <p:nvPr/>
        </p:nvSpPr>
        <p:spPr>
          <a:xfrm>
            <a:off x="1417320" y="2368296"/>
            <a:ext cx="3383280" cy="228600"/>
          </a:xfrm>
          <a:prstGeom prst="rect">
            <a:avLst/>
          </a:prstGeom>
          <a:noFill/>
          <a:ln/>
        </p:spPr>
        <p:txBody>
          <a:bodyPr wrap="square" lIns="0" tIns="0" rIns="0" bIns="0" rtlCol="0" anchor="t"/>
          <a:lstStyle/>
          <a:p>
            <a:pPr indent="0" marL="0">
              <a:buNone/>
            </a:pPr>
            <a:r>
              <a:rPr lang="en-US" sz="1100" dirty="0">
                <a:solidFill>
                  <a:schemeClr val="bg1"/>
                </a:solidFill>
                <a:latin typeface="Segoe UI" pitchFamily="34" charset="0"/>
                <a:ea typeface="Segoe UI" pitchFamily="34" charset="-122"/>
                <a:cs typeface="Segoe UI" pitchFamily="34" charset="-120"/>
              </a:rPr>
              <a:t>Fechas y capacidad</a:t>
            </a:r>
            <a:endParaRPr lang="en-US" sz="1100" dirty="0"/>
          </a:p>
        </p:txBody>
      </p:sp>
      <p:sp>
        <p:nvSpPr>
          <p:cNvPr id="10" name="paso-2"/>
          <p:cNvSpPr/>
          <p:nvPr/>
        </p:nvSpPr>
        <p:spPr>
          <a:xfrm>
            <a:off x="548640" y="2816352"/>
            <a:ext cx="4480560" cy="868680"/>
          </a:xfrm>
          <a:prstGeom prst="roundRect">
            <a:avLst>
              <a:gd name="adj" fmla="val 14737"/>
            </a:avLst>
          </a:prstGeom>
          <a:solidFill>
            <a:schemeClr val="tx2"/>
          </a:solidFill>
          <a:ln/>
        </p:spPr>
      </p:sp>
      <p:sp>
        <p:nvSpPr>
          <p:cNvPr id="11" name="icono-MdEvent"/>
          <p:cNvSpPr/>
          <p:nvPr/>
        </p:nvSpPr>
        <p:spPr>
          <a:xfrm>
            <a:off x="731520" y="2999232"/>
            <a:ext cx="502920" cy="502920"/>
          </a:xfrm>
          <a:prstGeom prst="roundRect">
            <a:avLst>
              <a:gd name="adj" fmla="val 22000"/>
            </a:avLst>
          </a:prstGeom>
          <a:solidFill>
            <a:schemeClr val="accent1"/>
          </a:solidFill>
          <a:ln/>
        </p:spPr>
      </p:sp>
      <p:pic>
        <p:nvPicPr>
          <p:cNvPr id="12" name="glifo-MdEvent" descr="preencoded.png">    </p:cNvPr>
          <p:cNvPicPr>
            <a:picLocks noChangeAspect="1"/>
          </p:cNvPicPr>
          <p:nvPr/>
        </p:nvPicPr>
        <p:blipFill>
          <a:blip r:embed="rId2"/>
          <a:stretch>
            <a:fillRect/>
          </a:stretch>
        </p:blipFill>
        <p:spPr>
          <a:xfrm>
            <a:off x="832104" y="3099816"/>
            <a:ext cx="301752" cy="301752"/>
          </a:xfrm>
          <a:prstGeom prst="rect">
            <a:avLst/>
          </a:prstGeom>
        </p:spPr>
      </p:pic>
      <p:sp>
        <p:nvSpPr>
          <p:cNvPr id="13" name="Text 9"/>
          <p:cNvSpPr txBox="1"/>
          <p:nvPr/>
        </p:nvSpPr>
        <p:spPr>
          <a:xfrm>
            <a:off x="1417320" y="2926080"/>
            <a:ext cx="2743200" cy="228600"/>
          </a:xfrm>
          <a:prstGeom prst="rect">
            <a:avLst/>
          </a:prstGeom>
          <a:noFill/>
          <a:ln/>
        </p:spPr>
        <p:txBody>
          <a:bodyPr wrap="square" lIns="0" tIns="0" rIns="0" bIns="0" rtlCol="0" anchor="t"/>
          <a:lstStyle/>
          <a:p>
            <a:pPr indent="0" marL="0">
              <a:buNone/>
            </a:pPr>
            <a:r>
              <a:rPr lang="en-US" sz="1000" b="1" spc="150" kern="0" dirty="0">
                <a:solidFill>
                  <a:schemeClr val="accent2"/>
                </a:solidFill>
                <a:latin typeface="Segoe UI" pitchFamily="34" charset="0"/>
                <a:ea typeface="Segoe UI" pitchFamily="34" charset="-122"/>
                <a:cs typeface="Segoe UI" pitchFamily="34" charset="-120"/>
              </a:rPr>
              <a:t>PASO 2</a:t>
            </a:r>
            <a:endParaRPr lang="en-US" sz="1000" dirty="0"/>
          </a:p>
        </p:txBody>
      </p:sp>
      <p:sp>
        <p:nvSpPr>
          <p:cNvPr id="14" name="Text 10"/>
          <p:cNvSpPr txBox="1"/>
          <p:nvPr/>
        </p:nvSpPr>
        <p:spPr>
          <a:xfrm>
            <a:off x="1417320" y="3145536"/>
            <a:ext cx="3383280" cy="274320"/>
          </a:xfrm>
          <a:prstGeom prst="rect">
            <a:avLst/>
          </a:prstGeom>
          <a:noFill/>
          <a:ln/>
        </p:spPr>
        <p:txBody>
          <a:bodyPr wrap="square" lIns="0" tIns="0" rIns="0" bIns="0" rtlCol="0" anchor="t"/>
          <a:lstStyle/>
          <a:p>
            <a:pPr indent="0" marL="0">
              <a:buNone/>
            </a:pPr>
            <a:r>
              <a:rPr lang="en-US" sz="1500" b="1" dirty="0">
                <a:solidFill>
                  <a:schemeClr val="bg1"/>
                </a:solidFill>
                <a:latin typeface="Segoe UI" pitchFamily="34" charset="0"/>
                <a:ea typeface="Segoe UI" pitchFamily="34" charset="-122"/>
                <a:cs typeface="Segoe UI" pitchFamily="34" charset="-120"/>
              </a:rPr>
              <a:t>Reservar</a:t>
            </a:r>
            <a:endParaRPr lang="en-US" sz="1500" dirty="0"/>
          </a:p>
        </p:txBody>
      </p:sp>
      <p:sp>
        <p:nvSpPr>
          <p:cNvPr id="15" name="Text 11"/>
          <p:cNvSpPr txBox="1"/>
          <p:nvPr/>
        </p:nvSpPr>
        <p:spPr>
          <a:xfrm>
            <a:off x="1417320" y="3401568"/>
            <a:ext cx="3383280" cy="2286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Cliente y período</a:t>
            </a:r>
            <a:endParaRPr lang="en-US" sz="1100" dirty="0"/>
          </a:p>
        </p:txBody>
      </p:sp>
      <p:sp>
        <p:nvSpPr>
          <p:cNvPr id="16" name="paso-3"/>
          <p:cNvSpPr/>
          <p:nvPr/>
        </p:nvSpPr>
        <p:spPr>
          <a:xfrm>
            <a:off x="548640" y="3849624"/>
            <a:ext cx="4480560" cy="868680"/>
          </a:xfrm>
          <a:prstGeom prst="roundRect">
            <a:avLst>
              <a:gd name="adj" fmla="val 14737"/>
            </a:avLst>
          </a:prstGeom>
          <a:solidFill>
            <a:schemeClr val="tx2"/>
          </a:solidFill>
          <a:ln/>
        </p:spPr>
      </p:sp>
      <p:sp>
        <p:nvSpPr>
          <p:cNvPr id="17" name="icono-MdKey"/>
          <p:cNvSpPr/>
          <p:nvPr/>
        </p:nvSpPr>
        <p:spPr>
          <a:xfrm>
            <a:off x="731520" y="4032504"/>
            <a:ext cx="502920" cy="502920"/>
          </a:xfrm>
          <a:prstGeom prst="roundRect">
            <a:avLst>
              <a:gd name="adj" fmla="val 22000"/>
            </a:avLst>
          </a:prstGeom>
          <a:solidFill>
            <a:schemeClr val="accent1"/>
          </a:solidFill>
          <a:ln/>
        </p:spPr>
      </p:sp>
      <p:pic>
        <p:nvPicPr>
          <p:cNvPr id="18" name="glifo-MdKey" descr="preencoded.png">    </p:cNvPr>
          <p:cNvPicPr>
            <a:picLocks noChangeAspect="1"/>
          </p:cNvPicPr>
          <p:nvPr/>
        </p:nvPicPr>
        <p:blipFill>
          <a:blip r:embed="rId3"/>
          <a:stretch>
            <a:fillRect/>
          </a:stretch>
        </p:blipFill>
        <p:spPr>
          <a:xfrm>
            <a:off x="832104" y="4133088"/>
            <a:ext cx="301752" cy="301752"/>
          </a:xfrm>
          <a:prstGeom prst="rect">
            <a:avLst/>
          </a:prstGeom>
        </p:spPr>
      </p:pic>
      <p:sp>
        <p:nvSpPr>
          <p:cNvPr id="19" name="Text 14"/>
          <p:cNvSpPr txBox="1"/>
          <p:nvPr/>
        </p:nvSpPr>
        <p:spPr>
          <a:xfrm>
            <a:off x="1417320" y="3959352"/>
            <a:ext cx="2743200" cy="228600"/>
          </a:xfrm>
          <a:prstGeom prst="rect">
            <a:avLst/>
          </a:prstGeom>
          <a:noFill/>
          <a:ln/>
        </p:spPr>
        <p:txBody>
          <a:bodyPr wrap="square" lIns="0" tIns="0" rIns="0" bIns="0" rtlCol="0" anchor="t"/>
          <a:lstStyle/>
          <a:p>
            <a:pPr indent="0" marL="0">
              <a:buNone/>
            </a:pPr>
            <a:r>
              <a:rPr lang="en-US" sz="1000" b="1" spc="150" kern="0" dirty="0">
                <a:solidFill>
                  <a:schemeClr val="accent2"/>
                </a:solidFill>
                <a:latin typeface="Segoe UI" pitchFamily="34" charset="0"/>
                <a:ea typeface="Segoe UI" pitchFamily="34" charset="-122"/>
                <a:cs typeface="Segoe UI" pitchFamily="34" charset="-120"/>
              </a:rPr>
              <a:t>PASO 3</a:t>
            </a:r>
            <a:endParaRPr lang="en-US" sz="1000" dirty="0"/>
          </a:p>
        </p:txBody>
      </p:sp>
      <p:sp>
        <p:nvSpPr>
          <p:cNvPr id="20" name="Text 15"/>
          <p:cNvSpPr txBox="1"/>
          <p:nvPr/>
        </p:nvSpPr>
        <p:spPr>
          <a:xfrm>
            <a:off x="1417320" y="4178808"/>
            <a:ext cx="3383280" cy="274320"/>
          </a:xfrm>
          <a:prstGeom prst="rect">
            <a:avLst/>
          </a:prstGeom>
          <a:noFill/>
          <a:ln/>
        </p:spPr>
        <p:txBody>
          <a:bodyPr wrap="square" lIns="0" tIns="0" rIns="0" bIns="0" rtlCol="0" anchor="t"/>
          <a:lstStyle/>
          <a:p>
            <a:pPr indent="0" marL="0">
              <a:buNone/>
            </a:pPr>
            <a:r>
              <a:rPr lang="en-US" sz="1500" b="1" dirty="0">
                <a:solidFill>
                  <a:schemeClr val="bg1"/>
                </a:solidFill>
                <a:latin typeface="Segoe UI" pitchFamily="34" charset="0"/>
                <a:ea typeface="Segoe UI" pitchFamily="34" charset="-122"/>
                <a:cs typeface="Segoe UI" pitchFamily="34" charset="-120"/>
              </a:rPr>
              <a:t>Entregar</a:t>
            </a:r>
            <a:endParaRPr lang="en-US" sz="1500" dirty="0"/>
          </a:p>
        </p:txBody>
      </p:sp>
      <p:sp>
        <p:nvSpPr>
          <p:cNvPr id="21" name="Text 16"/>
          <p:cNvSpPr txBox="1"/>
          <p:nvPr/>
        </p:nvSpPr>
        <p:spPr>
          <a:xfrm>
            <a:off x="1417320" y="4434840"/>
            <a:ext cx="3383280" cy="2286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Inspección de salida</a:t>
            </a:r>
            <a:endParaRPr lang="en-US" sz="1100" dirty="0"/>
          </a:p>
        </p:txBody>
      </p:sp>
      <p:sp>
        <p:nvSpPr>
          <p:cNvPr id="22" name="paso-4"/>
          <p:cNvSpPr/>
          <p:nvPr/>
        </p:nvSpPr>
        <p:spPr>
          <a:xfrm>
            <a:off x="548640" y="4882896"/>
            <a:ext cx="4480560" cy="868680"/>
          </a:xfrm>
          <a:prstGeom prst="roundRect">
            <a:avLst>
              <a:gd name="adj" fmla="val 14737"/>
            </a:avLst>
          </a:prstGeom>
          <a:solidFill>
            <a:schemeClr val="tx2"/>
          </a:solidFill>
          <a:ln/>
        </p:spPr>
      </p:sp>
      <p:sp>
        <p:nvSpPr>
          <p:cNvPr id="23" name="icono-MdAssignmentReturn"/>
          <p:cNvSpPr/>
          <p:nvPr/>
        </p:nvSpPr>
        <p:spPr>
          <a:xfrm>
            <a:off x="731520" y="5065776"/>
            <a:ext cx="502920" cy="502920"/>
          </a:xfrm>
          <a:prstGeom prst="roundRect">
            <a:avLst>
              <a:gd name="adj" fmla="val 22000"/>
            </a:avLst>
          </a:prstGeom>
          <a:solidFill>
            <a:schemeClr val="accent1"/>
          </a:solidFill>
          <a:ln/>
        </p:spPr>
      </p:sp>
      <p:pic>
        <p:nvPicPr>
          <p:cNvPr id="24" name="glifo-MdAssignmentReturn" descr="preencoded.png">    </p:cNvPr>
          <p:cNvPicPr>
            <a:picLocks noChangeAspect="1"/>
          </p:cNvPicPr>
          <p:nvPr/>
        </p:nvPicPr>
        <p:blipFill>
          <a:blip r:embed="rId4"/>
          <a:stretch>
            <a:fillRect/>
          </a:stretch>
        </p:blipFill>
        <p:spPr>
          <a:xfrm>
            <a:off x="832104" y="5166360"/>
            <a:ext cx="301752" cy="301752"/>
          </a:xfrm>
          <a:prstGeom prst="rect">
            <a:avLst/>
          </a:prstGeom>
        </p:spPr>
      </p:pic>
      <p:sp>
        <p:nvSpPr>
          <p:cNvPr id="25" name="Text 19"/>
          <p:cNvSpPr txBox="1"/>
          <p:nvPr/>
        </p:nvSpPr>
        <p:spPr>
          <a:xfrm>
            <a:off x="1417320" y="4992624"/>
            <a:ext cx="2743200" cy="228600"/>
          </a:xfrm>
          <a:prstGeom prst="rect">
            <a:avLst/>
          </a:prstGeom>
          <a:noFill/>
          <a:ln/>
        </p:spPr>
        <p:txBody>
          <a:bodyPr wrap="square" lIns="0" tIns="0" rIns="0" bIns="0" rtlCol="0" anchor="t"/>
          <a:lstStyle/>
          <a:p>
            <a:pPr indent="0" marL="0">
              <a:buNone/>
            </a:pPr>
            <a:r>
              <a:rPr lang="en-US" sz="1000" b="1" spc="150" kern="0" dirty="0">
                <a:solidFill>
                  <a:schemeClr val="accent2"/>
                </a:solidFill>
                <a:latin typeface="Segoe UI" pitchFamily="34" charset="0"/>
                <a:ea typeface="Segoe UI" pitchFamily="34" charset="-122"/>
                <a:cs typeface="Segoe UI" pitchFamily="34" charset="-120"/>
              </a:rPr>
              <a:t>PASO 4</a:t>
            </a:r>
            <a:endParaRPr lang="en-US" sz="1000" dirty="0"/>
          </a:p>
        </p:txBody>
      </p:sp>
      <p:sp>
        <p:nvSpPr>
          <p:cNvPr id="26" name="Text 20"/>
          <p:cNvSpPr txBox="1"/>
          <p:nvPr/>
        </p:nvSpPr>
        <p:spPr>
          <a:xfrm>
            <a:off x="1417320" y="5212080"/>
            <a:ext cx="3383280" cy="274320"/>
          </a:xfrm>
          <a:prstGeom prst="rect">
            <a:avLst/>
          </a:prstGeom>
          <a:noFill/>
          <a:ln/>
        </p:spPr>
        <p:txBody>
          <a:bodyPr wrap="square" lIns="0" tIns="0" rIns="0" bIns="0" rtlCol="0" anchor="t"/>
          <a:lstStyle/>
          <a:p>
            <a:pPr indent="0" marL="0">
              <a:buNone/>
            </a:pPr>
            <a:r>
              <a:rPr lang="en-US" sz="1500" b="1" dirty="0">
                <a:solidFill>
                  <a:schemeClr val="bg1"/>
                </a:solidFill>
                <a:latin typeface="Segoe UI" pitchFamily="34" charset="0"/>
                <a:ea typeface="Segoe UI" pitchFamily="34" charset="-122"/>
                <a:cs typeface="Segoe UI" pitchFamily="34" charset="-120"/>
              </a:rPr>
              <a:t>Devolver y cobrar</a:t>
            </a:r>
            <a:endParaRPr lang="en-US" sz="1500" dirty="0"/>
          </a:p>
        </p:txBody>
      </p:sp>
      <p:sp>
        <p:nvSpPr>
          <p:cNvPr id="27" name="Text 21"/>
          <p:cNvSpPr txBox="1"/>
          <p:nvPr/>
        </p:nvSpPr>
        <p:spPr>
          <a:xfrm>
            <a:off x="1417320" y="5468112"/>
            <a:ext cx="3383280" cy="2286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Inspección y pagos</a:t>
            </a:r>
            <a:endParaRPr lang="en-US" sz="1100" dirty="0"/>
          </a:p>
        </p:txBody>
      </p:sp>
      <p:sp>
        <p:nvSpPr>
          <p:cNvPr id="28" name="marco-inicio"/>
          <p:cNvSpPr/>
          <p:nvPr/>
        </p:nvSpPr>
        <p:spPr>
          <a:xfrm>
            <a:off x="5431536" y="1728216"/>
            <a:ext cx="6236208" cy="3938778"/>
          </a:xfrm>
          <a:prstGeom prst="roundRect">
            <a:avLst>
              <a:gd name="adj" fmla="val 2322"/>
            </a:avLst>
          </a:prstGeom>
          <a:solidFill>
            <a:schemeClr val="accent6"/>
          </a:solidFill>
          <a:ln/>
        </p:spPr>
      </p:sp>
      <p:pic>
        <p:nvPicPr>
          <p:cNvPr id="29" name="captura-inicio" descr="C:\Users\caleb\AppData\Local\Temp\claude\C--Users-caleb-Documents-Estudios-Universidad-TECNICO-CICLO02-DSP-DSP-Teoria-DSP-Proyecto-Catedra--claude-worktrees-update-project-documentation-92954b\d57d161d-a786-4869-8058-97cb6ca88192\scratchpad\deck\img\inicio.jpg">    </p:cNvPr>
          <p:cNvPicPr>
            <a:picLocks noChangeAspect="1"/>
          </p:cNvPicPr>
          <p:nvPr/>
        </p:nvPicPr>
        <p:blipFill>
          <a:blip r:embed="rId5"/>
          <a:stretch>
            <a:fillRect/>
          </a:stretch>
        </p:blipFill>
        <p:spPr>
          <a:xfrm>
            <a:off x="5486400" y="1783080"/>
            <a:ext cx="6126480" cy="3829050"/>
          </a:xfrm>
          <a:prstGeom prst="rect">
            <a:avLst/>
          </a:prstGeom>
        </p:spPr>
      </p:pic>
      <p:sp>
        <p:nvSpPr>
          <p:cNvPr id="30" name="Text 23"/>
          <p:cNvSpPr txBox="1"/>
          <p:nvPr/>
        </p:nvSpPr>
        <p:spPr>
          <a:xfrm>
            <a:off x="5486400" y="5749290"/>
            <a:ext cx="612648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Inicio: lo que necesita atención hoy y la guía de los cuatro pasos</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DISEÑO UX/UI</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UNA INTERFAZ PENSADA PARA EL MOSTRADOR</a:t>
            </a:r>
            <a:endParaRPr lang="en-US" sz="3800" dirty="0"/>
          </a:p>
        </p:txBody>
      </p:sp>
      <p:sp>
        <p:nvSpPr>
          <p:cNvPr id="4" name="marco-ui-0"/>
          <p:cNvSpPr/>
          <p:nvPr/>
        </p:nvSpPr>
        <p:spPr>
          <a:xfrm>
            <a:off x="493776" y="1728216"/>
            <a:ext cx="3675888" cy="2338578"/>
          </a:xfrm>
          <a:prstGeom prst="roundRect">
            <a:avLst>
              <a:gd name="adj" fmla="val 3910"/>
            </a:avLst>
          </a:prstGeom>
          <a:solidFill>
            <a:schemeClr val="accent6"/>
          </a:solidFill>
          <a:ln/>
        </p:spPr>
      </p:sp>
      <p:pic>
        <p:nvPicPr>
          <p:cNvPr id="5" name="captura-ui-0" descr="C:\Users\caleb\AppData\Local\Temp\claude\C--Users-caleb-Documents-Estudios-Universidad-TECNICO-CICLO02-DSP-DSP-Teoria-DSP-Proyecto-Catedra--claude-worktrees-update-project-documentation-92954b\d57d161d-a786-4869-8058-97cb6ca88192\scratchpad\deck\img\login.jpg">    </p:cNvPr>
          <p:cNvPicPr>
            <a:picLocks noChangeAspect="1"/>
          </p:cNvPicPr>
          <p:nvPr/>
        </p:nvPicPr>
        <p:blipFill>
          <a:blip r:embed="rId1"/>
          <a:stretch>
            <a:fillRect/>
          </a:stretch>
        </p:blipFill>
        <p:spPr>
          <a:xfrm>
            <a:off x="548640" y="1783080"/>
            <a:ext cx="3566160" cy="2228850"/>
          </a:xfrm>
          <a:prstGeom prst="rect">
            <a:avLst/>
          </a:prstGeom>
        </p:spPr>
      </p:pic>
      <p:sp>
        <p:nvSpPr>
          <p:cNvPr id="6" name="Text 3"/>
          <p:cNvSpPr txBox="1"/>
          <p:nvPr/>
        </p:nvSpPr>
        <p:spPr>
          <a:xfrm>
            <a:off x="548640" y="4149090"/>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Acceso: correo y contraseña</a:t>
            </a:r>
            <a:endParaRPr lang="en-US" sz="1200" dirty="0"/>
          </a:p>
        </p:txBody>
      </p:sp>
      <p:sp>
        <p:nvSpPr>
          <p:cNvPr id="7" name="marco-ui-1"/>
          <p:cNvSpPr/>
          <p:nvPr/>
        </p:nvSpPr>
        <p:spPr>
          <a:xfrm>
            <a:off x="4242816" y="1728216"/>
            <a:ext cx="3675888" cy="2338578"/>
          </a:xfrm>
          <a:prstGeom prst="roundRect">
            <a:avLst>
              <a:gd name="adj" fmla="val 3910"/>
            </a:avLst>
          </a:prstGeom>
          <a:solidFill>
            <a:schemeClr val="accent6"/>
          </a:solidFill>
          <a:ln/>
        </p:spPr>
      </p:sp>
      <p:pic>
        <p:nvPicPr>
          <p:cNvPr id="8" name="captura-ui-1" descr="C:\Users\caleb\AppData\Local\Temp\claude\C--Users-caleb-Documents-Estudios-Universidad-TECNICO-CICLO02-DSP-DSP-Teoria-DSP-Proyecto-Catedra--claude-worktrees-update-project-documentation-92954b\d57d161d-a786-4869-8058-97cb6ca88192\scratchpad\deck\img\buscar.jpg">    </p:cNvPr>
          <p:cNvPicPr>
            <a:picLocks noChangeAspect="1"/>
          </p:cNvPicPr>
          <p:nvPr/>
        </p:nvPicPr>
        <p:blipFill>
          <a:blip r:embed="rId2"/>
          <a:stretch>
            <a:fillRect/>
          </a:stretch>
        </p:blipFill>
        <p:spPr>
          <a:xfrm>
            <a:off x="4297680" y="1783080"/>
            <a:ext cx="3566160" cy="2228850"/>
          </a:xfrm>
          <a:prstGeom prst="rect">
            <a:avLst/>
          </a:prstGeom>
        </p:spPr>
      </p:pic>
      <p:sp>
        <p:nvSpPr>
          <p:cNvPr id="9" name="Text 5"/>
          <p:cNvSpPr txBox="1"/>
          <p:nvPr/>
        </p:nvSpPr>
        <p:spPr>
          <a:xfrm>
            <a:off x="4297680" y="4149090"/>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Buscar vehículo con filtros</a:t>
            </a:r>
            <a:endParaRPr lang="en-US" sz="1200" dirty="0"/>
          </a:p>
        </p:txBody>
      </p:sp>
      <p:sp>
        <p:nvSpPr>
          <p:cNvPr id="10" name="marco-ui-2"/>
          <p:cNvSpPr/>
          <p:nvPr/>
        </p:nvSpPr>
        <p:spPr>
          <a:xfrm>
            <a:off x="7991856" y="1728216"/>
            <a:ext cx="3675888" cy="2338578"/>
          </a:xfrm>
          <a:prstGeom prst="roundRect">
            <a:avLst>
              <a:gd name="adj" fmla="val 3910"/>
            </a:avLst>
          </a:prstGeom>
          <a:solidFill>
            <a:schemeClr val="accent6"/>
          </a:solidFill>
          <a:ln/>
        </p:spPr>
      </p:sp>
      <p:pic>
        <p:nvPicPr>
          <p:cNvPr id="11" name="captura-ui-2" descr="C:\Users\caleb\AppData\Local\Temp\claude\C--Users-caleb-Documents-Estudios-Universidad-TECNICO-CICLO02-DSP-DSP-Teoria-DSP-Proyecto-Catedra--claude-worktrees-update-project-documentation-92954b\d57d161d-a786-4869-8058-97cb6ca88192\scratchpad\deck\img\reservas.jpg">    </p:cNvPr>
          <p:cNvPicPr>
            <a:picLocks noChangeAspect="1"/>
          </p:cNvPicPr>
          <p:nvPr/>
        </p:nvPicPr>
        <p:blipFill>
          <a:blip r:embed="rId3"/>
          <a:stretch>
            <a:fillRect/>
          </a:stretch>
        </p:blipFill>
        <p:spPr>
          <a:xfrm>
            <a:off x="8046720" y="1783080"/>
            <a:ext cx="3566160" cy="2228850"/>
          </a:xfrm>
          <a:prstGeom prst="rect">
            <a:avLst/>
          </a:prstGeom>
        </p:spPr>
      </p:pic>
      <p:sp>
        <p:nvSpPr>
          <p:cNvPr id="12" name="Text 7"/>
          <p:cNvSpPr txBox="1"/>
          <p:nvPr/>
        </p:nvSpPr>
        <p:spPr>
          <a:xfrm>
            <a:off x="8046720" y="4149090"/>
            <a:ext cx="3566160" cy="2743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Reservas con pestañas por estado</a:t>
            </a:r>
            <a:endParaRPr lang="en-US" sz="1200" dirty="0"/>
          </a:p>
        </p:txBody>
      </p:sp>
      <p:sp>
        <p:nvSpPr>
          <p:cNvPr id="13" name="hint"/>
          <p:cNvSpPr/>
          <p:nvPr/>
        </p:nvSpPr>
        <p:spPr>
          <a:xfrm>
            <a:off x="548640" y="4526280"/>
            <a:ext cx="5440680" cy="1280160"/>
          </a:xfrm>
          <a:prstGeom prst="roundRect">
            <a:avLst>
              <a:gd name="adj" fmla="val 10000"/>
            </a:avLst>
          </a:prstGeom>
          <a:solidFill>
            <a:schemeClr val="accent6"/>
          </a:solidFill>
          <a:ln/>
        </p:spPr>
      </p:sp>
      <p:sp>
        <p:nvSpPr>
          <p:cNvPr id="14" name="icono-MdLightbulb"/>
          <p:cNvSpPr/>
          <p:nvPr/>
        </p:nvSpPr>
        <p:spPr>
          <a:xfrm>
            <a:off x="731520" y="4709160"/>
            <a:ext cx="384048" cy="384048"/>
          </a:xfrm>
          <a:prstGeom prst="roundRect">
            <a:avLst>
              <a:gd name="adj" fmla="val 22000"/>
            </a:avLst>
          </a:prstGeom>
          <a:solidFill>
            <a:schemeClr val="accent1"/>
          </a:solidFill>
          <a:ln/>
        </p:spPr>
      </p:sp>
      <p:pic>
        <p:nvPicPr>
          <p:cNvPr id="15" name="glifo-MdLightbulb" descr="preencoded.png">    </p:cNvPr>
          <p:cNvPicPr>
            <a:picLocks noChangeAspect="1"/>
          </p:cNvPicPr>
          <p:nvPr/>
        </p:nvPicPr>
        <p:blipFill>
          <a:blip r:embed="rId4"/>
          <a:stretch>
            <a:fillRect/>
          </a:stretch>
        </p:blipFill>
        <p:spPr>
          <a:xfrm>
            <a:off x="808330" y="4785970"/>
            <a:ext cx="230429" cy="230429"/>
          </a:xfrm>
          <a:prstGeom prst="rect">
            <a:avLst/>
          </a:prstGeom>
        </p:spPr>
      </p:pic>
      <p:sp>
        <p:nvSpPr>
          <p:cNvPr id="16" name="Text 10"/>
          <p:cNvSpPr txBox="1"/>
          <p:nvPr/>
        </p:nvSpPr>
        <p:spPr>
          <a:xfrm>
            <a:off x="1261872" y="4681728"/>
            <a:ext cx="4544568"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MATERIAL DESIGN 3</a:t>
            </a:r>
            <a:endParaRPr lang="en-US" sz="1050" dirty="0"/>
          </a:p>
        </p:txBody>
      </p:sp>
      <p:sp>
        <p:nvSpPr>
          <p:cNvPr id="17" name="Text 11"/>
          <p:cNvSpPr txBox="1"/>
          <p:nvPr/>
        </p:nvSpPr>
        <p:spPr>
          <a:xfrm>
            <a:off x="1261872" y="4983480"/>
            <a:ext cx="4544568" cy="71323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Sistema de diseño de Google. Los roles de color de Rentavía se generaron a partir de la semilla carmesí #E0103A, con tema oscuro y claro. La hoja de estilos es propia: no usa Bootstrap.</a:t>
            </a:r>
            <a:endParaRPr lang="en-US" sz="1200" dirty="0"/>
          </a:p>
        </p:txBody>
      </p:sp>
      <p:sp>
        <p:nvSpPr>
          <p:cNvPr id="18" name="hint"/>
          <p:cNvSpPr/>
          <p:nvPr/>
        </p:nvSpPr>
        <p:spPr>
          <a:xfrm>
            <a:off x="6199632" y="4526280"/>
            <a:ext cx="5440680" cy="1280160"/>
          </a:xfrm>
          <a:prstGeom prst="roundRect">
            <a:avLst>
              <a:gd name="adj" fmla="val 10000"/>
            </a:avLst>
          </a:prstGeom>
          <a:solidFill>
            <a:schemeClr val="accent6"/>
          </a:solidFill>
          <a:ln/>
        </p:spPr>
      </p:sp>
      <p:sp>
        <p:nvSpPr>
          <p:cNvPr id="19" name="icono-MdLightbulb"/>
          <p:cNvSpPr/>
          <p:nvPr/>
        </p:nvSpPr>
        <p:spPr>
          <a:xfrm>
            <a:off x="6382512" y="4709160"/>
            <a:ext cx="384048" cy="384048"/>
          </a:xfrm>
          <a:prstGeom prst="roundRect">
            <a:avLst>
              <a:gd name="adj" fmla="val 22000"/>
            </a:avLst>
          </a:prstGeom>
          <a:solidFill>
            <a:schemeClr val="accent1"/>
          </a:solidFill>
          <a:ln/>
        </p:spPr>
      </p:sp>
      <p:pic>
        <p:nvPicPr>
          <p:cNvPr id="20" name="glifo-MdLightbulb" descr="preencoded.png">    </p:cNvPr>
          <p:cNvPicPr>
            <a:picLocks noChangeAspect="1"/>
          </p:cNvPicPr>
          <p:nvPr/>
        </p:nvPicPr>
        <p:blipFill>
          <a:blip r:embed="rId5"/>
          <a:stretch>
            <a:fillRect/>
          </a:stretch>
        </p:blipFill>
        <p:spPr>
          <a:xfrm>
            <a:off x="6459322" y="4785970"/>
            <a:ext cx="230429" cy="230429"/>
          </a:xfrm>
          <a:prstGeom prst="rect">
            <a:avLst/>
          </a:prstGeom>
        </p:spPr>
      </p:pic>
      <p:sp>
        <p:nvSpPr>
          <p:cNvPr id="21" name="Text 14"/>
          <p:cNvSpPr txBox="1"/>
          <p:nvPr/>
        </p:nvSpPr>
        <p:spPr>
          <a:xfrm>
            <a:off x="6912864" y="4681728"/>
            <a:ext cx="4544568"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DISEÑO ADAPTABLE</a:t>
            </a:r>
            <a:endParaRPr lang="en-US" sz="1050" dirty="0"/>
          </a:p>
        </p:txBody>
      </p:sp>
      <p:sp>
        <p:nvSpPr>
          <p:cNvPr id="22" name="Text 15"/>
          <p:cNvSpPr txBox="1"/>
          <p:nvPr/>
        </p:nvSpPr>
        <p:spPr>
          <a:xfrm>
            <a:off x="6912864" y="4983480"/>
            <a:ext cx="4544568" cy="71323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La misma interfaz funciona en computadora y en teléfono. Las fuentes Roboto Flex y Material Symbols se sirven desde la aplicación, así que no dependen de internet.</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05</a:t>
            </a:r>
            <a:endParaRPr lang="en-US" sz="11000" dirty="0"/>
          </a:p>
        </p:txBody>
      </p:sp>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PARTE TÉCNICA</a:t>
            </a:r>
            <a:endParaRPr lang="en-US" sz="6000" dirty="0"/>
          </a:p>
        </p:txBody>
      </p:sp>
      <p:sp>
        <p:nvSpPr>
          <p:cNvPr id="4"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Arquitectura, tecnologías, base de datos, concurrencia, IA, seguridad y Docker.</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ARQUITECTURA</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MONOLITO MODULAR EN CUATRO CAPAS</a:t>
            </a:r>
            <a:endParaRPr lang="en-US" sz="3800" dirty="0"/>
          </a:p>
        </p:txBody>
      </p:sp>
      <p:sp>
        <p:nvSpPr>
          <p:cNvPr id="4" name="capa-Usuario"/>
          <p:cNvSpPr/>
          <p:nvPr/>
        </p:nvSpPr>
        <p:spPr>
          <a:xfrm>
            <a:off x="548640" y="3291840"/>
            <a:ext cx="1371600" cy="868680"/>
          </a:xfrm>
          <a:prstGeom prst="roundRect">
            <a:avLst>
              <a:gd name="adj" fmla="val 14737"/>
            </a:avLst>
          </a:prstGeom>
          <a:solidFill>
            <a:schemeClr val="accent6"/>
          </a:solidFill>
          <a:ln/>
        </p:spPr>
      </p:sp>
      <p:sp>
        <p:nvSpPr>
          <p:cNvPr id="5" name="Text 3"/>
          <p:cNvSpPr txBox="1"/>
          <p:nvPr/>
        </p:nvSpPr>
        <p:spPr>
          <a:xfrm>
            <a:off x="658368" y="3401568"/>
            <a:ext cx="115214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Usuario</a:t>
            </a:r>
            <a:endParaRPr lang="en-US" sz="1300" dirty="0"/>
          </a:p>
        </p:txBody>
      </p:sp>
      <p:sp>
        <p:nvSpPr>
          <p:cNvPr id="6" name="Text 4"/>
          <p:cNvSpPr txBox="1"/>
          <p:nvPr/>
        </p:nvSpPr>
        <p:spPr>
          <a:xfrm>
            <a:off x="658368" y="3694176"/>
            <a:ext cx="1152144" cy="411480"/>
          </a:xfrm>
          <a:prstGeom prst="rect">
            <a:avLst/>
          </a:prstGeom>
          <a:noFill/>
          <a:ln/>
        </p:spPr>
        <p:txBody>
          <a:bodyPr wrap="square" lIns="0" tIns="0" rIns="0" bIns="0" rtlCol="0" anchor="t"/>
          <a:lstStyle/>
          <a:p>
            <a:pPr algn="ctr" indent="0" marL="0">
              <a:buNone/>
            </a:pPr>
            <a:r>
              <a:rPr lang="en-US" sz="1050" dirty="0">
                <a:solidFill>
                  <a:schemeClr val="bg2"/>
                </a:solidFill>
                <a:latin typeface="Segoe UI" pitchFamily="34" charset="0"/>
                <a:ea typeface="Segoe UI" pitchFamily="34" charset="-122"/>
                <a:cs typeface="Segoe UI" pitchFamily="34" charset="-120"/>
              </a:rPr>
              <a:t>Empleado o administrador</a:t>
            </a:r>
            <a:endParaRPr lang="en-US" sz="1050" dirty="0"/>
          </a:p>
        </p:txBody>
      </p:sp>
      <p:sp>
        <p:nvSpPr>
          <p:cNvPr id="7" name="capa-Rentavia.Web"/>
          <p:cNvSpPr/>
          <p:nvPr/>
        </p:nvSpPr>
        <p:spPr>
          <a:xfrm>
            <a:off x="2286000" y="3291840"/>
            <a:ext cx="1737360" cy="868680"/>
          </a:xfrm>
          <a:prstGeom prst="roundRect">
            <a:avLst>
              <a:gd name="adj" fmla="val 14737"/>
            </a:avLst>
          </a:prstGeom>
          <a:solidFill>
            <a:schemeClr val="tx2"/>
          </a:solidFill>
          <a:ln/>
        </p:spPr>
      </p:sp>
      <p:sp>
        <p:nvSpPr>
          <p:cNvPr id="8" name="Text 6"/>
          <p:cNvSpPr txBox="1"/>
          <p:nvPr/>
        </p:nvSpPr>
        <p:spPr>
          <a:xfrm>
            <a:off x="2395728" y="3401568"/>
            <a:ext cx="151790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Rentavia.Web</a:t>
            </a:r>
            <a:endParaRPr lang="en-US" sz="1300" dirty="0"/>
          </a:p>
        </p:txBody>
      </p:sp>
      <p:sp>
        <p:nvSpPr>
          <p:cNvPr id="9" name="Text 7"/>
          <p:cNvSpPr txBox="1"/>
          <p:nvPr/>
        </p:nvSpPr>
        <p:spPr>
          <a:xfrm>
            <a:off x="2395728" y="3694176"/>
            <a:ext cx="1517904" cy="411480"/>
          </a:xfrm>
          <a:prstGeom prst="rect">
            <a:avLst/>
          </a:prstGeom>
          <a:noFill/>
          <a:ln/>
        </p:spPr>
        <p:txBody>
          <a:bodyPr wrap="square" lIns="0" tIns="0" rIns="0" bIns="0" rtlCol="0" anchor="t"/>
          <a:lstStyle/>
          <a:p>
            <a:pPr algn="ctr" indent="0" marL="0">
              <a:buNone/>
            </a:pPr>
            <a:r>
              <a:rPr lang="en-US" sz="1050" dirty="0">
                <a:solidFill>
                  <a:schemeClr val="bg2"/>
                </a:solidFill>
                <a:latin typeface="Segoe UI" pitchFamily="34" charset="0"/>
                <a:ea typeface="Segoe UI" pitchFamily="34" charset="-122"/>
                <a:cs typeface="Segoe UI" pitchFamily="34" charset="-120"/>
              </a:rPr>
              <a:t>MVC, Razor, Identity</a:t>
            </a:r>
            <a:endParaRPr lang="en-US" sz="1050" dirty="0"/>
          </a:p>
        </p:txBody>
      </p:sp>
      <p:sp>
        <p:nvSpPr>
          <p:cNvPr id="10" name="capa-Application"/>
          <p:cNvSpPr/>
          <p:nvPr/>
        </p:nvSpPr>
        <p:spPr>
          <a:xfrm>
            <a:off x="4480560" y="2011680"/>
            <a:ext cx="1920240" cy="868680"/>
          </a:xfrm>
          <a:prstGeom prst="roundRect">
            <a:avLst>
              <a:gd name="adj" fmla="val 14737"/>
            </a:avLst>
          </a:prstGeom>
          <a:solidFill>
            <a:schemeClr val="tx2"/>
          </a:solidFill>
          <a:ln/>
        </p:spPr>
      </p:sp>
      <p:sp>
        <p:nvSpPr>
          <p:cNvPr id="11" name="Text 9"/>
          <p:cNvSpPr txBox="1"/>
          <p:nvPr/>
        </p:nvSpPr>
        <p:spPr>
          <a:xfrm>
            <a:off x="4590288" y="2121408"/>
            <a:ext cx="170078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Application</a:t>
            </a:r>
            <a:endParaRPr lang="en-US" sz="1300" dirty="0"/>
          </a:p>
        </p:txBody>
      </p:sp>
      <p:sp>
        <p:nvSpPr>
          <p:cNvPr id="12" name="Text 10"/>
          <p:cNvSpPr txBox="1"/>
          <p:nvPr/>
        </p:nvSpPr>
        <p:spPr>
          <a:xfrm>
            <a:off x="4590288" y="2414016"/>
            <a:ext cx="1700784" cy="411480"/>
          </a:xfrm>
          <a:prstGeom prst="rect">
            <a:avLst/>
          </a:prstGeom>
          <a:noFill/>
          <a:ln/>
        </p:spPr>
        <p:txBody>
          <a:bodyPr wrap="square" lIns="0" tIns="0" rIns="0" bIns="0" rtlCol="0" anchor="t"/>
          <a:lstStyle/>
          <a:p>
            <a:pPr algn="ctr" indent="0" marL="0">
              <a:buNone/>
            </a:pPr>
            <a:r>
              <a:rPr lang="en-US" sz="1050" dirty="0">
                <a:solidFill>
                  <a:schemeClr val="bg2"/>
                </a:solidFill>
                <a:latin typeface="Segoe UI" pitchFamily="34" charset="0"/>
                <a:ea typeface="Segoe UI" pitchFamily="34" charset="-122"/>
                <a:cs typeface="Segoe UI" pitchFamily="34" charset="-120"/>
              </a:rPr>
              <a:t>Reglas y contrato IA</a:t>
            </a:r>
            <a:endParaRPr lang="en-US" sz="1050" dirty="0"/>
          </a:p>
        </p:txBody>
      </p:sp>
      <p:sp>
        <p:nvSpPr>
          <p:cNvPr id="13" name="capa-Infrastructure"/>
          <p:cNvSpPr/>
          <p:nvPr/>
        </p:nvSpPr>
        <p:spPr>
          <a:xfrm>
            <a:off x="4480560" y="4434840"/>
            <a:ext cx="1920240" cy="1005840"/>
          </a:xfrm>
          <a:prstGeom prst="roundRect">
            <a:avLst>
              <a:gd name="adj" fmla="val 12727"/>
            </a:avLst>
          </a:prstGeom>
          <a:solidFill>
            <a:schemeClr val="tx2"/>
          </a:solidFill>
          <a:ln/>
        </p:spPr>
      </p:sp>
      <p:sp>
        <p:nvSpPr>
          <p:cNvPr id="14" name="Text 12"/>
          <p:cNvSpPr txBox="1"/>
          <p:nvPr/>
        </p:nvSpPr>
        <p:spPr>
          <a:xfrm>
            <a:off x="4590288" y="4544568"/>
            <a:ext cx="170078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Infrastructure</a:t>
            </a:r>
            <a:endParaRPr lang="en-US" sz="1300" dirty="0"/>
          </a:p>
        </p:txBody>
      </p:sp>
      <p:sp>
        <p:nvSpPr>
          <p:cNvPr id="15" name="Text 13"/>
          <p:cNvSpPr txBox="1"/>
          <p:nvPr/>
        </p:nvSpPr>
        <p:spPr>
          <a:xfrm>
            <a:off x="4590288" y="4837176"/>
            <a:ext cx="1700784" cy="548640"/>
          </a:xfrm>
          <a:prstGeom prst="rect">
            <a:avLst/>
          </a:prstGeom>
          <a:noFill/>
          <a:ln/>
        </p:spPr>
        <p:txBody>
          <a:bodyPr wrap="square" lIns="0" tIns="0" rIns="0" bIns="0" rtlCol="0" anchor="t"/>
          <a:lstStyle/>
          <a:p>
            <a:pPr algn="ctr" indent="0" marL="0">
              <a:buNone/>
            </a:pPr>
            <a:r>
              <a:rPr lang="en-US" sz="1050" dirty="0">
                <a:solidFill>
                  <a:schemeClr val="bg2"/>
                </a:solidFill>
                <a:latin typeface="Segoe UI" pitchFamily="34" charset="0"/>
                <a:ea typeface="Segoe UI" pitchFamily="34" charset="-122"/>
                <a:cs typeface="Segoe UI" pitchFamily="34" charset="-120"/>
              </a:rPr>
              <a:t>EF Core, servicios y OpenAI</a:t>
            </a:r>
            <a:endParaRPr lang="en-US" sz="1050" dirty="0"/>
          </a:p>
        </p:txBody>
      </p:sp>
      <p:sp>
        <p:nvSpPr>
          <p:cNvPr id="16" name="capa-Domain"/>
          <p:cNvSpPr/>
          <p:nvPr/>
        </p:nvSpPr>
        <p:spPr>
          <a:xfrm>
            <a:off x="6766560" y="2011680"/>
            <a:ext cx="1417320" cy="868680"/>
          </a:xfrm>
          <a:prstGeom prst="roundRect">
            <a:avLst>
              <a:gd name="adj" fmla="val 14737"/>
            </a:avLst>
          </a:prstGeom>
          <a:solidFill>
            <a:schemeClr val="tx2"/>
          </a:solidFill>
          <a:ln/>
        </p:spPr>
      </p:sp>
      <p:sp>
        <p:nvSpPr>
          <p:cNvPr id="17" name="Text 15"/>
          <p:cNvSpPr txBox="1"/>
          <p:nvPr/>
        </p:nvSpPr>
        <p:spPr>
          <a:xfrm>
            <a:off x="6876288" y="2121408"/>
            <a:ext cx="119786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Domain</a:t>
            </a:r>
            <a:endParaRPr lang="en-US" sz="1300" dirty="0"/>
          </a:p>
        </p:txBody>
      </p:sp>
      <p:sp>
        <p:nvSpPr>
          <p:cNvPr id="18" name="Text 16"/>
          <p:cNvSpPr txBox="1"/>
          <p:nvPr/>
        </p:nvSpPr>
        <p:spPr>
          <a:xfrm>
            <a:off x="6876288" y="2414016"/>
            <a:ext cx="1197864" cy="411480"/>
          </a:xfrm>
          <a:prstGeom prst="rect">
            <a:avLst/>
          </a:prstGeom>
          <a:noFill/>
          <a:ln/>
        </p:spPr>
        <p:txBody>
          <a:bodyPr wrap="square" lIns="0" tIns="0" rIns="0" bIns="0" rtlCol="0" anchor="t"/>
          <a:lstStyle/>
          <a:p>
            <a:pPr algn="ctr" indent="0" marL="0">
              <a:buNone/>
            </a:pPr>
            <a:r>
              <a:rPr lang="en-US" sz="1050" dirty="0">
                <a:solidFill>
                  <a:schemeClr val="bg2"/>
                </a:solidFill>
                <a:latin typeface="Segoe UI" pitchFamily="34" charset="0"/>
                <a:ea typeface="Segoe UI" pitchFamily="34" charset="-122"/>
                <a:cs typeface="Segoe UI" pitchFamily="34" charset="-120"/>
              </a:rPr>
              <a:t>Entidades</a:t>
            </a:r>
            <a:endParaRPr lang="en-US" sz="1050" dirty="0"/>
          </a:p>
        </p:txBody>
      </p:sp>
      <p:sp>
        <p:nvSpPr>
          <p:cNvPr id="19" name="capa-SQL Server"/>
          <p:cNvSpPr/>
          <p:nvPr/>
        </p:nvSpPr>
        <p:spPr>
          <a:xfrm>
            <a:off x="6766560" y="4343400"/>
            <a:ext cx="1417320" cy="502920"/>
          </a:xfrm>
          <a:prstGeom prst="roundRect">
            <a:avLst>
              <a:gd name="adj" fmla="val 25455"/>
            </a:avLst>
          </a:prstGeom>
          <a:solidFill>
            <a:schemeClr val="tx2"/>
          </a:solidFill>
          <a:ln/>
        </p:spPr>
      </p:sp>
      <p:sp>
        <p:nvSpPr>
          <p:cNvPr id="20" name="Text 18"/>
          <p:cNvSpPr txBox="1"/>
          <p:nvPr/>
        </p:nvSpPr>
        <p:spPr>
          <a:xfrm>
            <a:off x="6876288" y="4453128"/>
            <a:ext cx="119786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SQL Server</a:t>
            </a:r>
            <a:endParaRPr lang="en-US" sz="1300" dirty="0"/>
          </a:p>
        </p:txBody>
      </p:sp>
      <p:sp>
        <p:nvSpPr>
          <p:cNvPr id="21" name="Text 19"/>
          <p:cNvSpPr txBox="1"/>
          <p:nvPr/>
        </p:nvSpPr>
        <p:spPr>
          <a:xfrm>
            <a:off x="6876288" y="4745736"/>
            <a:ext cx="1197864" cy="45720"/>
          </a:xfrm>
          <a:prstGeom prst="rect">
            <a:avLst/>
          </a:prstGeom>
          <a:noFill/>
          <a:ln/>
        </p:spPr>
        <p:txBody>
          <a:bodyPr wrap="square" lIns="0" tIns="0" rIns="0" bIns="0" rtlCol="0" anchor="t"/>
          <a:lstStyle/>
          <a:p>
            <a:pPr algn="ctr" indent="0" marL="0">
              <a:buNone/>
            </a:pPr>
            <a:endParaRPr lang="en-US" sz="1050" dirty="0"/>
          </a:p>
        </p:txBody>
      </p:sp>
      <p:sp>
        <p:nvSpPr>
          <p:cNvPr id="22" name="capa-OpenAI API"/>
          <p:cNvSpPr/>
          <p:nvPr/>
        </p:nvSpPr>
        <p:spPr>
          <a:xfrm>
            <a:off x="6766560" y="4983480"/>
            <a:ext cx="1417320" cy="502920"/>
          </a:xfrm>
          <a:prstGeom prst="roundRect">
            <a:avLst>
              <a:gd name="adj" fmla="val 25455"/>
            </a:avLst>
          </a:prstGeom>
          <a:solidFill>
            <a:schemeClr val="tx2"/>
          </a:solidFill>
          <a:ln/>
        </p:spPr>
      </p:sp>
      <p:sp>
        <p:nvSpPr>
          <p:cNvPr id="23" name="Text 21"/>
          <p:cNvSpPr txBox="1"/>
          <p:nvPr/>
        </p:nvSpPr>
        <p:spPr>
          <a:xfrm>
            <a:off x="6876288" y="5093208"/>
            <a:ext cx="1197864" cy="292608"/>
          </a:xfrm>
          <a:prstGeom prst="rect">
            <a:avLst/>
          </a:prstGeom>
          <a:noFill/>
          <a:ln/>
        </p:spPr>
        <p:txBody>
          <a:bodyPr wrap="square" lIns="0" tIns="0" rIns="0" bIns="0" rtlCol="0" anchor="t"/>
          <a:lstStyle/>
          <a:p>
            <a:pPr algn="ctr" indent="0" marL="0">
              <a:buNone/>
            </a:pPr>
            <a:r>
              <a:rPr lang="en-US" sz="1300" b="1" dirty="0">
                <a:solidFill>
                  <a:schemeClr val="bg1"/>
                </a:solidFill>
                <a:latin typeface="Segoe UI" pitchFamily="34" charset="0"/>
                <a:ea typeface="Segoe UI" pitchFamily="34" charset="-122"/>
                <a:cs typeface="Segoe UI" pitchFamily="34" charset="-120"/>
              </a:rPr>
              <a:t>OpenAI API</a:t>
            </a:r>
            <a:endParaRPr lang="en-US" sz="1300" dirty="0"/>
          </a:p>
        </p:txBody>
      </p:sp>
      <p:sp>
        <p:nvSpPr>
          <p:cNvPr id="24" name="Text 22"/>
          <p:cNvSpPr txBox="1"/>
          <p:nvPr/>
        </p:nvSpPr>
        <p:spPr>
          <a:xfrm>
            <a:off x="6876288" y="5385816"/>
            <a:ext cx="1197864" cy="45720"/>
          </a:xfrm>
          <a:prstGeom prst="rect">
            <a:avLst/>
          </a:prstGeom>
          <a:noFill/>
          <a:ln/>
        </p:spPr>
        <p:txBody>
          <a:bodyPr wrap="square" lIns="0" tIns="0" rIns="0" bIns="0" rtlCol="0" anchor="t"/>
          <a:lstStyle/>
          <a:p>
            <a:pPr algn="ctr" indent="0" marL="0">
              <a:buNone/>
            </a:pPr>
            <a:endParaRPr lang="en-US" sz="1050" dirty="0"/>
          </a:p>
        </p:txBody>
      </p:sp>
      <p:sp>
        <p:nvSpPr>
          <p:cNvPr id="25" name="flecha"/>
          <p:cNvSpPr/>
          <p:nvPr/>
        </p:nvSpPr>
        <p:spPr>
          <a:xfrm>
            <a:off x="1920240" y="3726180"/>
            <a:ext cx="365760" cy="0"/>
          </a:xfrm>
          <a:prstGeom prst="line">
            <a:avLst/>
          </a:prstGeom>
          <a:noFill/>
          <a:ln w="22225">
            <a:solidFill>
              <a:schemeClr val="accent2"/>
            </a:solidFill>
            <a:prstDash val="solid"/>
            <a:tailEnd type="triangle"/>
          </a:ln>
        </p:spPr>
      </p:sp>
      <p:sp>
        <p:nvSpPr>
          <p:cNvPr id="26" name="conector"/>
          <p:cNvSpPr/>
          <p:nvPr/>
        </p:nvSpPr>
        <p:spPr>
          <a:xfrm>
            <a:off x="3154680" y="2446020"/>
            <a:ext cx="0" cy="845820"/>
          </a:xfrm>
          <a:prstGeom prst="line">
            <a:avLst/>
          </a:prstGeom>
          <a:noFill/>
          <a:ln w="22225">
            <a:solidFill>
              <a:schemeClr val="accent2"/>
            </a:solidFill>
            <a:prstDash val="solid"/>
          </a:ln>
        </p:spPr>
      </p:sp>
      <p:sp>
        <p:nvSpPr>
          <p:cNvPr id="27" name="flecha"/>
          <p:cNvSpPr/>
          <p:nvPr/>
        </p:nvSpPr>
        <p:spPr>
          <a:xfrm>
            <a:off x="3154680" y="2446020"/>
            <a:ext cx="1325880" cy="0"/>
          </a:xfrm>
          <a:prstGeom prst="line">
            <a:avLst/>
          </a:prstGeom>
          <a:noFill/>
          <a:ln w="22225">
            <a:solidFill>
              <a:schemeClr val="accent2"/>
            </a:solidFill>
            <a:prstDash val="solid"/>
            <a:tailEnd type="triangle"/>
          </a:ln>
        </p:spPr>
      </p:sp>
      <p:sp>
        <p:nvSpPr>
          <p:cNvPr id="28" name="conector"/>
          <p:cNvSpPr/>
          <p:nvPr/>
        </p:nvSpPr>
        <p:spPr>
          <a:xfrm>
            <a:off x="3154680" y="4160520"/>
            <a:ext cx="0" cy="777240"/>
          </a:xfrm>
          <a:prstGeom prst="line">
            <a:avLst/>
          </a:prstGeom>
          <a:noFill/>
          <a:ln w="22225">
            <a:solidFill>
              <a:schemeClr val="accent2"/>
            </a:solidFill>
            <a:prstDash val="solid"/>
          </a:ln>
        </p:spPr>
      </p:sp>
      <p:sp>
        <p:nvSpPr>
          <p:cNvPr id="29" name="flecha"/>
          <p:cNvSpPr/>
          <p:nvPr/>
        </p:nvSpPr>
        <p:spPr>
          <a:xfrm>
            <a:off x="3154680" y="4937760"/>
            <a:ext cx="1325880" cy="0"/>
          </a:xfrm>
          <a:prstGeom prst="line">
            <a:avLst/>
          </a:prstGeom>
          <a:noFill/>
          <a:ln w="22225">
            <a:solidFill>
              <a:schemeClr val="accent2"/>
            </a:solidFill>
            <a:prstDash val="solid"/>
            <a:tailEnd type="triangle"/>
          </a:ln>
        </p:spPr>
      </p:sp>
      <p:sp>
        <p:nvSpPr>
          <p:cNvPr id="30" name="conector"/>
          <p:cNvSpPr/>
          <p:nvPr/>
        </p:nvSpPr>
        <p:spPr>
          <a:xfrm flipV="1">
            <a:off x="5440680" y="2880360"/>
            <a:ext cx="0" cy="1554480"/>
          </a:xfrm>
          <a:prstGeom prst="line">
            <a:avLst/>
          </a:prstGeom>
          <a:noFill/>
          <a:ln w="22225">
            <a:solidFill>
              <a:schemeClr val="accent2"/>
            </a:solidFill>
            <a:prstDash val="solid"/>
            <a:tailEnd type="triangle"/>
          </a:ln>
        </p:spPr>
      </p:sp>
      <p:sp>
        <p:nvSpPr>
          <p:cNvPr id="31" name="flecha"/>
          <p:cNvSpPr/>
          <p:nvPr/>
        </p:nvSpPr>
        <p:spPr>
          <a:xfrm>
            <a:off x="6400800" y="2446020"/>
            <a:ext cx="365760" cy="0"/>
          </a:xfrm>
          <a:prstGeom prst="line">
            <a:avLst/>
          </a:prstGeom>
          <a:noFill/>
          <a:ln w="22225">
            <a:solidFill>
              <a:schemeClr val="accent2"/>
            </a:solidFill>
            <a:prstDash val="solid"/>
            <a:tailEnd type="triangle"/>
          </a:ln>
        </p:spPr>
      </p:sp>
      <p:sp>
        <p:nvSpPr>
          <p:cNvPr id="32" name="flecha"/>
          <p:cNvSpPr/>
          <p:nvPr/>
        </p:nvSpPr>
        <p:spPr>
          <a:xfrm>
            <a:off x="6400800" y="4594860"/>
            <a:ext cx="365760" cy="0"/>
          </a:xfrm>
          <a:prstGeom prst="line">
            <a:avLst/>
          </a:prstGeom>
          <a:noFill/>
          <a:ln w="22225">
            <a:solidFill>
              <a:schemeClr val="accent2"/>
            </a:solidFill>
            <a:prstDash val="solid"/>
            <a:tailEnd type="triangle"/>
          </a:ln>
        </p:spPr>
      </p:sp>
      <p:sp>
        <p:nvSpPr>
          <p:cNvPr id="33" name="flecha"/>
          <p:cNvSpPr/>
          <p:nvPr/>
        </p:nvSpPr>
        <p:spPr>
          <a:xfrm>
            <a:off x="6400800" y="5234940"/>
            <a:ext cx="365760" cy="0"/>
          </a:xfrm>
          <a:prstGeom prst="line">
            <a:avLst/>
          </a:prstGeom>
          <a:noFill/>
          <a:ln w="22225">
            <a:solidFill>
              <a:schemeClr val="accent2"/>
            </a:solidFill>
            <a:prstDash val="solid"/>
            <a:tailEnd type="triangle"/>
          </a:ln>
        </p:spPr>
      </p:sp>
      <p:sp>
        <p:nvSpPr>
          <p:cNvPr id="34" name="Text 32"/>
          <p:cNvSpPr txBox="1"/>
          <p:nvPr/>
        </p:nvSpPr>
        <p:spPr>
          <a:xfrm>
            <a:off x="548640" y="5715000"/>
            <a:ext cx="7635240" cy="36576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Las dependencias van en un solo sentido: Domain no conoce a nadie.</a:t>
            </a:r>
            <a:endParaRPr lang="en-US" sz="1200" dirty="0"/>
          </a:p>
        </p:txBody>
      </p:sp>
      <p:sp>
        <p:nvSpPr>
          <p:cNvPr id="35" name="card"/>
          <p:cNvSpPr/>
          <p:nvPr/>
        </p:nvSpPr>
        <p:spPr>
          <a:xfrm>
            <a:off x="8503920" y="1783080"/>
            <a:ext cx="3136392" cy="2377440"/>
          </a:xfrm>
          <a:prstGeom prst="roundRect">
            <a:avLst>
              <a:gd name="adj" fmla="val 5385"/>
            </a:avLst>
          </a:prstGeom>
          <a:solidFill>
            <a:schemeClr val="tx2"/>
          </a:solidFill>
          <a:ln/>
        </p:spPr>
      </p:sp>
      <p:sp>
        <p:nvSpPr>
          <p:cNvPr id="36" name="Text 34"/>
          <p:cNvSpPr txBox="1"/>
          <p:nvPr/>
        </p:nvSpPr>
        <p:spPr>
          <a:xfrm>
            <a:off x="8732520" y="1965960"/>
            <a:ext cx="2743200" cy="365760"/>
          </a:xfrm>
          <a:prstGeom prst="rect">
            <a:avLst/>
          </a:prstGeom>
          <a:noFill/>
          <a:ln/>
        </p:spPr>
        <p:txBody>
          <a:bodyPr wrap="square" lIns="0" tIns="0" rIns="0" bIns="0" rtlCol="0" anchor="t"/>
          <a:lstStyle/>
          <a:p>
            <a:pPr indent="0" marL="0">
              <a:buNone/>
            </a:pPr>
            <a:r>
              <a:rPr lang="en-US" sz="2000" dirty="0">
                <a:solidFill>
                  <a:schemeClr val="bg1"/>
                </a:solidFill>
                <a:latin typeface="Bahnschrift SemiBold Condensed" pitchFamily="34" charset="0"/>
                <a:ea typeface="Bahnschrift SemiBold Condensed" pitchFamily="34" charset="-122"/>
                <a:cs typeface="Bahnschrift SemiBold Condensed" pitchFamily="34" charset="-120"/>
              </a:rPr>
              <a:t>¿POR QUÉ ASÍ?</a:t>
            </a:r>
            <a:endParaRPr lang="en-US" sz="2000" dirty="0"/>
          </a:p>
        </p:txBody>
      </p:sp>
      <p:sp>
        <p:nvSpPr>
          <p:cNvPr id="37" name="Text 35"/>
          <p:cNvSpPr txBox="1"/>
          <p:nvPr/>
        </p:nvSpPr>
        <p:spPr>
          <a:xfrm>
            <a:off x="8732520" y="2377440"/>
            <a:ext cx="2743200"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bg1"/>
                </a:solidFill>
                <a:latin typeface="Segoe UI" pitchFamily="34" charset="0"/>
                <a:ea typeface="Segoe UI" pitchFamily="34" charset="-122"/>
                <a:cs typeface="Segoe UI" pitchFamily="34" charset="-120"/>
              </a:rPr>
              <a:t>Un solo despliegue simplifica las transacciones entre reservas, alquileres y pagos</a:t>
            </a:r>
            <a:endParaRPr lang="en-US" sz="1200" dirty="0"/>
          </a:p>
          <a:p>
            <a:pPr marL="342900" indent="-342900">
              <a:spcAft>
                <a:spcPts val="400"/>
              </a:spcAft>
              <a:buSzPct val="100000"/>
              <a:buChar char="•"/>
            </a:pPr>
            <a:r>
              <a:rPr lang="en-US" sz="1200" dirty="0">
                <a:solidFill>
                  <a:schemeClr val="bg1"/>
                </a:solidFill>
                <a:latin typeface="Segoe UI" pitchFamily="34" charset="0"/>
                <a:ea typeface="Segoe UI" pitchFamily="34" charset="-122"/>
                <a:cs typeface="Segoe UI" pitchFamily="34" charset="-120"/>
              </a:rPr>
              <a:t>Servicios solo para operaciones de varias tablas</a:t>
            </a:r>
            <a:endParaRPr lang="en-US" sz="1200" dirty="0"/>
          </a:p>
          <a:p>
            <a:pPr marL="342900" indent="-342900">
              <a:spcAft>
                <a:spcPts val="400"/>
              </a:spcAft>
              <a:buSzPct val="100000"/>
              <a:buChar char="•"/>
            </a:pPr>
            <a:r>
              <a:rPr lang="en-US" sz="1200" dirty="0">
                <a:solidFill>
                  <a:schemeClr val="bg1"/>
                </a:solidFill>
                <a:latin typeface="Segoe UI" pitchFamily="34" charset="0"/>
                <a:ea typeface="Segoe UI" pitchFamily="34" charset="-122"/>
                <a:cs typeface="Segoe UI" pitchFamily="34" charset="-120"/>
              </a:rPr>
              <a:t>Sin repositorios genéricos ni CQRS: el DbContext ya es el repositorio</a:t>
            </a:r>
            <a:endParaRPr lang="en-US" sz="1200" dirty="0"/>
          </a:p>
        </p:txBody>
      </p:sp>
      <p:sp>
        <p:nvSpPr>
          <p:cNvPr id="38" name="hint"/>
          <p:cNvSpPr/>
          <p:nvPr/>
        </p:nvSpPr>
        <p:spPr>
          <a:xfrm>
            <a:off x="8503920" y="4343400"/>
            <a:ext cx="3136392" cy="1783080"/>
          </a:xfrm>
          <a:prstGeom prst="roundRect">
            <a:avLst>
              <a:gd name="adj" fmla="val 7179"/>
            </a:avLst>
          </a:prstGeom>
          <a:solidFill>
            <a:schemeClr val="accent6"/>
          </a:solidFill>
          <a:ln/>
        </p:spPr>
      </p:sp>
      <p:sp>
        <p:nvSpPr>
          <p:cNvPr id="39" name="icono-MdLightbulb"/>
          <p:cNvSpPr/>
          <p:nvPr/>
        </p:nvSpPr>
        <p:spPr>
          <a:xfrm>
            <a:off x="8686800" y="4526280"/>
            <a:ext cx="384048" cy="384048"/>
          </a:xfrm>
          <a:prstGeom prst="roundRect">
            <a:avLst>
              <a:gd name="adj" fmla="val 22000"/>
            </a:avLst>
          </a:prstGeom>
          <a:solidFill>
            <a:schemeClr val="accent1"/>
          </a:solidFill>
          <a:ln/>
        </p:spPr>
      </p:sp>
      <p:pic>
        <p:nvPicPr>
          <p:cNvPr id="40" name="glifo-MdLightbulb" descr="preencoded.png">    </p:cNvPr>
          <p:cNvPicPr>
            <a:picLocks noChangeAspect="1"/>
          </p:cNvPicPr>
          <p:nvPr/>
        </p:nvPicPr>
        <p:blipFill>
          <a:blip r:embed="rId1"/>
          <a:stretch>
            <a:fillRect/>
          </a:stretch>
        </p:blipFill>
        <p:spPr>
          <a:xfrm>
            <a:off x="8763610" y="4603090"/>
            <a:ext cx="230429" cy="230429"/>
          </a:xfrm>
          <a:prstGeom prst="rect">
            <a:avLst/>
          </a:prstGeom>
        </p:spPr>
      </p:pic>
      <p:sp>
        <p:nvSpPr>
          <p:cNvPr id="41" name="Text 38"/>
          <p:cNvSpPr txBox="1"/>
          <p:nvPr/>
        </p:nvSpPr>
        <p:spPr>
          <a:xfrm>
            <a:off x="9217152" y="4498848"/>
            <a:ext cx="224028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CONCEPTO</a:t>
            </a:r>
            <a:endParaRPr lang="en-US" sz="1050" dirty="0"/>
          </a:p>
        </p:txBody>
      </p:sp>
      <p:sp>
        <p:nvSpPr>
          <p:cNvPr id="42" name="Text 39"/>
          <p:cNvSpPr txBox="1"/>
          <p:nvPr/>
        </p:nvSpPr>
        <p:spPr>
          <a:xfrm>
            <a:off x="9217152" y="4800600"/>
            <a:ext cx="2240280" cy="121615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Monolito modular: una sola aplicación desplegable, dividida en proyectos con responsabilidades separadas. Es más simple que microservicios para una agencia pequeña.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TECNOLOGÍAS</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ECOSISTEMA MICROSOFT DE PUNTA A PUNTA</a:t>
            </a:r>
            <a:endParaRPr lang="en-US" sz="3800" dirty="0"/>
          </a:p>
        </p:txBody>
      </p:sp>
      <p:sp>
        <p:nvSpPr>
          <p:cNvPr id="4" name="card"/>
          <p:cNvSpPr/>
          <p:nvPr/>
        </p:nvSpPr>
        <p:spPr>
          <a:xfrm>
            <a:off x="548640" y="1783080"/>
            <a:ext cx="3474720" cy="868680"/>
          </a:xfrm>
          <a:prstGeom prst="roundRect">
            <a:avLst>
              <a:gd name="adj" fmla="val 14737"/>
            </a:avLst>
          </a:prstGeom>
          <a:solidFill>
            <a:schemeClr val="tx2"/>
          </a:solidFill>
          <a:ln/>
        </p:spPr>
      </p:sp>
      <p:sp>
        <p:nvSpPr>
          <p:cNvPr id="5" name="icono-MdCode"/>
          <p:cNvSpPr/>
          <p:nvPr/>
        </p:nvSpPr>
        <p:spPr>
          <a:xfrm>
            <a:off x="731520" y="1965960"/>
            <a:ext cx="502920" cy="502920"/>
          </a:xfrm>
          <a:prstGeom prst="roundRect">
            <a:avLst>
              <a:gd name="adj" fmla="val 22000"/>
            </a:avLst>
          </a:prstGeom>
          <a:solidFill>
            <a:schemeClr val="accent1"/>
          </a:solidFill>
          <a:ln/>
        </p:spPr>
      </p:sp>
      <p:pic>
        <p:nvPicPr>
          <p:cNvPr id="6" name="glifo-MdCode" descr="preencoded.png">    </p:cNvPr>
          <p:cNvPicPr>
            <a:picLocks noChangeAspect="1"/>
          </p:cNvPicPr>
          <p:nvPr/>
        </p:nvPicPr>
        <p:blipFill>
          <a:blip r:embed="rId1"/>
          <a:stretch>
            <a:fillRect/>
          </a:stretch>
        </p:blipFill>
        <p:spPr>
          <a:xfrm>
            <a:off x="832104" y="2066544"/>
            <a:ext cx="301752" cy="301752"/>
          </a:xfrm>
          <a:prstGeom prst="rect">
            <a:avLst/>
          </a:prstGeom>
        </p:spPr>
      </p:pic>
      <p:sp>
        <p:nvSpPr>
          <p:cNvPr id="7" name="Text 4"/>
          <p:cNvSpPr txBox="1"/>
          <p:nvPr/>
        </p:nvSpPr>
        <p:spPr>
          <a:xfrm>
            <a:off x="1417320" y="1920240"/>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C# y .NET 10</a:t>
            </a:r>
            <a:endParaRPr lang="en-US" sz="1350" dirty="0"/>
          </a:p>
        </p:txBody>
      </p:sp>
      <p:sp>
        <p:nvSpPr>
          <p:cNvPr id="8" name="Text 5"/>
          <p:cNvSpPr txBox="1"/>
          <p:nvPr/>
        </p:nvSpPr>
        <p:spPr>
          <a:xfrm>
            <a:off x="1417320" y="2221992"/>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SDK 10.0.400 fijado en global.json</a:t>
            </a:r>
            <a:endParaRPr lang="en-US" sz="1100" dirty="0"/>
          </a:p>
        </p:txBody>
      </p:sp>
      <p:sp>
        <p:nvSpPr>
          <p:cNvPr id="9" name="card"/>
          <p:cNvSpPr/>
          <p:nvPr/>
        </p:nvSpPr>
        <p:spPr>
          <a:xfrm>
            <a:off x="4206240" y="1783080"/>
            <a:ext cx="3474720" cy="868680"/>
          </a:xfrm>
          <a:prstGeom prst="roundRect">
            <a:avLst>
              <a:gd name="adj" fmla="val 14737"/>
            </a:avLst>
          </a:prstGeom>
          <a:solidFill>
            <a:schemeClr val="tx2"/>
          </a:solidFill>
          <a:ln/>
        </p:spPr>
      </p:sp>
      <p:sp>
        <p:nvSpPr>
          <p:cNvPr id="10" name="icono-MdWeb"/>
          <p:cNvSpPr/>
          <p:nvPr/>
        </p:nvSpPr>
        <p:spPr>
          <a:xfrm>
            <a:off x="4389120" y="1965960"/>
            <a:ext cx="502920" cy="502920"/>
          </a:xfrm>
          <a:prstGeom prst="roundRect">
            <a:avLst>
              <a:gd name="adj" fmla="val 22000"/>
            </a:avLst>
          </a:prstGeom>
          <a:solidFill>
            <a:schemeClr val="accent1"/>
          </a:solidFill>
          <a:ln/>
        </p:spPr>
      </p:sp>
      <p:pic>
        <p:nvPicPr>
          <p:cNvPr id="11" name="glifo-MdWeb" descr="preencoded.png">    </p:cNvPr>
          <p:cNvPicPr>
            <a:picLocks noChangeAspect="1"/>
          </p:cNvPicPr>
          <p:nvPr/>
        </p:nvPicPr>
        <p:blipFill>
          <a:blip r:embed="rId2"/>
          <a:stretch>
            <a:fillRect/>
          </a:stretch>
        </p:blipFill>
        <p:spPr>
          <a:xfrm>
            <a:off x="4489704" y="2066544"/>
            <a:ext cx="301752" cy="301752"/>
          </a:xfrm>
          <a:prstGeom prst="rect">
            <a:avLst/>
          </a:prstGeom>
        </p:spPr>
      </p:pic>
      <p:sp>
        <p:nvSpPr>
          <p:cNvPr id="12" name="Text 8"/>
          <p:cNvSpPr txBox="1"/>
          <p:nvPr/>
        </p:nvSpPr>
        <p:spPr>
          <a:xfrm>
            <a:off x="5074920" y="1920240"/>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ASP.NET Core MVC</a:t>
            </a:r>
            <a:endParaRPr lang="en-US" sz="1350" dirty="0"/>
          </a:p>
        </p:txBody>
      </p:sp>
      <p:sp>
        <p:nvSpPr>
          <p:cNvPr id="13" name="Text 9"/>
          <p:cNvSpPr txBox="1"/>
          <p:nvPr/>
        </p:nvSpPr>
        <p:spPr>
          <a:xfrm>
            <a:off x="5074920" y="2221992"/>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Frontend Razor y backend en un proyecto</a:t>
            </a:r>
            <a:endParaRPr lang="en-US" sz="1100" dirty="0"/>
          </a:p>
        </p:txBody>
      </p:sp>
      <p:sp>
        <p:nvSpPr>
          <p:cNvPr id="14" name="card"/>
          <p:cNvSpPr/>
          <p:nvPr/>
        </p:nvSpPr>
        <p:spPr>
          <a:xfrm>
            <a:off x="548640" y="2807208"/>
            <a:ext cx="3474720" cy="868680"/>
          </a:xfrm>
          <a:prstGeom prst="roundRect">
            <a:avLst>
              <a:gd name="adj" fmla="val 14737"/>
            </a:avLst>
          </a:prstGeom>
          <a:solidFill>
            <a:schemeClr val="tx2"/>
          </a:solidFill>
          <a:ln/>
        </p:spPr>
      </p:sp>
      <p:sp>
        <p:nvSpPr>
          <p:cNvPr id="15" name="icono-MdStorage"/>
          <p:cNvSpPr/>
          <p:nvPr/>
        </p:nvSpPr>
        <p:spPr>
          <a:xfrm>
            <a:off x="731520" y="2990088"/>
            <a:ext cx="502920" cy="502920"/>
          </a:xfrm>
          <a:prstGeom prst="roundRect">
            <a:avLst>
              <a:gd name="adj" fmla="val 22000"/>
            </a:avLst>
          </a:prstGeom>
          <a:solidFill>
            <a:schemeClr val="accent1"/>
          </a:solidFill>
          <a:ln/>
        </p:spPr>
      </p:sp>
      <p:pic>
        <p:nvPicPr>
          <p:cNvPr id="16" name="glifo-MdStorage" descr="preencoded.png">    </p:cNvPr>
          <p:cNvPicPr>
            <a:picLocks noChangeAspect="1"/>
          </p:cNvPicPr>
          <p:nvPr/>
        </p:nvPicPr>
        <p:blipFill>
          <a:blip r:embed="rId3"/>
          <a:stretch>
            <a:fillRect/>
          </a:stretch>
        </p:blipFill>
        <p:spPr>
          <a:xfrm>
            <a:off x="832104" y="3090672"/>
            <a:ext cx="301752" cy="301752"/>
          </a:xfrm>
          <a:prstGeom prst="rect">
            <a:avLst/>
          </a:prstGeom>
        </p:spPr>
      </p:pic>
      <p:sp>
        <p:nvSpPr>
          <p:cNvPr id="17" name="Text 12"/>
          <p:cNvSpPr txBox="1"/>
          <p:nvPr/>
        </p:nvSpPr>
        <p:spPr>
          <a:xfrm>
            <a:off x="1417320" y="2944368"/>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Entity Framework Core 10</a:t>
            </a:r>
            <a:endParaRPr lang="en-US" sz="1350" dirty="0"/>
          </a:p>
        </p:txBody>
      </p:sp>
      <p:sp>
        <p:nvSpPr>
          <p:cNvPr id="18" name="Text 13"/>
          <p:cNvSpPr txBox="1"/>
          <p:nvPr/>
        </p:nvSpPr>
        <p:spPr>
          <a:xfrm>
            <a:off x="1417320" y="3246120"/>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ORM, migraciones y LINQ</a:t>
            </a:r>
            <a:endParaRPr lang="en-US" sz="1100" dirty="0"/>
          </a:p>
        </p:txBody>
      </p:sp>
      <p:sp>
        <p:nvSpPr>
          <p:cNvPr id="19" name="card"/>
          <p:cNvSpPr/>
          <p:nvPr/>
        </p:nvSpPr>
        <p:spPr>
          <a:xfrm>
            <a:off x="4206240" y="2807208"/>
            <a:ext cx="3474720" cy="868680"/>
          </a:xfrm>
          <a:prstGeom prst="roundRect">
            <a:avLst>
              <a:gd name="adj" fmla="val 14737"/>
            </a:avLst>
          </a:prstGeom>
          <a:solidFill>
            <a:schemeClr val="tx2"/>
          </a:solidFill>
          <a:ln/>
        </p:spPr>
      </p:sp>
      <p:sp>
        <p:nvSpPr>
          <p:cNvPr id="20" name="icono-MdVerifiedUser"/>
          <p:cNvSpPr/>
          <p:nvPr/>
        </p:nvSpPr>
        <p:spPr>
          <a:xfrm>
            <a:off x="4389120" y="2990088"/>
            <a:ext cx="502920" cy="502920"/>
          </a:xfrm>
          <a:prstGeom prst="roundRect">
            <a:avLst>
              <a:gd name="adj" fmla="val 22000"/>
            </a:avLst>
          </a:prstGeom>
          <a:solidFill>
            <a:schemeClr val="accent1"/>
          </a:solidFill>
          <a:ln/>
        </p:spPr>
      </p:sp>
      <p:pic>
        <p:nvPicPr>
          <p:cNvPr id="21" name="glifo-MdVerifiedUser" descr="preencoded.png">    </p:cNvPr>
          <p:cNvPicPr>
            <a:picLocks noChangeAspect="1"/>
          </p:cNvPicPr>
          <p:nvPr/>
        </p:nvPicPr>
        <p:blipFill>
          <a:blip r:embed="rId4"/>
          <a:stretch>
            <a:fillRect/>
          </a:stretch>
        </p:blipFill>
        <p:spPr>
          <a:xfrm>
            <a:off x="4489704" y="3090672"/>
            <a:ext cx="301752" cy="301752"/>
          </a:xfrm>
          <a:prstGeom prst="rect">
            <a:avLst/>
          </a:prstGeom>
        </p:spPr>
      </p:pic>
      <p:sp>
        <p:nvSpPr>
          <p:cNvPr id="22" name="Text 16"/>
          <p:cNvSpPr txBox="1"/>
          <p:nvPr/>
        </p:nvSpPr>
        <p:spPr>
          <a:xfrm>
            <a:off x="5074920" y="2944368"/>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ASP.NET Core Identity</a:t>
            </a:r>
            <a:endParaRPr lang="en-US" sz="1350" dirty="0"/>
          </a:p>
        </p:txBody>
      </p:sp>
      <p:sp>
        <p:nvSpPr>
          <p:cNvPr id="23" name="Text 17"/>
          <p:cNvSpPr txBox="1"/>
          <p:nvPr/>
        </p:nvSpPr>
        <p:spPr>
          <a:xfrm>
            <a:off x="5074920" y="3246120"/>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Cuentas, contraseñas con hash y roles</a:t>
            </a:r>
            <a:endParaRPr lang="en-US" sz="1100" dirty="0"/>
          </a:p>
        </p:txBody>
      </p:sp>
      <p:sp>
        <p:nvSpPr>
          <p:cNvPr id="24" name="card"/>
          <p:cNvSpPr/>
          <p:nvPr/>
        </p:nvSpPr>
        <p:spPr>
          <a:xfrm>
            <a:off x="548640" y="3831336"/>
            <a:ext cx="3474720" cy="868680"/>
          </a:xfrm>
          <a:prstGeom prst="roundRect">
            <a:avLst>
              <a:gd name="adj" fmla="val 14737"/>
            </a:avLst>
          </a:prstGeom>
          <a:solidFill>
            <a:schemeClr val="tx2"/>
          </a:solidFill>
          <a:ln/>
        </p:spPr>
      </p:sp>
      <p:sp>
        <p:nvSpPr>
          <p:cNvPr id="25" name="icono-MdDns"/>
          <p:cNvSpPr/>
          <p:nvPr/>
        </p:nvSpPr>
        <p:spPr>
          <a:xfrm>
            <a:off x="731520" y="4014216"/>
            <a:ext cx="502920" cy="502920"/>
          </a:xfrm>
          <a:prstGeom prst="roundRect">
            <a:avLst>
              <a:gd name="adj" fmla="val 22000"/>
            </a:avLst>
          </a:prstGeom>
          <a:solidFill>
            <a:schemeClr val="accent1"/>
          </a:solidFill>
          <a:ln/>
        </p:spPr>
      </p:sp>
      <p:pic>
        <p:nvPicPr>
          <p:cNvPr id="26" name="glifo-MdDns" descr="preencoded.png">    </p:cNvPr>
          <p:cNvPicPr>
            <a:picLocks noChangeAspect="1"/>
          </p:cNvPicPr>
          <p:nvPr/>
        </p:nvPicPr>
        <p:blipFill>
          <a:blip r:embed="rId5"/>
          <a:stretch>
            <a:fillRect/>
          </a:stretch>
        </p:blipFill>
        <p:spPr>
          <a:xfrm>
            <a:off x="832104" y="4114800"/>
            <a:ext cx="301752" cy="301752"/>
          </a:xfrm>
          <a:prstGeom prst="rect">
            <a:avLst/>
          </a:prstGeom>
        </p:spPr>
      </p:pic>
      <p:sp>
        <p:nvSpPr>
          <p:cNvPr id="27" name="Text 20"/>
          <p:cNvSpPr txBox="1"/>
          <p:nvPr/>
        </p:nvSpPr>
        <p:spPr>
          <a:xfrm>
            <a:off x="1417320" y="3968496"/>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SQL Server</a:t>
            </a:r>
            <a:endParaRPr lang="en-US" sz="1350" dirty="0"/>
          </a:p>
        </p:txBody>
      </p:sp>
      <p:sp>
        <p:nvSpPr>
          <p:cNvPr id="28" name="Text 21"/>
          <p:cNvSpPr txBox="1"/>
          <p:nvPr/>
        </p:nvSpPr>
        <p:spPr>
          <a:xfrm>
            <a:off x="1417320" y="4270248"/>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Express o LocalDB local, 2025 en Docker</a:t>
            </a:r>
            <a:endParaRPr lang="en-US" sz="1100" dirty="0"/>
          </a:p>
        </p:txBody>
      </p:sp>
      <p:sp>
        <p:nvSpPr>
          <p:cNvPr id="29" name="card"/>
          <p:cNvSpPr/>
          <p:nvPr/>
        </p:nvSpPr>
        <p:spPr>
          <a:xfrm>
            <a:off x="4206240" y="3831336"/>
            <a:ext cx="3474720" cy="868680"/>
          </a:xfrm>
          <a:prstGeom prst="roundRect">
            <a:avLst>
              <a:gd name="adj" fmla="val 14737"/>
            </a:avLst>
          </a:prstGeom>
          <a:solidFill>
            <a:schemeClr val="tx2"/>
          </a:solidFill>
          <a:ln/>
        </p:spPr>
      </p:sp>
      <p:sp>
        <p:nvSpPr>
          <p:cNvPr id="30" name="icono-MdAutoAwesome"/>
          <p:cNvSpPr/>
          <p:nvPr/>
        </p:nvSpPr>
        <p:spPr>
          <a:xfrm>
            <a:off x="4389120" y="4014216"/>
            <a:ext cx="502920" cy="502920"/>
          </a:xfrm>
          <a:prstGeom prst="roundRect">
            <a:avLst>
              <a:gd name="adj" fmla="val 22000"/>
            </a:avLst>
          </a:prstGeom>
          <a:solidFill>
            <a:schemeClr val="accent1"/>
          </a:solidFill>
          <a:ln/>
        </p:spPr>
      </p:sp>
      <p:pic>
        <p:nvPicPr>
          <p:cNvPr id="31" name="glifo-MdAutoAwesome" descr="preencoded.png">    </p:cNvPr>
          <p:cNvPicPr>
            <a:picLocks noChangeAspect="1"/>
          </p:cNvPicPr>
          <p:nvPr/>
        </p:nvPicPr>
        <p:blipFill>
          <a:blip r:embed="rId6"/>
          <a:stretch>
            <a:fillRect/>
          </a:stretch>
        </p:blipFill>
        <p:spPr>
          <a:xfrm>
            <a:off x="4489704" y="4114800"/>
            <a:ext cx="301752" cy="301752"/>
          </a:xfrm>
          <a:prstGeom prst="rect">
            <a:avLst/>
          </a:prstGeom>
        </p:spPr>
      </p:pic>
      <p:sp>
        <p:nvSpPr>
          <p:cNvPr id="32" name="Text 24"/>
          <p:cNvSpPr txBox="1"/>
          <p:nvPr/>
        </p:nvSpPr>
        <p:spPr>
          <a:xfrm>
            <a:off x="5074920" y="3968496"/>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OpenAI gpt-4.1-mini</a:t>
            </a:r>
            <a:endParaRPr lang="en-US" sz="1350" dirty="0"/>
          </a:p>
        </p:txBody>
      </p:sp>
      <p:sp>
        <p:nvSpPr>
          <p:cNvPr id="33" name="Text 25"/>
          <p:cNvSpPr txBox="1"/>
          <p:nvPr/>
        </p:nvSpPr>
        <p:spPr>
          <a:xfrm>
            <a:off x="5074920" y="4270248"/>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API Responses con salida JSON estricta</a:t>
            </a:r>
            <a:endParaRPr lang="en-US" sz="1100" dirty="0"/>
          </a:p>
        </p:txBody>
      </p:sp>
      <p:sp>
        <p:nvSpPr>
          <p:cNvPr id="34" name="card"/>
          <p:cNvSpPr/>
          <p:nvPr/>
        </p:nvSpPr>
        <p:spPr>
          <a:xfrm>
            <a:off x="548640" y="4855464"/>
            <a:ext cx="3474720" cy="868680"/>
          </a:xfrm>
          <a:prstGeom prst="roundRect">
            <a:avLst>
              <a:gd name="adj" fmla="val 14737"/>
            </a:avLst>
          </a:prstGeom>
          <a:solidFill>
            <a:schemeClr val="tx2"/>
          </a:solidFill>
          <a:ln/>
        </p:spPr>
      </p:sp>
      <p:sp>
        <p:nvSpPr>
          <p:cNvPr id="35" name="icono-MdInventory2"/>
          <p:cNvSpPr/>
          <p:nvPr/>
        </p:nvSpPr>
        <p:spPr>
          <a:xfrm>
            <a:off x="731520" y="5038344"/>
            <a:ext cx="502920" cy="502920"/>
          </a:xfrm>
          <a:prstGeom prst="roundRect">
            <a:avLst>
              <a:gd name="adj" fmla="val 22000"/>
            </a:avLst>
          </a:prstGeom>
          <a:solidFill>
            <a:schemeClr val="accent1"/>
          </a:solidFill>
          <a:ln/>
        </p:spPr>
      </p:sp>
      <p:pic>
        <p:nvPicPr>
          <p:cNvPr id="36" name="glifo-MdInventory2" descr="preencoded.png">    </p:cNvPr>
          <p:cNvPicPr>
            <a:picLocks noChangeAspect="1"/>
          </p:cNvPicPr>
          <p:nvPr/>
        </p:nvPicPr>
        <p:blipFill>
          <a:blip r:embed="rId7"/>
          <a:stretch>
            <a:fillRect/>
          </a:stretch>
        </p:blipFill>
        <p:spPr>
          <a:xfrm>
            <a:off x="832104" y="5138928"/>
            <a:ext cx="301752" cy="301752"/>
          </a:xfrm>
          <a:prstGeom prst="rect">
            <a:avLst/>
          </a:prstGeom>
        </p:spPr>
      </p:pic>
      <p:sp>
        <p:nvSpPr>
          <p:cNvPr id="37" name="Text 28"/>
          <p:cNvSpPr txBox="1"/>
          <p:nvPr/>
        </p:nvSpPr>
        <p:spPr>
          <a:xfrm>
            <a:off x="1417320" y="4992624"/>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Docker Compose</a:t>
            </a:r>
            <a:endParaRPr lang="en-US" sz="1350" dirty="0"/>
          </a:p>
        </p:txBody>
      </p:sp>
      <p:sp>
        <p:nvSpPr>
          <p:cNvPr id="38" name="Text 29"/>
          <p:cNvSpPr txBox="1"/>
          <p:nvPr/>
        </p:nvSpPr>
        <p:spPr>
          <a:xfrm>
            <a:off x="1417320" y="5294376"/>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Web, base de datos y servicio de preparación</a:t>
            </a:r>
            <a:endParaRPr lang="en-US" sz="1100" dirty="0"/>
          </a:p>
        </p:txBody>
      </p:sp>
      <p:sp>
        <p:nvSpPr>
          <p:cNvPr id="39" name="card"/>
          <p:cNvSpPr/>
          <p:nvPr/>
        </p:nvSpPr>
        <p:spPr>
          <a:xfrm>
            <a:off x="4206240" y="4855464"/>
            <a:ext cx="3474720" cy="868680"/>
          </a:xfrm>
          <a:prstGeom prst="roundRect">
            <a:avLst>
              <a:gd name="adj" fmla="val 14737"/>
            </a:avLst>
          </a:prstGeom>
          <a:solidFill>
            <a:schemeClr val="tx2"/>
          </a:solidFill>
          <a:ln/>
        </p:spPr>
      </p:sp>
      <p:sp>
        <p:nvSpPr>
          <p:cNvPr id="40" name="icono-MdCloud"/>
          <p:cNvSpPr/>
          <p:nvPr/>
        </p:nvSpPr>
        <p:spPr>
          <a:xfrm>
            <a:off x="4389120" y="5038344"/>
            <a:ext cx="502920" cy="502920"/>
          </a:xfrm>
          <a:prstGeom prst="roundRect">
            <a:avLst>
              <a:gd name="adj" fmla="val 22000"/>
            </a:avLst>
          </a:prstGeom>
          <a:solidFill>
            <a:schemeClr val="accent1"/>
          </a:solidFill>
          <a:ln/>
        </p:spPr>
      </p:sp>
      <p:pic>
        <p:nvPicPr>
          <p:cNvPr id="41" name="glifo-MdCloud" descr="preencoded.png">    </p:cNvPr>
          <p:cNvPicPr>
            <a:picLocks noChangeAspect="1"/>
          </p:cNvPicPr>
          <p:nvPr/>
        </p:nvPicPr>
        <p:blipFill>
          <a:blip r:embed="rId8"/>
          <a:stretch>
            <a:fillRect/>
          </a:stretch>
        </p:blipFill>
        <p:spPr>
          <a:xfrm>
            <a:off x="4489704" y="5138928"/>
            <a:ext cx="301752" cy="301752"/>
          </a:xfrm>
          <a:prstGeom prst="rect">
            <a:avLst/>
          </a:prstGeom>
        </p:spPr>
      </p:pic>
      <p:sp>
        <p:nvSpPr>
          <p:cNvPr id="42" name="Text 32"/>
          <p:cNvSpPr txBox="1"/>
          <p:nvPr/>
        </p:nvSpPr>
        <p:spPr>
          <a:xfrm>
            <a:off x="5074920" y="4992624"/>
            <a:ext cx="2514600" cy="292608"/>
          </a:xfrm>
          <a:prstGeom prst="rect">
            <a:avLst/>
          </a:prstGeom>
          <a:noFill/>
          <a:ln/>
        </p:spPr>
        <p:txBody>
          <a:bodyPr wrap="square" lIns="0" tIns="0" rIns="0" bIns="0" rtlCol="0" anchor="t"/>
          <a:lstStyle/>
          <a:p>
            <a:pPr indent="0" marL="0">
              <a:buNone/>
            </a:pPr>
            <a:r>
              <a:rPr lang="en-US" sz="1350" b="1" dirty="0">
                <a:solidFill>
                  <a:schemeClr val="bg1"/>
                </a:solidFill>
                <a:latin typeface="Segoe UI" pitchFamily="34" charset="0"/>
                <a:ea typeface="Segoe UI" pitchFamily="34" charset="-122"/>
                <a:cs typeface="Segoe UI" pitchFamily="34" charset="-120"/>
              </a:rPr>
              <a:t>Microsoft Azure</a:t>
            </a:r>
            <a:endParaRPr lang="en-US" sz="1350" dirty="0"/>
          </a:p>
        </p:txBody>
      </p:sp>
      <p:sp>
        <p:nvSpPr>
          <p:cNvPr id="43" name="Text 33"/>
          <p:cNvSpPr txBox="1"/>
          <p:nvPr/>
        </p:nvSpPr>
        <p:spPr>
          <a:xfrm>
            <a:off x="5074920" y="5294376"/>
            <a:ext cx="2514600" cy="36576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Propuesta de despliegue en la nube</a:t>
            </a:r>
            <a:endParaRPr lang="en-US" sz="1100" dirty="0"/>
          </a:p>
        </p:txBody>
      </p:sp>
      <p:sp>
        <p:nvSpPr>
          <p:cNvPr id="44" name="hint"/>
          <p:cNvSpPr/>
          <p:nvPr/>
        </p:nvSpPr>
        <p:spPr>
          <a:xfrm>
            <a:off x="8001000" y="1783080"/>
            <a:ext cx="3639312" cy="2057400"/>
          </a:xfrm>
          <a:prstGeom prst="roundRect">
            <a:avLst>
              <a:gd name="adj" fmla="val 6222"/>
            </a:avLst>
          </a:prstGeom>
          <a:solidFill>
            <a:schemeClr val="accent6"/>
          </a:solidFill>
          <a:ln/>
        </p:spPr>
      </p:sp>
      <p:sp>
        <p:nvSpPr>
          <p:cNvPr id="45" name="icono-MdLightbulb"/>
          <p:cNvSpPr/>
          <p:nvPr/>
        </p:nvSpPr>
        <p:spPr>
          <a:xfrm>
            <a:off x="8183880" y="1965960"/>
            <a:ext cx="384048" cy="384048"/>
          </a:xfrm>
          <a:prstGeom prst="roundRect">
            <a:avLst>
              <a:gd name="adj" fmla="val 22000"/>
            </a:avLst>
          </a:prstGeom>
          <a:solidFill>
            <a:schemeClr val="accent1"/>
          </a:solidFill>
          <a:ln/>
        </p:spPr>
      </p:sp>
      <p:pic>
        <p:nvPicPr>
          <p:cNvPr id="46" name="glifo-MdLightbulb" descr="preencoded.png">    </p:cNvPr>
          <p:cNvPicPr>
            <a:picLocks noChangeAspect="1"/>
          </p:cNvPicPr>
          <p:nvPr/>
        </p:nvPicPr>
        <p:blipFill>
          <a:blip r:embed="rId9"/>
          <a:stretch>
            <a:fillRect/>
          </a:stretch>
        </p:blipFill>
        <p:spPr>
          <a:xfrm>
            <a:off x="8260690" y="2042770"/>
            <a:ext cx="230429" cy="230429"/>
          </a:xfrm>
          <a:prstGeom prst="rect">
            <a:avLst/>
          </a:prstGeom>
        </p:spPr>
      </p:pic>
      <p:sp>
        <p:nvSpPr>
          <p:cNvPr id="47" name="Text 36"/>
          <p:cNvSpPr txBox="1"/>
          <p:nvPr/>
        </p:nvSpPr>
        <p:spPr>
          <a:xfrm>
            <a:off x="8714232" y="1938528"/>
            <a:ext cx="274320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ORM</a:t>
            </a:r>
            <a:endParaRPr lang="en-US" sz="1050" dirty="0"/>
          </a:p>
        </p:txBody>
      </p:sp>
      <p:sp>
        <p:nvSpPr>
          <p:cNvPr id="48" name="Text 37"/>
          <p:cNvSpPr txBox="1"/>
          <p:nvPr/>
        </p:nvSpPr>
        <p:spPr>
          <a:xfrm>
            <a:off x="8714232" y="2240280"/>
            <a:ext cx="2743200" cy="149047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Object-Relational Mapping. Entity Framework Core traduce clases de C# en tablas y consultas LINQ en SQL, así el código no escribe SQL a mano.</a:t>
            </a:r>
            <a:endParaRPr lang="en-US" sz="1200" dirty="0"/>
          </a:p>
        </p:txBody>
      </p:sp>
      <p:sp>
        <p:nvSpPr>
          <p:cNvPr id="49" name="hint"/>
          <p:cNvSpPr/>
          <p:nvPr/>
        </p:nvSpPr>
        <p:spPr>
          <a:xfrm>
            <a:off x="8001000" y="4023360"/>
            <a:ext cx="3639312" cy="2103120"/>
          </a:xfrm>
          <a:prstGeom prst="roundRect">
            <a:avLst>
              <a:gd name="adj" fmla="val 6087"/>
            </a:avLst>
          </a:prstGeom>
          <a:solidFill>
            <a:schemeClr val="accent6"/>
          </a:solidFill>
          <a:ln/>
        </p:spPr>
      </p:sp>
      <p:sp>
        <p:nvSpPr>
          <p:cNvPr id="50" name="icono-MdLightbulb"/>
          <p:cNvSpPr/>
          <p:nvPr/>
        </p:nvSpPr>
        <p:spPr>
          <a:xfrm>
            <a:off x="8183880" y="4206240"/>
            <a:ext cx="384048" cy="384048"/>
          </a:xfrm>
          <a:prstGeom prst="roundRect">
            <a:avLst>
              <a:gd name="adj" fmla="val 22000"/>
            </a:avLst>
          </a:prstGeom>
          <a:solidFill>
            <a:schemeClr val="accent1"/>
          </a:solidFill>
          <a:ln/>
        </p:spPr>
      </p:sp>
      <p:pic>
        <p:nvPicPr>
          <p:cNvPr id="51" name="glifo-MdLightbulb" descr="preencoded.png">    </p:cNvPr>
          <p:cNvPicPr>
            <a:picLocks noChangeAspect="1"/>
          </p:cNvPicPr>
          <p:nvPr/>
        </p:nvPicPr>
        <p:blipFill>
          <a:blip r:embed="rId10"/>
          <a:stretch>
            <a:fillRect/>
          </a:stretch>
        </p:blipFill>
        <p:spPr>
          <a:xfrm>
            <a:off x="8260690" y="4283050"/>
            <a:ext cx="230429" cy="230429"/>
          </a:xfrm>
          <a:prstGeom prst="rect">
            <a:avLst/>
          </a:prstGeom>
        </p:spPr>
      </p:pic>
      <p:sp>
        <p:nvSpPr>
          <p:cNvPr id="52" name="Text 40"/>
          <p:cNvSpPr txBox="1"/>
          <p:nvPr/>
        </p:nvSpPr>
        <p:spPr>
          <a:xfrm>
            <a:off x="8714232" y="4178808"/>
            <a:ext cx="274320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MIGRACIONES</a:t>
            </a:r>
            <a:endParaRPr lang="en-US" sz="1050" dirty="0"/>
          </a:p>
        </p:txBody>
      </p:sp>
      <p:sp>
        <p:nvSpPr>
          <p:cNvPr id="53" name="Text 41"/>
          <p:cNvSpPr txBox="1"/>
          <p:nvPr/>
        </p:nvSpPr>
        <p:spPr>
          <a:xfrm>
            <a:off x="8714232" y="4480560"/>
            <a:ext cx="2743200" cy="153619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Archivos que describen cada cambio del esquema. Hay cinco; se aplican con el comando --migrate y la web nunca modifica la base al arrancar.</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BASE DE DATOS</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MODELO DE DATOS EN SQL SERVER</a:t>
            </a:r>
            <a:endParaRPr lang="en-US" sz="3800" dirty="0"/>
          </a:p>
        </p:txBody>
      </p:sp>
      <p:sp>
        <p:nvSpPr>
          <p:cNvPr id="4" name="marco-er"/>
          <p:cNvSpPr/>
          <p:nvPr/>
        </p:nvSpPr>
        <p:spPr>
          <a:xfrm>
            <a:off x="548640" y="1783080"/>
            <a:ext cx="3749040" cy="4389120"/>
          </a:xfrm>
          <a:prstGeom prst="roundRect">
            <a:avLst>
              <a:gd name="adj" fmla="val 3415"/>
            </a:avLst>
          </a:prstGeom>
          <a:solidFill>
            <a:schemeClr val="tx2"/>
          </a:solidFill>
          <a:ln/>
        </p:spPr>
      </p:sp>
      <p:pic>
        <p:nvPicPr>
          <p:cNvPr id="5" name="diagrama-er" descr="C:\Users\caleb\AppData\Local\Temp\claude\C--Users-caleb-Documents-Estudios-Universidad-TECNICO-CICLO02-DSP-DSP-Teoria-DSP-Proyecto-Catedra--claude-worktrees-update-project-documentation-92954b\d57d161d-a786-4869-8058-97cb6ca88192\scratchpad\deck\img\er.png">    </p:cNvPr>
          <p:cNvPicPr>
            <a:picLocks noChangeAspect="1"/>
          </p:cNvPicPr>
          <p:nvPr/>
        </p:nvPicPr>
        <p:blipFill>
          <a:blip r:embed="rId1"/>
          <a:srcRect l="0" r="0" t="0" b="0"/>
          <a:stretch/>
        </p:blipFill>
        <p:spPr>
          <a:xfrm>
            <a:off x="713232" y="1874520"/>
            <a:ext cx="3419856" cy="4206240"/>
          </a:xfrm>
          <a:prstGeom prst="rect">
            <a:avLst/>
          </a:prstGeom>
        </p:spPr>
      </p:pic>
      <p:sp>
        <p:nvSpPr>
          <p:cNvPr id="6" name="card"/>
          <p:cNvSpPr/>
          <p:nvPr/>
        </p:nvSpPr>
        <p:spPr>
          <a:xfrm>
            <a:off x="4572000" y="1783080"/>
            <a:ext cx="2212848" cy="1234440"/>
          </a:xfrm>
          <a:prstGeom prst="roundRect">
            <a:avLst>
              <a:gd name="adj" fmla="val 10370"/>
            </a:avLst>
          </a:prstGeom>
          <a:solidFill>
            <a:schemeClr val="tx2"/>
          </a:solidFill>
          <a:ln/>
        </p:spPr>
      </p:sp>
      <p:sp>
        <p:nvSpPr>
          <p:cNvPr id="7" name="Text 4"/>
          <p:cNvSpPr txBox="1"/>
          <p:nvPr/>
        </p:nvSpPr>
        <p:spPr>
          <a:xfrm>
            <a:off x="4800600" y="1828800"/>
            <a:ext cx="1828800" cy="731520"/>
          </a:xfrm>
          <a:prstGeom prst="rect">
            <a:avLst/>
          </a:prstGeom>
          <a:noFill/>
          <a:ln/>
        </p:spPr>
        <p:txBody>
          <a:bodyPr wrap="square" lIns="0" tIns="0" rIns="0" bIns="0" rtlCol="0" anchor="t"/>
          <a:lstStyle/>
          <a:p>
            <a:pPr indent="0" marL="0">
              <a:buNone/>
            </a:pPr>
            <a:r>
              <a:rPr lang="en-US" sz="4600" dirty="0">
                <a:solidFill>
                  <a:schemeClr val="accent2"/>
                </a:solidFill>
                <a:latin typeface="Bahnschrift SemiBold Condensed" pitchFamily="34" charset="0"/>
                <a:ea typeface="Bahnschrift SemiBold Condensed" pitchFamily="34" charset="-122"/>
                <a:cs typeface="Bahnschrift SemiBold Condensed" pitchFamily="34" charset="-120"/>
              </a:rPr>
              <a:t>11</a:t>
            </a:r>
            <a:endParaRPr lang="en-US" sz="4600" dirty="0"/>
          </a:p>
        </p:txBody>
      </p:sp>
      <p:sp>
        <p:nvSpPr>
          <p:cNvPr id="8" name="Text 5"/>
          <p:cNvSpPr txBox="1"/>
          <p:nvPr/>
        </p:nvSpPr>
        <p:spPr>
          <a:xfrm>
            <a:off x="4800600" y="2560320"/>
            <a:ext cx="1828800" cy="32004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tablas de negocio</a:t>
            </a:r>
            <a:endParaRPr lang="en-US" sz="1200" dirty="0"/>
          </a:p>
        </p:txBody>
      </p:sp>
      <p:sp>
        <p:nvSpPr>
          <p:cNvPr id="9" name="card"/>
          <p:cNvSpPr/>
          <p:nvPr/>
        </p:nvSpPr>
        <p:spPr>
          <a:xfrm>
            <a:off x="6967728" y="1783080"/>
            <a:ext cx="2212848" cy="1234440"/>
          </a:xfrm>
          <a:prstGeom prst="roundRect">
            <a:avLst>
              <a:gd name="adj" fmla="val 10370"/>
            </a:avLst>
          </a:prstGeom>
          <a:solidFill>
            <a:schemeClr val="tx2"/>
          </a:solidFill>
          <a:ln/>
        </p:spPr>
      </p:sp>
      <p:sp>
        <p:nvSpPr>
          <p:cNvPr id="10" name="Text 7"/>
          <p:cNvSpPr txBox="1"/>
          <p:nvPr/>
        </p:nvSpPr>
        <p:spPr>
          <a:xfrm>
            <a:off x="7196328" y="1828800"/>
            <a:ext cx="1828800" cy="731520"/>
          </a:xfrm>
          <a:prstGeom prst="rect">
            <a:avLst/>
          </a:prstGeom>
          <a:noFill/>
          <a:ln/>
        </p:spPr>
        <p:txBody>
          <a:bodyPr wrap="square" lIns="0" tIns="0" rIns="0" bIns="0" rtlCol="0" anchor="t"/>
          <a:lstStyle/>
          <a:p>
            <a:pPr indent="0" marL="0">
              <a:buNone/>
            </a:pPr>
            <a:r>
              <a:rPr lang="en-US" sz="4600" dirty="0">
                <a:solidFill>
                  <a:schemeClr val="accent2"/>
                </a:solidFill>
                <a:latin typeface="Bahnschrift SemiBold Condensed" pitchFamily="34" charset="0"/>
                <a:ea typeface="Bahnschrift SemiBold Condensed" pitchFamily="34" charset="-122"/>
                <a:cs typeface="Bahnschrift SemiBold Condensed" pitchFamily="34" charset="-120"/>
              </a:rPr>
              <a:t>7</a:t>
            </a:r>
            <a:endParaRPr lang="en-US" sz="4600" dirty="0"/>
          </a:p>
        </p:txBody>
      </p:sp>
      <p:sp>
        <p:nvSpPr>
          <p:cNvPr id="11" name="Text 8"/>
          <p:cNvSpPr txBox="1"/>
          <p:nvPr/>
        </p:nvSpPr>
        <p:spPr>
          <a:xfrm>
            <a:off x="7196328" y="2560320"/>
            <a:ext cx="1828800" cy="32004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tablas de Identity</a:t>
            </a:r>
            <a:endParaRPr lang="en-US" sz="1200" dirty="0"/>
          </a:p>
        </p:txBody>
      </p:sp>
      <p:sp>
        <p:nvSpPr>
          <p:cNvPr id="12" name="card"/>
          <p:cNvSpPr/>
          <p:nvPr/>
        </p:nvSpPr>
        <p:spPr>
          <a:xfrm>
            <a:off x="9363456" y="1783080"/>
            <a:ext cx="2212848" cy="1234440"/>
          </a:xfrm>
          <a:prstGeom prst="roundRect">
            <a:avLst>
              <a:gd name="adj" fmla="val 10370"/>
            </a:avLst>
          </a:prstGeom>
          <a:solidFill>
            <a:schemeClr val="tx2"/>
          </a:solidFill>
          <a:ln/>
        </p:spPr>
      </p:sp>
      <p:sp>
        <p:nvSpPr>
          <p:cNvPr id="13" name="Text 10"/>
          <p:cNvSpPr txBox="1"/>
          <p:nvPr/>
        </p:nvSpPr>
        <p:spPr>
          <a:xfrm>
            <a:off x="9592056" y="1828800"/>
            <a:ext cx="1828800" cy="731520"/>
          </a:xfrm>
          <a:prstGeom prst="rect">
            <a:avLst/>
          </a:prstGeom>
          <a:noFill/>
          <a:ln/>
        </p:spPr>
        <p:txBody>
          <a:bodyPr wrap="square" lIns="0" tIns="0" rIns="0" bIns="0" rtlCol="0" anchor="t"/>
          <a:lstStyle/>
          <a:p>
            <a:pPr indent="0" marL="0">
              <a:buNone/>
            </a:pPr>
            <a:r>
              <a:rPr lang="en-US" sz="4600" dirty="0">
                <a:solidFill>
                  <a:schemeClr val="accent2"/>
                </a:solidFill>
                <a:latin typeface="Bahnschrift SemiBold Condensed" pitchFamily="34" charset="0"/>
                <a:ea typeface="Bahnschrift SemiBold Condensed" pitchFamily="34" charset="-122"/>
                <a:cs typeface="Bahnschrift SemiBold Condensed" pitchFamily="34" charset="-120"/>
              </a:rPr>
              <a:t>5</a:t>
            </a:r>
            <a:endParaRPr lang="en-US" sz="4600" dirty="0"/>
          </a:p>
        </p:txBody>
      </p:sp>
      <p:sp>
        <p:nvSpPr>
          <p:cNvPr id="14" name="Text 11"/>
          <p:cNvSpPr txBox="1"/>
          <p:nvPr/>
        </p:nvSpPr>
        <p:spPr>
          <a:xfrm>
            <a:off x="9592056" y="2560320"/>
            <a:ext cx="1828800" cy="32004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migraciones</a:t>
            </a:r>
            <a:endParaRPr lang="en-US" sz="1200" dirty="0"/>
          </a:p>
        </p:txBody>
      </p:sp>
      <p:sp>
        <p:nvSpPr>
          <p:cNvPr id="15" name="card"/>
          <p:cNvSpPr/>
          <p:nvPr/>
        </p:nvSpPr>
        <p:spPr>
          <a:xfrm>
            <a:off x="4572000" y="3200400"/>
            <a:ext cx="7068312" cy="1600200"/>
          </a:xfrm>
          <a:prstGeom prst="roundRect">
            <a:avLst>
              <a:gd name="adj" fmla="val 8000"/>
            </a:avLst>
          </a:prstGeom>
          <a:solidFill>
            <a:schemeClr val="tx2"/>
          </a:solidFill>
          <a:ln/>
        </p:spPr>
      </p:sp>
      <p:sp>
        <p:nvSpPr>
          <p:cNvPr id="16" name="Text 13"/>
          <p:cNvSpPr txBox="1"/>
          <p:nvPr/>
        </p:nvSpPr>
        <p:spPr>
          <a:xfrm>
            <a:off x="4800600" y="3337560"/>
            <a:ext cx="6675120" cy="137160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bg1"/>
                </a:solidFill>
                <a:latin typeface="Segoe UI" pitchFamily="34" charset="0"/>
                <a:ea typeface="Segoe UI" pitchFamily="34" charset="-122"/>
                <a:cs typeface="Segoe UI" pitchFamily="34" charset="-120"/>
              </a:rPr>
              <a:t>Dinero en decimal(12,2) y fechas en datetimeoffset UTC</a:t>
            </a:r>
            <a:endParaRPr lang="en-US" sz="1250" dirty="0"/>
          </a:p>
          <a:p>
            <a:pPr marL="342900" indent="-342900">
              <a:spcAft>
                <a:spcPts val="300"/>
              </a:spcAft>
              <a:buSzPct val="100000"/>
              <a:buChar char="•"/>
            </a:pPr>
            <a:r>
              <a:rPr lang="en-US" sz="1250" dirty="0">
                <a:solidFill>
                  <a:schemeClr val="bg1"/>
                </a:solidFill>
                <a:latin typeface="Segoe UI" pitchFamily="34" charset="0"/>
                <a:ea typeface="Segoe UI" pitchFamily="34" charset="-122"/>
                <a:cs typeface="Segoe UI" pitchFamily="34" charset="-120"/>
              </a:rPr>
              <a:t>Placa única, documento único por tipo y CHECK en fechas, capacidades e importes</a:t>
            </a:r>
            <a:endParaRPr lang="en-US" sz="1250" dirty="0"/>
          </a:p>
          <a:p>
            <a:pPr marL="342900" indent="-342900">
              <a:spcAft>
                <a:spcPts val="300"/>
              </a:spcAft>
              <a:buSzPct val="100000"/>
              <a:buChar char="•"/>
            </a:pPr>
            <a:r>
              <a:rPr lang="en-US" sz="1250" dirty="0">
                <a:solidFill>
                  <a:schemeClr val="bg1"/>
                </a:solidFill>
                <a:latin typeface="Segoe UI" pitchFamily="34" charset="0"/>
                <a:ea typeface="Segoe UI" pitchFamily="34" charset="-122"/>
                <a:cs typeface="Segoe UI" pitchFamily="34" charset="-120"/>
              </a:rPr>
              <a:t>Claves foráneas con borrado restringido e índice filtrado: un solo alquiler abierto por vehículo</a:t>
            </a:r>
            <a:endParaRPr lang="en-US" sz="1250" dirty="0"/>
          </a:p>
          <a:p>
            <a:pPr marL="342900" indent="-342900">
              <a:spcAft>
                <a:spcPts val="300"/>
              </a:spcAft>
              <a:buSzPct val="100000"/>
              <a:buChar char="•"/>
            </a:pPr>
            <a:r>
              <a:rPr lang="en-US" sz="1250" dirty="0">
                <a:solidFill>
                  <a:schemeClr val="bg1"/>
                </a:solidFill>
                <a:latin typeface="Segoe UI" pitchFamily="34" charset="0"/>
                <a:ea typeface="Segoe UI" pitchFamily="34" charset="-122"/>
                <a:cs typeface="Segoe UI" pitchFamily="34" charset="-120"/>
              </a:rPr>
              <a:t>La tarifa se copia en la reserva: cambiar el precio no altera lo acordado</a:t>
            </a:r>
            <a:endParaRPr lang="en-US" sz="1250" dirty="0"/>
          </a:p>
        </p:txBody>
      </p:sp>
      <p:sp>
        <p:nvSpPr>
          <p:cNvPr id="17" name="hint"/>
          <p:cNvSpPr/>
          <p:nvPr/>
        </p:nvSpPr>
        <p:spPr>
          <a:xfrm>
            <a:off x="4572000" y="4983480"/>
            <a:ext cx="7068312" cy="1188720"/>
          </a:xfrm>
          <a:prstGeom prst="roundRect">
            <a:avLst>
              <a:gd name="adj" fmla="val 10769"/>
            </a:avLst>
          </a:prstGeom>
          <a:solidFill>
            <a:schemeClr val="accent6"/>
          </a:solidFill>
          <a:ln/>
        </p:spPr>
      </p:sp>
      <p:sp>
        <p:nvSpPr>
          <p:cNvPr id="18" name="icono-MdLightbulb"/>
          <p:cNvSpPr/>
          <p:nvPr/>
        </p:nvSpPr>
        <p:spPr>
          <a:xfrm>
            <a:off x="4754880" y="5166360"/>
            <a:ext cx="384048" cy="384048"/>
          </a:xfrm>
          <a:prstGeom prst="roundRect">
            <a:avLst>
              <a:gd name="adj" fmla="val 22000"/>
            </a:avLst>
          </a:prstGeom>
          <a:solidFill>
            <a:schemeClr val="accent1"/>
          </a:solidFill>
          <a:ln/>
        </p:spPr>
      </p:sp>
      <p:pic>
        <p:nvPicPr>
          <p:cNvPr id="19" name="glifo-MdLightbulb" descr="preencoded.png">    </p:cNvPr>
          <p:cNvPicPr>
            <a:picLocks noChangeAspect="1"/>
          </p:cNvPicPr>
          <p:nvPr/>
        </p:nvPicPr>
        <p:blipFill>
          <a:blip r:embed="rId2"/>
          <a:stretch>
            <a:fillRect/>
          </a:stretch>
        </p:blipFill>
        <p:spPr>
          <a:xfrm>
            <a:off x="4831690" y="5243170"/>
            <a:ext cx="230429" cy="230429"/>
          </a:xfrm>
          <a:prstGeom prst="rect">
            <a:avLst/>
          </a:prstGeom>
        </p:spPr>
      </p:pic>
      <p:sp>
        <p:nvSpPr>
          <p:cNvPr id="20" name="Text 16"/>
          <p:cNvSpPr txBox="1"/>
          <p:nvPr/>
        </p:nvSpPr>
        <p:spPr>
          <a:xfrm>
            <a:off x="5285232" y="5138928"/>
            <a:ext cx="617220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ROWVERSION</a:t>
            </a:r>
            <a:endParaRPr lang="en-US" sz="1050" dirty="0"/>
          </a:p>
        </p:txBody>
      </p:sp>
      <p:sp>
        <p:nvSpPr>
          <p:cNvPr id="21" name="Text 17"/>
          <p:cNvSpPr txBox="1"/>
          <p:nvPr/>
        </p:nvSpPr>
        <p:spPr>
          <a:xfrm>
            <a:off x="5285232" y="5440680"/>
            <a:ext cx="6172200" cy="62179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Columna que SQL Server cambia en cada actualización. EF Core la compara al guardar: si otro usuario editó el registro, avisa en lugar de sobrescribir (concurrencia optimista).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REGLA CENTRAL</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NINGÚN VEHÍCULO SE ASIGNA DOS VECES</a:t>
            </a:r>
            <a:endParaRPr lang="en-US" sz="3800" dirty="0"/>
          </a:p>
        </p:txBody>
      </p:sp>
      <p:sp>
        <p:nvSpPr>
          <p:cNvPr id="4" name="card"/>
          <p:cNvSpPr/>
          <p:nvPr/>
        </p:nvSpPr>
        <p:spPr>
          <a:xfrm>
            <a:off x="548640" y="1783080"/>
            <a:ext cx="5760720" cy="3108960"/>
          </a:xfrm>
          <a:prstGeom prst="roundRect">
            <a:avLst>
              <a:gd name="adj" fmla="val 4118"/>
            </a:avLst>
          </a:prstGeom>
          <a:solidFill>
            <a:schemeClr val="tx2"/>
          </a:solidFill>
          <a:ln/>
        </p:spPr>
      </p:sp>
      <p:sp>
        <p:nvSpPr>
          <p:cNvPr id="5" name="Text 3"/>
          <p:cNvSpPr txBox="1"/>
          <p:nvPr/>
        </p:nvSpPr>
        <p:spPr>
          <a:xfrm>
            <a:off x="777240" y="1920240"/>
            <a:ext cx="5303520" cy="365760"/>
          </a:xfrm>
          <a:prstGeom prst="rect">
            <a:avLst/>
          </a:prstGeom>
          <a:noFill/>
          <a:ln/>
        </p:spPr>
        <p:txBody>
          <a:bodyPr wrap="square" lIns="0" tIns="0" rIns="0" bIns="0" rtlCol="0" anchor="t"/>
          <a:lstStyle/>
          <a:p>
            <a:pPr indent="0" marL="0">
              <a:buNone/>
            </a:pPr>
            <a:r>
              <a:rPr lang="en-US" sz="2000" dirty="0">
                <a:solidFill>
                  <a:schemeClr val="bg1"/>
                </a:solidFill>
                <a:latin typeface="Bahnschrift SemiBold Condensed" pitchFamily="34" charset="0"/>
                <a:ea typeface="Bahnschrift SemiBold Condensed" pitchFamily="34" charset="-122"/>
                <a:cs typeface="Bahnschrift SemiBold Condensed" pitchFamily="34" charset="-120"/>
              </a:rPr>
              <a:t>CRUCE DE INTERVALOS [INICIO, FIN)</a:t>
            </a:r>
            <a:endParaRPr lang="en-US" sz="2000" dirty="0"/>
          </a:p>
        </p:txBody>
      </p:sp>
      <p:sp>
        <p:nvSpPr>
          <p:cNvPr id="6" name="conector"/>
          <p:cNvSpPr/>
          <p:nvPr/>
        </p:nvSpPr>
        <p:spPr>
          <a:xfrm>
            <a:off x="960120" y="2423160"/>
            <a:ext cx="0" cy="1645920"/>
          </a:xfrm>
          <a:prstGeom prst="line">
            <a:avLst/>
          </a:prstGeom>
          <a:noFill/>
          <a:ln w="22225">
            <a:solidFill>
              <a:schemeClr val="accent6"/>
            </a:solidFill>
            <a:prstDash val="solid"/>
          </a:ln>
        </p:spPr>
      </p:sp>
      <p:sp>
        <p:nvSpPr>
          <p:cNvPr id="7" name="Text 5"/>
          <p:cNvSpPr txBox="1"/>
          <p:nvPr/>
        </p:nvSpPr>
        <p:spPr>
          <a:xfrm>
            <a:off x="640080" y="4114800"/>
            <a:ext cx="640080" cy="228600"/>
          </a:xfrm>
          <a:prstGeom prst="rect">
            <a:avLst/>
          </a:prstGeom>
          <a:noFill/>
          <a:ln/>
        </p:spPr>
        <p:txBody>
          <a:bodyPr wrap="square" lIns="0" tIns="0" rIns="0" bIns="0" rtlCol="0" anchor="t"/>
          <a:lstStyle/>
          <a:p>
            <a:pPr algn="ctr" indent="0" marL="0">
              <a:buNone/>
            </a:pPr>
            <a:r>
              <a:rPr lang="en-US" sz="1000" dirty="0">
                <a:solidFill>
                  <a:schemeClr val="bg2"/>
                </a:solidFill>
                <a:latin typeface="Segoe UI" pitchFamily="34" charset="0"/>
                <a:ea typeface="Segoe UI" pitchFamily="34" charset="-122"/>
                <a:cs typeface="Segoe UI" pitchFamily="34" charset="-120"/>
              </a:rPr>
              <a:t>08:00</a:t>
            </a:r>
            <a:endParaRPr lang="en-US" sz="1000" dirty="0"/>
          </a:p>
        </p:txBody>
      </p:sp>
      <p:sp>
        <p:nvSpPr>
          <p:cNvPr id="8" name="conector"/>
          <p:cNvSpPr/>
          <p:nvPr/>
        </p:nvSpPr>
        <p:spPr>
          <a:xfrm>
            <a:off x="2057400" y="2423160"/>
            <a:ext cx="0" cy="1645920"/>
          </a:xfrm>
          <a:prstGeom prst="line">
            <a:avLst/>
          </a:prstGeom>
          <a:noFill/>
          <a:ln w="22225">
            <a:solidFill>
              <a:schemeClr val="accent6"/>
            </a:solidFill>
            <a:prstDash val="solid"/>
          </a:ln>
        </p:spPr>
      </p:sp>
      <p:sp>
        <p:nvSpPr>
          <p:cNvPr id="9" name="Text 7"/>
          <p:cNvSpPr txBox="1"/>
          <p:nvPr/>
        </p:nvSpPr>
        <p:spPr>
          <a:xfrm>
            <a:off x="1737360" y="4114800"/>
            <a:ext cx="640080" cy="228600"/>
          </a:xfrm>
          <a:prstGeom prst="rect">
            <a:avLst/>
          </a:prstGeom>
          <a:noFill/>
          <a:ln/>
        </p:spPr>
        <p:txBody>
          <a:bodyPr wrap="square" lIns="0" tIns="0" rIns="0" bIns="0" rtlCol="0" anchor="t"/>
          <a:lstStyle/>
          <a:p>
            <a:pPr algn="ctr" indent="0" marL="0">
              <a:buNone/>
            </a:pPr>
            <a:r>
              <a:rPr lang="en-US" sz="1000" dirty="0">
                <a:solidFill>
                  <a:schemeClr val="bg2"/>
                </a:solidFill>
                <a:latin typeface="Segoe UI" pitchFamily="34" charset="0"/>
                <a:ea typeface="Segoe UI" pitchFamily="34" charset="-122"/>
                <a:cs typeface="Segoe UI" pitchFamily="34" charset="-120"/>
              </a:rPr>
              <a:t>09:00</a:t>
            </a:r>
            <a:endParaRPr lang="en-US" sz="1000" dirty="0"/>
          </a:p>
        </p:txBody>
      </p:sp>
      <p:sp>
        <p:nvSpPr>
          <p:cNvPr id="10" name="conector"/>
          <p:cNvSpPr/>
          <p:nvPr/>
        </p:nvSpPr>
        <p:spPr>
          <a:xfrm>
            <a:off x="3154680" y="2423160"/>
            <a:ext cx="0" cy="1645920"/>
          </a:xfrm>
          <a:prstGeom prst="line">
            <a:avLst/>
          </a:prstGeom>
          <a:noFill/>
          <a:ln w="22225">
            <a:solidFill>
              <a:schemeClr val="accent6"/>
            </a:solidFill>
            <a:prstDash val="solid"/>
          </a:ln>
        </p:spPr>
      </p:sp>
      <p:sp>
        <p:nvSpPr>
          <p:cNvPr id="11" name="Text 9"/>
          <p:cNvSpPr txBox="1"/>
          <p:nvPr/>
        </p:nvSpPr>
        <p:spPr>
          <a:xfrm>
            <a:off x="2834640" y="4114800"/>
            <a:ext cx="640080" cy="228600"/>
          </a:xfrm>
          <a:prstGeom prst="rect">
            <a:avLst/>
          </a:prstGeom>
          <a:noFill/>
          <a:ln/>
        </p:spPr>
        <p:txBody>
          <a:bodyPr wrap="square" lIns="0" tIns="0" rIns="0" bIns="0" rtlCol="0" anchor="t"/>
          <a:lstStyle/>
          <a:p>
            <a:pPr algn="ctr" indent="0" marL="0">
              <a:buNone/>
            </a:pPr>
            <a:r>
              <a:rPr lang="en-US" sz="1000" dirty="0">
                <a:solidFill>
                  <a:schemeClr val="bg2"/>
                </a:solidFill>
                <a:latin typeface="Segoe UI" pitchFamily="34" charset="0"/>
                <a:ea typeface="Segoe UI" pitchFamily="34" charset="-122"/>
                <a:cs typeface="Segoe UI" pitchFamily="34" charset="-120"/>
              </a:rPr>
              <a:t>10:00</a:t>
            </a:r>
            <a:endParaRPr lang="en-US" sz="1000" dirty="0"/>
          </a:p>
        </p:txBody>
      </p:sp>
      <p:sp>
        <p:nvSpPr>
          <p:cNvPr id="12" name="conector"/>
          <p:cNvSpPr/>
          <p:nvPr/>
        </p:nvSpPr>
        <p:spPr>
          <a:xfrm>
            <a:off x="4251960" y="2423160"/>
            <a:ext cx="0" cy="1645920"/>
          </a:xfrm>
          <a:prstGeom prst="line">
            <a:avLst/>
          </a:prstGeom>
          <a:noFill/>
          <a:ln w="22225">
            <a:solidFill>
              <a:schemeClr val="accent6"/>
            </a:solidFill>
            <a:prstDash val="solid"/>
          </a:ln>
        </p:spPr>
      </p:sp>
      <p:sp>
        <p:nvSpPr>
          <p:cNvPr id="13" name="Text 11"/>
          <p:cNvSpPr txBox="1"/>
          <p:nvPr/>
        </p:nvSpPr>
        <p:spPr>
          <a:xfrm>
            <a:off x="3931920" y="4114800"/>
            <a:ext cx="640080" cy="228600"/>
          </a:xfrm>
          <a:prstGeom prst="rect">
            <a:avLst/>
          </a:prstGeom>
          <a:noFill/>
          <a:ln/>
        </p:spPr>
        <p:txBody>
          <a:bodyPr wrap="square" lIns="0" tIns="0" rIns="0" bIns="0" rtlCol="0" anchor="t"/>
          <a:lstStyle/>
          <a:p>
            <a:pPr algn="ctr" indent="0" marL="0">
              <a:buNone/>
            </a:pPr>
            <a:r>
              <a:rPr lang="en-US" sz="1000" dirty="0">
                <a:solidFill>
                  <a:schemeClr val="bg2"/>
                </a:solidFill>
                <a:latin typeface="Segoe UI" pitchFamily="34" charset="0"/>
                <a:ea typeface="Segoe UI" pitchFamily="34" charset="-122"/>
                <a:cs typeface="Segoe UI" pitchFamily="34" charset="-120"/>
              </a:rPr>
              <a:t>11:00</a:t>
            </a:r>
            <a:endParaRPr lang="en-US" sz="1000" dirty="0"/>
          </a:p>
        </p:txBody>
      </p:sp>
      <p:sp>
        <p:nvSpPr>
          <p:cNvPr id="14" name="conector"/>
          <p:cNvSpPr/>
          <p:nvPr/>
        </p:nvSpPr>
        <p:spPr>
          <a:xfrm>
            <a:off x="5349240" y="2423160"/>
            <a:ext cx="0" cy="1645920"/>
          </a:xfrm>
          <a:prstGeom prst="line">
            <a:avLst/>
          </a:prstGeom>
          <a:noFill/>
          <a:ln w="22225">
            <a:solidFill>
              <a:schemeClr val="accent6"/>
            </a:solidFill>
            <a:prstDash val="solid"/>
          </a:ln>
        </p:spPr>
      </p:sp>
      <p:sp>
        <p:nvSpPr>
          <p:cNvPr id="15" name="Text 13"/>
          <p:cNvSpPr txBox="1"/>
          <p:nvPr/>
        </p:nvSpPr>
        <p:spPr>
          <a:xfrm>
            <a:off x="5029200" y="4114800"/>
            <a:ext cx="640080" cy="228600"/>
          </a:xfrm>
          <a:prstGeom prst="rect">
            <a:avLst/>
          </a:prstGeom>
          <a:noFill/>
          <a:ln/>
        </p:spPr>
        <p:txBody>
          <a:bodyPr wrap="square" lIns="0" tIns="0" rIns="0" bIns="0" rtlCol="0" anchor="t"/>
          <a:lstStyle/>
          <a:p>
            <a:pPr algn="ctr" indent="0" marL="0">
              <a:buNone/>
            </a:pPr>
            <a:r>
              <a:rPr lang="en-US" sz="1000" dirty="0">
                <a:solidFill>
                  <a:schemeClr val="bg2"/>
                </a:solidFill>
                <a:latin typeface="Segoe UI" pitchFamily="34" charset="0"/>
                <a:ea typeface="Segoe UI" pitchFamily="34" charset="-122"/>
                <a:cs typeface="Segoe UI" pitchFamily="34" charset="-120"/>
              </a:rPr>
              <a:t>12:00</a:t>
            </a:r>
            <a:endParaRPr lang="en-US" sz="1000" dirty="0"/>
          </a:p>
        </p:txBody>
      </p:sp>
      <p:sp>
        <p:nvSpPr>
          <p:cNvPr id="16" name="intervalo"/>
          <p:cNvSpPr/>
          <p:nvPr/>
        </p:nvSpPr>
        <p:spPr>
          <a:xfrm>
            <a:off x="960120" y="2468880"/>
            <a:ext cx="2194560" cy="384048"/>
          </a:xfrm>
          <a:prstGeom prst="roundRect">
            <a:avLst>
              <a:gd name="adj" fmla="val 19048"/>
            </a:avLst>
          </a:prstGeom>
          <a:solidFill>
            <a:schemeClr val="accent6"/>
          </a:solidFill>
          <a:ln/>
        </p:spPr>
      </p:sp>
      <p:sp>
        <p:nvSpPr>
          <p:cNvPr id="17" name="Text 15"/>
          <p:cNvSpPr txBox="1"/>
          <p:nvPr/>
        </p:nvSpPr>
        <p:spPr>
          <a:xfrm>
            <a:off x="1051560" y="2468880"/>
            <a:ext cx="2011680" cy="384048"/>
          </a:xfrm>
          <a:prstGeom prst="rect">
            <a:avLst/>
          </a:prstGeom>
          <a:noFill/>
          <a:ln/>
        </p:spPr>
        <p:txBody>
          <a:bodyPr wrap="square" lIns="0" tIns="0" rIns="0" bIns="0" rtlCol="0" anchor="ctr"/>
          <a:lstStyle/>
          <a:p>
            <a:pPr indent="0" marL="0">
              <a:buNone/>
            </a:pPr>
            <a:r>
              <a:rPr lang="en-US" sz="1100" b="1" dirty="0">
                <a:solidFill>
                  <a:schemeClr val="bg1"/>
                </a:solidFill>
                <a:latin typeface="Segoe UI" pitchFamily="34" charset="0"/>
                <a:ea typeface="Segoe UI" pitchFamily="34" charset="-122"/>
                <a:cs typeface="Segoe UI" pitchFamily="34" charset="-120"/>
              </a:rPr>
              <a:t>Reserva A</a:t>
            </a:r>
            <a:endParaRPr lang="en-US" sz="1100" dirty="0"/>
          </a:p>
        </p:txBody>
      </p:sp>
      <p:sp>
        <p:nvSpPr>
          <p:cNvPr id="18" name="Text 16"/>
          <p:cNvSpPr txBox="1"/>
          <p:nvPr/>
        </p:nvSpPr>
        <p:spPr>
          <a:xfrm>
            <a:off x="5486400" y="2468880"/>
            <a:ext cx="365760" cy="384048"/>
          </a:xfrm>
          <a:prstGeom prst="rect">
            <a:avLst/>
          </a:prstGeom>
          <a:noFill/>
          <a:ln/>
        </p:spPr>
        <p:txBody>
          <a:bodyPr wrap="square" lIns="0" tIns="0" rIns="0" bIns="0" rtlCol="0" anchor="ctr"/>
          <a:lstStyle/>
          <a:p>
            <a:pPr indent="0" marL="0">
              <a:buNone/>
            </a:pPr>
            <a:endParaRPr lang="en-US" sz="1600" dirty="0"/>
          </a:p>
        </p:txBody>
      </p:sp>
      <p:sp>
        <p:nvSpPr>
          <p:cNvPr id="19" name="intervalo"/>
          <p:cNvSpPr/>
          <p:nvPr/>
        </p:nvSpPr>
        <p:spPr>
          <a:xfrm>
            <a:off x="3154680" y="2971800"/>
            <a:ext cx="2194560" cy="384048"/>
          </a:xfrm>
          <a:prstGeom prst="roundRect">
            <a:avLst>
              <a:gd name="adj" fmla="val 19048"/>
            </a:avLst>
          </a:prstGeom>
          <a:solidFill>
            <a:schemeClr val="accent6"/>
          </a:solidFill>
          <a:ln/>
        </p:spPr>
      </p:sp>
      <p:sp>
        <p:nvSpPr>
          <p:cNvPr id="20" name="Text 18"/>
          <p:cNvSpPr txBox="1"/>
          <p:nvPr/>
        </p:nvSpPr>
        <p:spPr>
          <a:xfrm>
            <a:off x="3246120" y="2971800"/>
            <a:ext cx="2011680" cy="384048"/>
          </a:xfrm>
          <a:prstGeom prst="rect">
            <a:avLst/>
          </a:prstGeom>
          <a:noFill/>
          <a:ln/>
        </p:spPr>
        <p:txBody>
          <a:bodyPr wrap="square" lIns="0" tIns="0" rIns="0" bIns="0" rtlCol="0" anchor="ctr"/>
          <a:lstStyle/>
          <a:p>
            <a:pPr indent="0" marL="0">
              <a:buNone/>
            </a:pPr>
            <a:r>
              <a:rPr lang="en-US" sz="1100" b="1" dirty="0">
                <a:solidFill>
                  <a:schemeClr val="bg1"/>
                </a:solidFill>
                <a:latin typeface="Segoe UI" pitchFamily="34" charset="0"/>
                <a:ea typeface="Segoe UI" pitchFamily="34" charset="-122"/>
                <a:cs typeface="Segoe UI" pitchFamily="34" charset="-120"/>
              </a:rPr>
              <a:t>Reserva B: libre</a:t>
            </a:r>
            <a:endParaRPr lang="en-US" sz="1100" dirty="0"/>
          </a:p>
        </p:txBody>
      </p:sp>
      <p:sp>
        <p:nvSpPr>
          <p:cNvPr id="21" name="Text 19"/>
          <p:cNvSpPr txBox="1"/>
          <p:nvPr/>
        </p:nvSpPr>
        <p:spPr>
          <a:xfrm>
            <a:off x="5486400" y="2971800"/>
            <a:ext cx="365760" cy="384048"/>
          </a:xfrm>
          <a:prstGeom prst="rect">
            <a:avLst/>
          </a:prstGeom>
          <a:noFill/>
          <a:ln/>
        </p:spPr>
        <p:txBody>
          <a:bodyPr wrap="square" lIns="0" tIns="0" rIns="0" bIns="0" rtlCol="0" anchor="ctr"/>
          <a:lstStyle/>
          <a:p>
            <a:pPr indent="0" marL="0">
              <a:buNone/>
            </a:pPr>
            <a:r>
              <a:rPr lang="en-US" sz="1600" b="1" dirty="0">
                <a:solidFill>
                  <a:schemeClr val="accent4"/>
                </a:solidFill>
                <a:latin typeface="Segoe UI" pitchFamily="34" charset="0"/>
                <a:ea typeface="Segoe UI" pitchFamily="34" charset="-122"/>
                <a:cs typeface="Segoe UI" pitchFamily="34" charset="-120"/>
              </a:rPr>
              <a:t>✓</a:t>
            </a:r>
            <a:endParaRPr lang="en-US" sz="1600" dirty="0"/>
          </a:p>
        </p:txBody>
      </p:sp>
      <p:sp>
        <p:nvSpPr>
          <p:cNvPr id="22" name="intervalo"/>
          <p:cNvSpPr/>
          <p:nvPr/>
        </p:nvSpPr>
        <p:spPr>
          <a:xfrm>
            <a:off x="2057400" y="3474720"/>
            <a:ext cx="2194560" cy="384048"/>
          </a:xfrm>
          <a:prstGeom prst="roundRect">
            <a:avLst>
              <a:gd name="adj" fmla="val 19048"/>
            </a:avLst>
          </a:prstGeom>
          <a:solidFill>
            <a:schemeClr val="accent1"/>
          </a:solidFill>
          <a:ln/>
        </p:spPr>
      </p:sp>
      <p:sp>
        <p:nvSpPr>
          <p:cNvPr id="23" name="Text 21"/>
          <p:cNvSpPr txBox="1"/>
          <p:nvPr/>
        </p:nvSpPr>
        <p:spPr>
          <a:xfrm>
            <a:off x="2148840" y="3474720"/>
            <a:ext cx="2011680" cy="384048"/>
          </a:xfrm>
          <a:prstGeom prst="rect">
            <a:avLst/>
          </a:prstGeom>
          <a:noFill/>
          <a:ln/>
        </p:spPr>
        <p:txBody>
          <a:bodyPr wrap="square" lIns="0" tIns="0" rIns="0" bIns="0" rtlCol="0" anchor="ctr"/>
          <a:lstStyle/>
          <a:p>
            <a:pPr indent="0" marL="0">
              <a:buNone/>
            </a:pPr>
            <a:r>
              <a:rPr lang="en-US" sz="1100" b="1" dirty="0">
                <a:solidFill>
                  <a:schemeClr val="bg1"/>
                </a:solidFill>
                <a:latin typeface="Segoe UI" pitchFamily="34" charset="0"/>
                <a:ea typeface="Segoe UI" pitchFamily="34" charset="-122"/>
                <a:cs typeface="Segoe UI" pitchFamily="34" charset="-120"/>
              </a:rPr>
              <a:t>Reserva C: se cruza</a:t>
            </a:r>
            <a:endParaRPr lang="en-US" sz="1100" dirty="0"/>
          </a:p>
        </p:txBody>
      </p:sp>
      <p:sp>
        <p:nvSpPr>
          <p:cNvPr id="24" name="Text 22"/>
          <p:cNvSpPr txBox="1"/>
          <p:nvPr/>
        </p:nvSpPr>
        <p:spPr>
          <a:xfrm>
            <a:off x="5486400" y="3474720"/>
            <a:ext cx="365760" cy="384048"/>
          </a:xfrm>
          <a:prstGeom prst="rect">
            <a:avLst/>
          </a:prstGeom>
          <a:noFill/>
          <a:ln/>
        </p:spPr>
        <p:txBody>
          <a:bodyPr wrap="square" lIns="0" tIns="0" rIns="0" bIns="0" rtlCol="0" anchor="ctr"/>
          <a:lstStyle/>
          <a:p>
            <a:pPr indent="0" marL="0">
              <a:buNone/>
            </a:pPr>
            <a:r>
              <a:rPr lang="en-US" sz="1600" b="1" dirty="0">
                <a:solidFill>
                  <a:schemeClr val="accent2"/>
                </a:solidFill>
                <a:latin typeface="Segoe UI" pitchFamily="34" charset="0"/>
                <a:ea typeface="Segoe UI" pitchFamily="34" charset="-122"/>
                <a:cs typeface="Segoe UI" pitchFamily="34" charset="-120"/>
              </a:rPr>
              <a:t>✗</a:t>
            </a:r>
            <a:endParaRPr lang="en-US" sz="1600" dirty="0"/>
          </a:p>
        </p:txBody>
      </p:sp>
      <p:sp>
        <p:nvSpPr>
          <p:cNvPr id="25" name="Text 23"/>
          <p:cNvSpPr txBox="1"/>
          <p:nvPr/>
        </p:nvSpPr>
        <p:spPr>
          <a:xfrm>
            <a:off x="777240" y="4389120"/>
            <a:ext cx="5349240" cy="45720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Se cruzan si </a:t>
            </a:r>
            <a:pPr indent="0" marL="0">
              <a:buNone/>
            </a:pPr>
            <a:r>
              <a:rPr lang="en-US" sz="1200" dirty="0">
                <a:solidFill>
                  <a:schemeClr val="accent2"/>
                </a:solidFill>
                <a:latin typeface="Consolas" pitchFamily="34" charset="0"/>
                <a:ea typeface="Consolas" pitchFamily="34" charset="-122"/>
                <a:cs typeface="Consolas" pitchFamily="34" charset="-120"/>
              </a:rPr>
              <a:t>inicioA &lt; finB  y  inicioB &lt; finA</a:t>
            </a:r>
            <a:pPr indent="0" marL="0">
              <a:buNone/>
            </a:pPr>
            <a:r>
              <a:rPr lang="en-US" sz="1200" dirty="0">
                <a:solidFill>
                  <a:schemeClr val="bg2"/>
                </a:solidFill>
                <a:latin typeface="Segoe UI" pitchFamily="34" charset="0"/>
                <a:ea typeface="Segoe UI" pitchFamily="34" charset="-122"/>
                <a:cs typeface="Segoe UI" pitchFamily="34" charset="-120"/>
              </a:rPr>
              <a:t>. Terminar a las 10:00 no choca con empezar a las 10:00.</a:t>
            </a:r>
            <a:endParaRPr lang="en-US" sz="1200" dirty="0"/>
          </a:p>
        </p:txBody>
      </p:sp>
      <p:sp>
        <p:nvSpPr>
          <p:cNvPr id="26" name="card"/>
          <p:cNvSpPr/>
          <p:nvPr/>
        </p:nvSpPr>
        <p:spPr>
          <a:xfrm>
            <a:off x="6583680" y="1783080"/>
            <a:ext cx="5056632" cy="3108960"/>
          </a:xfrm>
          <a:prstGeom prst="roundRect">
            <a:avLst>
              <a:gd name="adj" fmla="val 4118"/>
            </a:avLst>
          </a:prstGeom>
          <a:solidFill>
            <a:schemeClr val="tx2"/>
          </a:solidFill>
          <a:ln/>
        </p:spPr>
      </p:sp>
      <p:sp>
        <p:nvSpPr>
          <p:cNvPr id="27" name="Text 25"/>
          <p:cNvSpPr txBox="1"/>
          <p:nvPr/>
        </p:nvSpPr>
        <p:spPr>
          <a:xfrm>
            <a:off x="6812280" y="1920240"/>
            <a:ext cx="4663440" cy="365760"/>
          </a:xfrm>
          <a:prstGeom prst="rect">
            <a:avLst/>
          </a:prstGeom>
          <a:noFill/>
          <a:ln/>
        </p:spPr>
        <p:txBody>
          <a:bodyPr wrap="square" lIns="0" tIns="0" rIns="0" bIns="0" rtlCol="0" anchor="t"/>
          <a:lstStyle/>
          <a:p>
            <a:pPr indent="0" marL="0">
              <a:buNone/>
            </a:pPr>
            <a:r>
              <a:rPr lang="en-US" sz="2000" dirty="0">
                <a:solidFill>
                  <a:schemeClr val="bg1"/>
                </a:solidFill>
                <a:latin typeface="Bahnschrift SemiBold Condensed" pitchFamily="34" charset="0"/>
                <a:ea typeface="Bahnschrift SemiBold Condensed" pitchFamily="34" charset="-122"/>
                <a:cs typeface="Bahnschrift SemiBold Condensed" pitchFamily="34" charset="-120"/>
              </a:rPr>
              <a:t>DOS EMPLEADOS AL MISMO TIEMPO</a:t>
            </a:r>
            <a:endParaRPr lang="en-US" sz="2000" dirty="0"/>
          </a:p>
        </p:txBody>
      </p:sp>
      <p:sp>
        <p:nvSpPr>
          <p:cNvPr id="28" name="paso"/>
          <p:cNvSpPr/>
          <p:nvPr/>
        </p:nvSpPr>
        <p:spPr>
          <a:xfrm>
            <a:off x="6812280" y="2395728"/>
            <a:ext cx="384048" cy="384048"/>
          </a:xfrm>
          <a:prstGeom prst="ellipse">
            <a:avLst/>
          </a:prstGeom>
          <a:solidFill>
            <a:schemeClr val="accent1"/>
          </a:solidFill>
          <a:ln/>
        </p:spPr>
      </p:sp>
      <p:sp>
        <p:nvSpPr>
          <p:cNvPr id="29" name="Text 27"/>
          <p:cNvSpPr txBox="1"/>
          <p:nvPr/>
        </p:nvSpPr>
        <p:spPr>
          <a:xfrm>
            <a:off x="6812280" y="2395728"/>
            <a:ext cx="384048" cy="384048"/>
          </a:xfrm>
          <a:prstGeom prst="rect">
            <a:avLst/>
          </a:prstGeom>
          <a:noFill/>
          <a:ln/>
        </p:spPr>
        <p:txBody>
          <a:bodyPr wrap="square" lIns="0" tIns="0" rIns="0" bIns="0" rtlCol="0" anchor="ctr"/>
          <a:lstStyle/>
          <a:p>
            <a:pPr algn="ctr" indent="0" marL="0">
              <a:buNone/>
            </a:pPr>
            <a:r>
              <a:rPr lang="en-US" sz="1500" dirty="0">
                <a:solidFill>
                  <a:srgbClr val="FFFFFF"/>
                </a:solidFill>
                <a:latin typeface="Bahnschrift SemiBold Condensed" pitchFamily="34" charset="0"/>
                <a:ea typeface="Bahnschrift SemiBold Condensed" pitchFamily="34" charset="-122"/>
                <a:cs typeface="Bahnschrift SemiBold Condensed" pitchFamily="34" charset="-120"/>
              </a:rPr>
              <a:t>1</a:t>
            </a:r>
            <a:endParaRPr lang="en-US" sz="1500" dirty="0"/>
          </a:p>
        </p:txBody>
      </p:sp>
      <p:sp>
        <p:nvSpPr>
          <p:cNvPr id="30" name="Text 28"/>
          <p:cNvSpPr txBox="1"/>
          <p:nvPr/>
        </p:nvSpPr>
        <p:spPr>
          <a:xfrm>
            <a:off x="7360920" y="2395728"/>
            <a:ext cx="4114800" cy="384048"/>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Abre una transacción serializable</a:t>
            </a:r>
            <a:endParaRPr lang="en-US" sz="1300" dirty="0"/>
          </a:p>
        </p:txBody>
      </p:sp>
      <p:sp>
        <p:nvSpPr>
          <p:cNvPr id="31" name="paso"/>
          <p:cNvSpPr/>
          <p:nvPr/>
        </p:nvSpPr>
        <p:spPr>
          <a:xfrm>
            <a:off x="6812280" y="2999232"/>
            <a:ext cx="384048" cy="384048"/>
          </a:xfrm>
          <a:prstGeom prst="ellipse">
            <a:avLst/>
          </a:prstGeom>
          <a:solidFill>
            <a:schemeClr val="accent1"/>
          </a:solidFill>
          <a:ln/>
        </p:spPr>
      </p:sp>
      <p:sp>
        <p:nvSpPr>
          <p:cNvPr id="32" name="Text 30"/>
          <p:cNvSpPr txBox="1"/>
          <p:nvPr/>
        </p:nvSpPr>
        <p:spPr>
          <a:xfrm>
            <a:off x="6812280" y="2999232"/>
            <a:ext cx="384048" cy="384048"/>
          </a:xfrm>
          <a:prstGeom prst="rect">
            <a:avLst/>
          </a:prstGeom>
          <a:noFill/>
          <a:ln/>
        </p:spPr>
        <p:txBody>
          <a:bodyPr wrap="square" lIns="0" tIns="0" rIns="0" bIns="0" rtlCol="0" anchor="ctr"/>
          <a:lstStyle/>
          <a:p>
            <a:pPr algn="ctr" indent="0" marL="0">
              <a:buNone/>
            </a:pPr>
            <a:r>
              <a:rPr lang="en-US" sz="1500" dirty="0">
                <a:solidFill>
                  <a:srgbClr val="FFFFFF"/>
                </a:solidFill>
                <a:latin typeface="Bahnschrift SemiBold Condensed" pitchFamily="34" charset="0"/>
                <a:ea typeface="Bahnschrift SemiBold Condensed" pitchFamily="34" charset="-122"/>
                <a:cs typeface="Bahnschrift SemiBold Condensed" pitchFamily="34" charset="-120"/>
              </a:rPr>
              <a:t>2</a:t>
            </a:r>
            <a:endParaRPr lang="en-US" sz="1500" dirty="0"/>
          </a:p>
        </p:txBody>
      </p:sp>
      <p:sp>
        <p:nvSpPr>
          <p:cNvPr id="33" name="Text 31"/>
          <p:cNvSpPr txBox="1"/>
          <p:nvPr/>
        </p:nvSpPr>
        <p:spPr>
          <a:xfrm>
            <a:off x="7360920" y="2999232"/>
            <a:ext cx="4114800" cy="384048"/>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Bloquea el vehículo con UPDLOCK y HOLDLOCK</a:t>
            </a:r>
            <a:endParaRPr lang="en-US" sz="1300" dirty="0"/>
          </a:p>
        </p:txBody>
      </p:sp>
      <p:sp>
        <p:nvSpPr>
          <p:cNvPr id="34" name="paso"/>
          <p:cNvSpPr/>
          <p:nvPr/>
        </p:nvSpPr>
        <p:spPr>
          <a:xfrm>
            <a:off x="6812280" y="3602736"/>
            <a:ext cx="384048" cy="384048"/>
          </a:xfrm>
          <a:prstGeom prst="ellipse">
            <a:avLst/>
          </a:prstGeom>
          <a:solidFill>
            <a:schemeClr val="accent1"/>
          </a:solidFill>
          <a:ln/>
        </p:spPr>
      </p:sp>
      <p:sp>
        <p:nvSpPr>
          <p:cNvPr id="35" name="Text 33"/>
          <p:cNvSpPr txBox="1"/>
          <p:nvPr/>
        </p:nvSpPr>
        <p:spPr>
          <a:xfrm>
            <a:off x="6812280" y="3602736"/>
            <a:ext cx="384048" cy="384048"/>
          </a:xfrm>
          <a:prstGeom prst="rect">
            <a:avLst/>
          </a:prstGeom>
          <a:noFill/>
          <a:ln/>
        </p:spPr>
        <p:txBody>
          <a:bodyPr wrap="square" lIns="0" tIns="0" rIns="0" bIns="0" rtlCol="0" anchor="ctr"/>
          <a:lstStyle/>
          <a:p>
            <a:pPr algn="ctr" indent="0" marL="0">
              <a:buNone/>
            </a:pPr>
            <a:r>
              <a:rPr lang="en-US" sz="1500" dirty="0">
                <a:solidFill>
                  <a:srgbClr val="FFFFFF"/>
                </a:solidFill>
                <a:latin typeface="Bahnschrift SemiBold Condensed" pitchFamily="34" charset="0"/>
                <a:ea typeface="Bahnschrift SemiBold Condensed" pitchFamily="34" charset="-122"/>
                <a:cs typeface="Bahnschrift SemiBold Condensed" pitchFamily="34" charset="-120"/>
              </a:rPr>
              <a:t>3</a:t>
            </a:r>
            <a:endParaRPr lang="en-US" sz="1500" dirty="0"/>
          </a:p>
        </p:txBody>
      </p:sp>
      <p:sp>
        <p:nvSpPr>
          <p:cNvPr id="36" name="Text 34"/>
          <p:cNvSpPr txBox="1"/>
          <p:nvPr/>
        </p:nvSpPr>
        <p:spPr>
          <a:xfrm>
            <a:off x="7360920" y="3602736"/>
            <a:ext cx="4114800" cy="384048"/>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Busca ocupaciones que se crucen</a:t>
            </a:r>
            <a:endParaRPr lang="en-US" sz="1300" dirty="0"/>
          </a:p>
        </p:txBody>
      </p:sp>
      <p:sp>
        <p:nvSpPr>
          <p:cNvPr id="37" name="paso"/>
          <p:cNvSpPr/>
          <p:nvPr/>
        </p:nvSpPr>
        <p:spPr>
          <a:xfrm>
            <a:off x="6812280" y="4206240"/>
            <a:ext cx="384048" cy="384048"/>
          </a:xfrm>
          <a:prstGeom prst="ellipse">
            <a:avLst/>
          </a:prstGeom>
          <a:solidFill>
            <a:schemeClr val="accent1"/>
          </a:solidFill>
          <a:ln/>
        </p:spPr>
      </p:sp>
      <p:sp>
        <p:nvSpPr>
          <p:cNvPr id="38" name="Text 36"/>
          <p:cNvSpPr txBox="1"/>
          <p:nvPr/>
        </p:nvSpPr>
        <p:spPr>
          <a:xfrm>
            <a:off x="6812280" y="4206240"/>
            <a:ext cx="384048" cy="384048"/>
          </a:xfrm>
          <a:prstGeom prst="rect">
            <a:avLst/>
          </a:prstGeom>
          <a:noFill/>
          <a:ln/>
        </p:spPr>
        <p:txBody>
          <a:bodyPr wrap="square" lIns="0" tIns="0" rIns="0" bIns="0" rtlCol="0" anchor="ctr"/>
          <a:lstStyle/>
          <a:p>
            <a:pPr algn="ctr" indent="0" marL="0">
              <a:buNone/>
            </a:pPr>
            <a:r>
              <a:rPr lang="en-US" sz="1500" dirty="0">
                <a:solidFill>
                  <a:srgbClr val="FFFFFF"/>
                </a:solidFill>
                <a:latin typeface="Bahnschrift SemiBold Condensed" pitchFamily="34" charset="0"/>
                <a:ea typeface="Bahnschrift SemiBold Condensed" pitchFamily="34" charset="-122"/>
                <a:cs typeface="Bahnschrift SemiBold Condensed" pitchFamily="34" charset="-120"/>
              </a:rPr>
              <a:t>4</a:t>
            </a:r>
            <a:endParaRPr lang="en-US" sz="1500" dirty="0"/>
          </a:p>
        </p:txBody>
      </p:sp>
      <p:sp>
        <p:nvSpPr>
          <p:cNvPr id="39" name="Text 37"/>
          <p:cNvSpPr txBox="1"/>
          <p:nvPr/>
        </p:nvSpPr>
        <p:spPr>
          <a:xfrm>
            <a:off x="7360920" y="4206240"/>
            <a:ext cx="4114800" cy="384048"/>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Guarda reserva, ocupación y auditoría, y confirma</a:t>
            </a:r>
            <a:endParaRPr lang="en-US" sz="1300" dirty="0"/>
          </a:p>
        </p:txBody>
      </p:sp>
      <p:sp>
        <p:nvSpPr>
          <p:cNvPr id="40" name="hint"/>
          <p:cNvSpPr/>
          <p:nvPr/>
        </p:nvSpPr>
        <p:spPr>
          <a:xfrm>
            <a:off x="548640" y="5074920"/>
            <a:ext cx="5760720" cy="1097280"/>
          </a:xfrm>
          <a:prstGeom prst="roundRect">
            <a:avLst>
              <a:gd name="adj" fmla="val 11667"/>
            </a:avLst>
          </a:prstGeom>
          <a:solidFill>
            <a:schemeClr val="accent6"/>
          </a:solidFill>
          <a:ln/>
        </p:spPr>
      </p:sp>
      <p:sp>
        <p:nvSpPr>
          <p:cNvPr id="41" name="icono-MdLightbulb"/>
          <p:cNvSpPr/>
          <p:nvPr/>
        </p:nvSpPr>
        <p:spPr>
          <a:xfrm>
            <a:off x="731520" y="5257800"/>
            <a:ext cx="384048" cy="384048"/>
          </a:xfrm>
          <a:prstGeom prst="roundRect">
            <a:avLst>
              <a:gd name="adj" fmla="val 22000"/>
            </a:avLst>
          </a:prstGeom>
          <a:solidFill>
            <a:schemeClr val="accent1"/>
          </a:solidFill>
          <a:ln/>
        </p:spPr>
      </p:sp>
      <p:pic>
        <p:nvPicPr>
          <p:cNvPr id="42" name="glifo-MdLightbulb" descr="preencoded.png">    </p:cNvPr>
          <p:cNvPicPr>
            <a:picLocks noChangeAspect="1"/>
          </p:cNvPicPr>
          <p:nvPr/>
        </p:nvPicPr>
        <p:blipFill>
          <a:blip r:embed="rId1"/>
          <a:stretch>
            <a:fillRect/>
          </a:stretch>
        </p:blipFill>
        <p:spPr>
          <a:xfrm>
            <a:off x="808330" y="5334610"/>
            <a:ext cx="230429" cy="230429"/>
          </a:xfrm>
          <a:prstGeom prst="rect">
            <a:avLst/>
          </a:prstGeom>
        </p:spPr>
      </p:pic>
      <p:sp>
        <p:nvSpPr>
          <p:cNvPr id="43" name="Text 40"/>
          <p:cNvSpPr txBox="1"/>
          <p:nvPr/>
        </p:nvSpPr>
        <p:spPr>
          <a:xfrm>
            <a:off x="1261872" y="5230368"/>
            <a:ext cx="4864608"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BLOQUEO PESIMISTA</a:t>
            </a:r>
            <a:endParaRPr lang="en-US" sz="1050" dirty="0"/>
          </a:p>
        </p:txBody>
      </p:sp>
      <p:sp>
        <p:nvSpPr>
          <p:cNvPr id="44" name="Text 41"/>
          <p:cNvSpPr txBox="1"/>
          <p:nvPr/>
        </p:nvSpPr>
        <p:spPr>
          <a:xfrm>
            <a:off x="1261872" y="5532120"/>
            <a:ext cx="4864608" cy="53035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UPDLOCK y HOLDLOCK hacen que la segunda transacción espere a la primera; al continuar, ya ve la ocupación nueva y rechaza el cruce.</a:t>
            </a:r>
            <a:endParaRPr lang="en-US" sz="1200" dirty="0"/>
          </a:p>
        </p:txBody>
      </p:sp>
      <p:sp>
        <p:nvSpPr>
          <p:cNvPr id="45" name="hint"/>
          <p:cNvSpPr/>
          <p:nvPr/>
        </p:nvSpPr>
        <p:spPr>
          <a:xfrm>
            <a:off x="6583680" y="5074920"/>
            <a:ext cx="5056632" cy="1097280"/>
          </a:xfrm>
          <a:prstGeom prst="roundRect">
            <a:avLst>
              <a:gd name="adj" fmla="val 11667"/>
            </a:avLst>
          </a:prstGeom>
          <a:solidFill>
            <a:schemeClr val="accent6"/>
          </a:solidFill>
          <a:ln/>
        </p:spPr>
      </p:sp>
      <p:sp>
        <p:nvSpPr>
          <p:cNvPr id="46" name="icono-MdLightbulb"/>
          <p:cNvSpPr/>
          <p:nvPr/>
        </p:nvSpPr>
        <p:spPr>
          <a:xfrm>
            <a:off x="6766560" y="5257800"/>
            <a:ext cx="384048" cy="384048"/>
          </a:xfrm>
          <a:prstGeom prst="roundRect">
            <a:avLst>
              <a:gd name="adj" fmla="val 22000"/>
            </a:avLst>
          </a:prstGeom>
          <a:solidFill>
            <a:schemeClr val="accent1"/>
          </a:solidFill>
          <a:ln/>
        </p:spPr>
      </p:sp>
      <p:pic>
        <p:nvPicPr>
          <p:cNvPr id="47" name="glifo-MdLightbulb" descr="preencoded.png">    </p:cNvPr>
          <p:cNvPicPr>
            <a:picLocks noChangeAspect="1"/>
          </p:cNvPicPr>
          <p:nvPr/>
        </p:nvPicPr>
        <p:blipFill>
          <a:blip r:embed="rId2"/>
          <a:stretch>
            <a:fillRect/>
          </a:stretch>
        </p:blipFill>
        <p:spPr>
          <a:xfrm>
            <a:off x="6843370" y="5334610"/>
            <a:ext cx="230429" cy="230429"/>
          </a:xfrm>
          <a:prstGeom prst="rect">
            <a:avLst/>
          </a:prstGeom>
        </p:spPr>
      </p:pic>
      <p:sp>
        <p:nvSpPr>
          <p:cNvPr id="48" name="Text 44"/>
          <p:cNvSpPr txBox="1"/>
          <p:nvPr/>
        </p:nvSpPr>
        <p:spPr>
          <a:xfrm>
            <a:off x="7296912" y="5230368"/>
            <a:ext cx="416052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MANTENIMIENTO EN CURSO</a:t>
            </a:r>
            <a:endParaRPr lang="en-US" sz="1050" dirty="0"/>
          </a:p>
        </p:txBody>
      </p:sp>
      <p:sp>
        <p:nvSpPr>
          <p:cNvPr id="49" name="Text 45"/>
          <p:cNvSpPr txBox="1"/>
          <p:nvPr/>
        </p:nvSpPr>
        <p:spPr>
          <a:xfrm>
            <a:off x="7296912" y="5532120"/>
            <a:ext cx="4160520" cy="53035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Un servicio iniciado y sin finalizar deja el vehículo fuera de servicio para cualquier fecha, no solo su intervalo estimado.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INTELIGENCIA ARTIFICIAL</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RECOMENDADOR DE VEHÍCULOS CON OPENAI</a:t>
            </a:r>
            <a:endParaRPr lang="en-US" sz="3800" dirty="0"/>
          </a:p>
        </p:txBody>
      </p:sp>
      <p:sp>
        <p:nvSpPr>
          <p:cNvPr id="4" name="ia-0"/>
          <p:cNvSpPr/>
          <p:nvPr/>
        </p:nvSpPr>
        <p:spPr>
          <a:xfrm>
            <a:off x="548640" y="1783080"/>
            <a:ext cx="2011680" cy="1783080"/>
          </a:xfrm>
          <a:prstGeom prst="roundRect">
            <a:avLst>
              <a:gd name="adj" fmla="val 7179"/>
            </a:avLst>
          </a:prstGeom>
          <a:solidFill>
            <a:schemeClr val="tx2"/>
          </a:solidFill>
          <a:ln/>
        </p:spPr>
      </p:sp>
      <p:sp>
        <p:nvSpPr>
          <p:cNvPr id="5" name="icono-MdEditNote"/>
          <p:cNvSpPr/>
          <p:nvPr/>
        </p:nvSpPr>
        <p:spPr>
          <a:xfrm>
            <a:off x="731520" y="1965960"/>
            <a:ext cx="457200" cy="457200"/>
          </a:xfrm>
          <a:prstGeom prst="roundRect">
            <a:avLst>
              <a:gd name="adj" fmla="val 22000"/>
            </a:avLst>
          </a:prstGeom>
          <a:solidFill>
            <a:schemeClr val="accent1"/>
          </a:solidFill>
          <a:ln/>
        </p:spPr>
      </p:sp>
      <p:pic>
        <p:nvPicPr>
          <p:cNvPr id="6" name="glifo-MdEditNote" descr="preencoded.png">    </p:cNvPr>
          <p:cNvPicPr>
            <a:picLocks noChangeAspect="1"/>
          </p:cNvPicPr>
          <p:nvPr/>
        </p:nvPicPr>
        <p:blipFill>
          <a:blip r:embed="rId1"/>
          <a:stretch>
            <a:fillRect/>
          </a:stretch>
        </p:blipFill>
        <p:spPr>
          <a:xfrm>
            <a:off x="822960" y="2057400"/>
            <a:ext cx="274320" cy="274320"/>
          </a:xfrm>
          <a:prstGeom prst="rect">
            <a:avLst/>
          </a:prstGeom>
        </p:spPr>
      </p:pic>
      <p:sp>
        <p:nvSpPr>
          <p:cNvPr id="7" name="Text 4"/>
          <p:cNvSpPr txBox="1"/>
          <p:nvPr/>
        </p:nvSpPr>
        <p:spPr>
          <a:xfrm>
            <a:off x="731520" y="2542032"/>
            <a:ext cx="169164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Entrada</a:t>
            </a:r>
            <a:endParaRPr lang="en-US" sz="1400" dirty="0"/>
          </a:p>
        </p:txBody>
      </p:sp>
      <p:sp>
        <p:nvSpPr>
          <p:cNvPr id="8" name="Text 5"/>
          <p:cNvSpPr txBox="1"/>
          <p:nvPr/>
        </p:nvSpPr>
        <p:spPr>
          <a:xfrm>
            <a:off x="731520" y="2834640"/>
            <a:ext cx="1691640" cy="6858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Fechas, pasajeros, maletas, presupuesto y preferencias</a:t>
            </a:r>
            <a:endParaRPr lang="en-US" sz="1100" dirty="0"/>
          </a:p>
        </p:txBody>
      </p:sp>
      <p:sp>
        <p:nvSpPr>
          <p:cNvPr id="9" name="flecha"/>
          <p:cNvSpPr/>
          <p:nvPr/>
        </p:nvSpPr>
        <p:spPr>
          <a:xfrm>
            <a:off x="2578608" y="2670048"/>
            <a:ext cx="210312" cy="0"/>
          </a:xfrm>
          <a:prstGeom prst="line">
            <a:avLst/>
          </a:prstGeom>
          <a:noFill/>
          <a:ln w="22225">
            <a:solidFill>
              <a:schemeClr val="accent2"/>
            </a:solidFill>
            <a:prstDash val="solid"/>
            <a:tailEnd type="triangle"/>
          </a:ln>
        </p:spPr>
      </p:sp>
      <p:sp>
        <p:nvSpPr>
          <p:cNvPr id="10" name="ia-1"/>
          <p:cNvSpPr/>
          <p:nvPr/>
        </p:nvSpPr>
        <p:spPr>
          <a:xfrm>
            <a:off x="2807208" y="1783080"/>
            <a:ext cx="2011680" cy="1783080"/>
          </a:xfrm>
          <a:prstGeom prst="roundRect">
            <a:avLst>
              <a:gd name="adj" fmla="val 7179"/>
            </a:avLst>
          </a:prstGeom>
          <a:solidFill>
            <a:schemeClr val="tx2"/>
          </a:solidFill>
          <a:ln/>
        </p:spPr>
      </p:sp>
      <p:sp>
        <p:nvSpPr>
          <p:cNvPr id="11" name="icono-MdFilterAlt"/>
          <p:cNvSpPr/>
          <p:nvPr/>
        </p:nvSpPr>
        <p:spPr>
          <a:xfrm>
            <a:off x="2990088" y="1965960"/>
            <a:ext cx="457200" cy="457200"/>
          </a:xfrm>
          <a:prstGeom prst="roundRect">
            <a:avLst>
              <a:gd name="adj" fmla="val 22000"/>
            </a:avLst>
          </a:prstGeom>
          <a:solidFill>
            <a:schemeClr val="accent1"/>
          </a:solidFill>
          <a:ln/>
        </p:spPr>
      </p:sp>
      <p:pic>
        <p:nvPicPr>
          <p:cNvPr id="12" name="glifo-MdFilterAlt" descr="preencoded.png">    </p:cNvPr>
          <p:cNvPicPr>
            <a:picLocks noChangeAspect="1"/>
          </p:cNvPicPr>
          <p:nvPr/>
        </p:nvPicPr>
        <p:blipFill>
          <a:blip r:embed="rId2"/>
          <a:stretch>
            <a:fillRect/>
          </a:stretch>
        </p:blipFill>
        <p:spPr>
          <a:xfrm>
            <a:off x="3081528" y="2057400"/>
            <a:ext cx="274320" cy="274320"/>
          </a:xfrm>
          <a:prstGeom prst="rect">
            <a:avLst/>
          </a:prstGeom>
        </p:spPr>
      </p:pic>
      <p:sp>
        <p:nvSpPr>
          <p:cNvPr id="13" name="Text 9"/>
          <p:cNvSpPr txBox="1"/>
          <p:nvPr/>
        </p:nvSpPr>
        <p:spPr>
          <a:xfrm>
            <a:off x="2990088" y="2542032"/>
            <a:ext cx="169164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Filtro</a:t>
            </a:r>
            <a:endParaRPr lang="en-US" sz="1400" dirty="0"/>
          </a:p>
        </p:txBody>
      </p:sp>
      <p:sp>
        <p:nvSpPr>
          <p:cNvPr id="14" name="Text 10"/>
          <p:cNvSpPr txBox="1"/>
          <p:nvPr/>
        </p:nvSpPr>
        <p:spPr>
          <a:xfrm>
            <a:off x="2990088" y="2834640"/>
            <a:ext cx="1691640" cy="6858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AgendaService deja solo vehículos libres; máx. 20</a:t>
            </a:r>
            <a:endParaRPr lang="en-US" sz="1100" dirty="0"/>
          </a:p>
        </p:txBody>
      </p:sp>
      <p:sp>
        <p:nvSpPr>
          <p:cNvPr id="15" name="flecha"/>
          <p:cNvSpPr/>
          <p:nvPr/>
        </p:nvSpPr>
        <p:spPr>
          <a:xfrm>
            <a:off x="4837176" y="2670048"/>
            <a:ext cx="210312" cy="0"/>
          </a:xfrm>
          <a:prstGeom prst="line">
            <a:avLst/>
          </a:prstGeom>
          <a:noFill/>
          <a:ln w="22225">
            <a:solidFill>
              <a:schemeClr val="accent2"/>
            </a:solidFill>
            <a:prstDash val="solid"/>
            <a:tailEnd type="triangle"/>
          </a:ln>
        </p:spPr>
      </p:sp>
      <p:sp>
        <p:nvSpPr>
          <p:cNvPr id="16" name="ia-2"/>
          <p:cNvSpPr/>
          <p:nvPr/>
        </p:nvSpPr>
        <p:spPr>
          <a:xfrm>
            <a:off x="5065776" y="1783080"/>
            <a:ext cx="2011680" cy="1783080"/>
          </a:xfrm>
          <a:prstGeom prst="roundRect">
            <a:avLst>
              <a:gd name="adj" fmla="val 7179"/>
            </a:avLst>
          </a:prstGeom>
          <a:solidFill>
            <a:schemeClr val="accent1"/>
          </a:solidFill>
          <a:ln/>
        </p:spPr>
      </p:sp>
      <p:sp>
        <p:nvSpPr>
          <p:cNvPr id="17" name="icono-MdAutoAwesome"/>
          <p:cNvSpPr/>
          <p:nvPr/>
        </p:nvSpPr>
        <p:spPr>
          <a:xfrm>
            <a:off x="5248656" y="1965960"/>
            <a:ext cx="457200" cy="457200"/>
          </a:xfrm>
          <a:prstGeom prst="roundRect">
            <a:avLst>
              <a:gd name="adj" fmla="val 22000"/>
            </a:avLst>
          </a:prstGeom>
          <a:solidFill>
            <a:schemeClr val="accent6"/>
          </a:solidFill>
          <a:ln/>
        </p:spPr>
      </p:sp>
      <p:pic>
        <p:nvPicPr>
          <p:cNvPr id="18" name="glifo-MdAutoAwesome" descr="preencoded.png">    </p:cNvPr>
          <p:cNvPicPr>
            <a:picLocks noChangeAspect="1"/>
          </p:cNvPicPr>
          <p:nvPr/>
        </p:nvPicPr>
        <p:blipFill>
          <a:blip r:embed="rId3"/>
          <a:stretch>
            <a:fillRect/>
          </a:stretch>
        </p:blipFill>
        <p:spPr>
          <a:xfrm>
            <a:off x="5340096" y="2057400"/>
            <a:ext cx="274320" cy="274320"/>
          </a:xfrm>
          <a:prstGeom prst="rect">
            <a:avLst/>
          </a:prstGeom>
        </p:spPr>
      </p:pic>
      <p:sp>
        <p:nvSpPr>
          <p:cNvPr id="19" name="Text 14"/>
          <p:cNvSpPr txBox="1"/>
          <p:nvPr/>
        </p:nvSpPr>
        <p:spPr>
          <a:xfrm>
            <a:off x="5248656" y="2542032"/>
            <a:ext cx="169164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OpenAI</a:t>
            </a:r>
            <a:endParaRPr lang="en-US" sz="1400" dirty="0"/>
          </a:p>
        </p:txBody>
      </p:sp>
      <p:sp>
        <p:nvSpPr>
          <p:cNvPr id="20" name="Text 15"/>
          <p:cNvSpPr txBox="1"/>
          <p:nvPr/>
        </p:nvSpPr>
        <p:spPr>
          <a:xfrm>
            <a:off x="5248656" y="2834640"/>
            <a:ext cx="1691640" cy="685800"/>
          </a:xfrm>
          <a:prstGeom prst="rect">
            <a:avLst/>
          </a:prstGeom>
          <a:noFill/>
          <a:ln/>
        </p:spPr>
        <p:txBody>
          <a:bodyPr wrap="square" lIns="0" tIns="0" rIns="0" bIns="0" rtlCol="0" anchor="t"/>
          <a:lstStyle/>
          <a:p>
            <a:pPr indent="0" marL="0">
              <a:buNone/>
            </a:pPr>
            <a:r>
              <a:rPr lang="en-US" sz="1100" dirty="0">
                <a:solidFill>
                  <a:schemeClr val="bg1"/>
                </a:solidFill>
                <a:latin typeface="Segoe UI" pitchFamily="34" charset="0"/>
                <a:ea typeface="Segoe UI" pitchFamily="34" charset="-122"/>
                <a:cs typeface="Segoe UI" pitchFamily="34" charset="-120"/>
              </a:rPr>
              <a:t>API Responses con esquema JSON estricto</a:t>
            </a:r>
            <a:endParaRPr lang="en-US" sz="1100" dirty="0"/>
          </a:p>
        </p:txBody>
      </p:sp>
      <p:sp>
        <p:nvSpPr>
          <p:cNvPr id="21" name="flecha"/>
          <p:cNvSpPr/>
          <p:nvPr/>
        </p:nvSpPr>
        <p:spPr>
          <a:xfrm>
            <a:off x="7095744" y="2670048"/>
            <a:ext cx="210312" cy="0"/>
          </a:xfrm>
          <a:prstGeom prst="line">
            <a:avLst/>
          </a:prstGeom>
          <a:noFill/>
          <a:ln w="22225">
            <a:solidFill>
              <a:schemeClr val="accent2"/>
            </a:solidFill>
            <a:prstDash val="solid"/>
            <a:tailEnd type="triangle"/>
          </a:ln>
        </p:spPr>
      </p:sp>
      <p:sp>
        <p:nvSpPr>
          <p:cNvPr id="22" name="ia-3"/>
          <p:cNvSpPr/>
          <p:nvPr/>
        </p:nvSpPr>
        <p:spPr>
          <a:xfrm>
            <a:off x="7324344" y="1783080"/>
            <a:ext cx="2011680" cy="1783080"/>
          </a:xfrm>
          <a:prstGeom prst="roundRect">
            <a:avLst>
              <a:gd name="adj" fmla="val 7179"/>
            </a:avLst>
          </a:prstGeom>
          <a:solidFill>
            <a:schemeClr val="tx2"/>
          </a:solidFill>
          <a:ln/>
        </p:spPr>
      </p:sp>
      <p:sp>
        <p:nvSpPr>
          <p:cNvPr id="23" name="icono-MdRule"/>
          <p:cNvSpPr/>
          <p:nvPr/>
        </p:nvSpPr>
        <p:spPr>
          <a:xfrm>
            <a:off x="7507224" y="1965960"/>
            <a:ext cx="457200" cy="457200"/>
          </a:xfrm>
          <a:prstGeom prst="roundRect">
            <a:avLst>
              <a:gd name="adj" fmla="val 22000"/>
            </a:avLst>
          </a:prstGeom>
          <a:solidFill>
            <a:schemeClr val="accent1"/>
          </a:solidFill>
          <a:ln/>
        </p:spPr>
      </p:sp>
      <p:pic>
        <p:nvPicPr>
          <p:cNvPr id="24" name="glifo-MdRule" descr="preencoded.png">    </p:cNvPr>
          <p:cNvPicPr>
            <a:picLocks noChangeAspect="1"/>
          </p:cNvPicPr>
          <p:nvPr/>
        </p:nvPicPr>
        <p:blipFill>
          <a:blip r:embed="rId4"/>
          <a:stretch>
            <a:fillRect/>
          </a:stretch>
        </p:blipFill>
        <p:spPr>
          <a:xfrm>
            <a:off x="7598664" y="2057400"/>
            <a:ext cx="274320" cy="274320"/>
          </a:xfrm>
          <a:prstGeom prst="rect">
            <a:avLst/>
          </a:prstGeom>
        </p:spPr>
      </p:pic>
      <p:sp>
        <p:nvSpPr>
          <p:cNvPr id="25" name="Text 19"/>
          <p:cNvSpPr txBox="1"/>
          <p:nvPr/>
        </p:nvSpPr>
        <p:spPr>
          <a:xfrm>
            <a:off x="7507224" y="2542032"/>
            <a:ext cx="169164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Validación</a:t>
            </a:r>
            <a:endParaRPr lang="en-US" sz="1400" dirty="0"/>
          </a:p>
        </p:txBody>
      </p:sp>
      <p:sp>
        <p:nvSpPr>
          <p:cNvPr id="26" name="Text 20"/>
          <p:cNvSpPr txBox="1"/>
          <p:nvPr/>
        </p:nvSpPr>
        <p:spPr>
          <a:xfrm>
            <a:off x="7507224" y="2834640"/>
            <a:ext cx="1691640" cy="6858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1 a 3 sugerencias, IDs dentro de los candidatos</a:t>
            </a:r>
            <a:endParaRPr lang="en-US" sz="1100" dirty="0"/>
          </a:p>
        </p:txBody>
      </p:sp>
      <p:sp>
        <p:nvSpPr>
          <p:cNvPr id="27" name="flecha"/>
          <p:cNvSpPr/>
          <p:nvPr/>
        </p:nvSpPr>
        <p:spPr>
          <a:xfrm>
            <a:off x="9354312" y="2670048"/>
            <a:ext cx="210312" cy="0"/>
          </a:xfrm>
          <a:prstGeom prst="line">
            <a:avLst/>
          </a:prstGeom>
          <a:noFill/>
          <a:ln w="22225">
            <a:solidFill>
              <a:schemeClr val="accent2"/>
            </a:solidFill>
            <a:prstDash val="solid"/>
            <a:tailEnd type="triangle"/>
          </a:ln>
        </p:spPr>
      </p:sp>
      <p:sp>
        <p:nvSpPr>
          <p:cNvPr id="28" name="ia-4"/>
          <p:cNvSpPr/>
          <p:nvPr/>
        </p:nvSpPr>
        <p:spPr>
          <a:xfrm>
            <a:off x="9582912" y="1783080"/>
            <a:ext cx="2011680" cy="1783080"/>
          </a:xfrm>
          <a:prstGeom prst="roundRect">
            <a:avLst>
              <a:gd name="adj" fmla="val 7179"/>
            </a:avLst>
          </a:prstGeom>
          <a:solidFill>
            <a:schemeClr val="tx2"/>
          </a:solidFill>
          <a:ln/>
        </p:spPr>
      </p:sp>
      <p:sp>
        <p:nvSpPr>
          <p:cNvPr id="29" name="icono-MdCheckCircle"/>
          <p:cNvSpPr/>
          <p:nvPr/>
        </p:nvSpPr>
        <p:spPr>
          <a:xfrm>
            <a:off x="9765792" y="1965960"/>
            <a:ext cx="457200" cy="457200"/>
          </a:xfrm>
          <a:prstGeom prst="roundRect">
            <a:avLst>
              <a:gd name="adj" fmla="val 22000"/>
            </a:avLst>
          </a:prstGeom>
          <a:solidFill>
            <a:schemeClr val="accent1"/>
          </a:solidFill>
          <a:ln/>
        </p:spPr>
      </p:sp>
      <p:pic>
        <p:nvPicPr>
          <p:cNvPr id="30" name="glifo-MdCheckCircle" descr="preencoded.png">    </p:cNvPr>
          <p:cNvPicPr>
            <a:picLocks noChangeAspect="1"/>
          </p:cNvPicPr>
          <p:nvPr/>
        </p:nvPicPr>
        <p:blipFill>
          <a:blip r:embed="rId5"/>
          <a:stretch>
            <a:fillRect/>
          </a:stretch>
        </p:blipFill>
        <p:spPr>
          <a:xfrm>
            <a:off x="9857232" y="2057400"/>
            <a:ext cx="274320" cy="274320"/>
          </a:xfrm>
          <a:prstGeom prst="rect">
            <a:avLst/>
          </a:prstGeom>
        </p:spPr>
      </p:pic>
      <p:sp>
        <p:nvSpPr>
          <p:cNvPr id="31" name="Text 24"/>
          <p:cNvSpPr txBox="1"/>
          <p:nvPr/>
        </p:nvSpPr>
        <p:spPr>
          <a:xfrm>
            <a:off x="9765792" y="2542032"/>
            <a:ext cx="1691640" cy="27432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Resultado</a:t>
            </a:r>
            <a:endParaRPr lang="en-US" sz="1400" dirty="0"/>
          </a:p>
        </p:txBody>
      </p:sp>
      <p:sp>
        <p:nvSpPr>
          <p:cNvPr id="32" name="Text 25"/>
          <p:cNvSpPr txBox="1"/>
          <p:nvPr/>
        </p:nvSpPr>
        <p:spPr>
          <a:xfrm>
            <a:off x="9765792" y="2834640"/>
            <a:ext cx="1691640" cy="68580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Tarjetas con motivo y botón Elegir vehículo</a:t>
            </a:r>
            <a:endParaRPr lang="en-US" sz="1100" dirty="0"/>
          </a:p>
        </p:txBody>
      </p:sp>
      <p:sp>
        <p:nvSpPr>
          <p:cNvPr id="33" name="marco-recomendacion"/>
          <p:cNvSpPr/>
          <p:nvPr/>
        </p:nvSpPr>
        <p:spPr>
          <a:xfrm>
            <a:off x="548640" y="3749040"/>
            <a:ext cx="3950208" cy="2510028"/>
          </a:xfrm>
          <a:prstGeom prst="roundRect">
            <a:avLst>
              <a:gd name="adj" fmla="val 3643"/>
            </a:avLst>
          </a:prstGeom>
          <a:solidFill>
            <a:schemeClr val="accent6"/>
          </a:solidFill>
          <a:ln/>
        </p:spPr>
      </p:sp>
      <p:pic>
        <p:nvPicPr>
          <p:cNvPr id="34" name="captura-recomendacion" descr="C:\Users\caleb\AppData\Local\Temp\claude\C--Users-caleb-Documents-Estudios-Universidad-TECNICO-CICLO02-DSP-DSP-Teoria-DSP-Proyecto-Catedra--claude-worktrees-update-project-documentation-92954b\d57d161d-a786-4869-8058-97cb6ca88192\scratchpad\deck\img\recomendacion.jpg">    </p:cNvPr>
          <p:cNvPicPr>
            <a:picLocks noChangeAspect="1"/>
          </p:cNvPicPr>
          <p:nvPr/>
        </p:nvPicPr>
        <p:blipFill>
          <a:blip r:embed="rId6"/>
          <a:stretch>
            <a:fillRect/>
          </a:stretch>
        </p:blipFill>
        <p:spPr>
          <a:xfrm>
            <a:off x="603504" y="3803904"/>
            <a:ext cx="3840480" cy="2400300"/>
          </a:xfrm>
          <a:prstGeom prst="rect">
            <a:avLst/>
          </a:prstGeom>
        </p:spPr>
      </p:pic>
      <p:sp>
        <p:nvSpPr>
          <p:cNvPr id="35" name="respaldo"/>
          <p:cNvSpPr/>
          <p:nvPr/>
        </p:nvSpPr>
        <p:spPr>
          <a:xfrm>
            <a:off x="4709160" y="3749040"/>
            <a:ext cx="3383280" cy="2423160"/>
          </a:xfrm>
          <a:prstGeom prst="roundRect">
            <a:avLst>
              <a:gd name="adj" fmla="val 5283"/>
            </a:avLst>
          </a:prstGeom>
          <a:solidFill>
            <a:schemeClr val="accent6"/>
          </a:solidFill>
          <a:ln/>
        </p:spPr>
      </p:sp>
      <p:sp>
        <p:nvSpPr>
          <p:cNvPr id="36" name="Text 28"/>
          <p:cNvSpPr txBox="1"/>
          <p:nvPr/>
        </p:nvSpPr>
        <p:spPr>
          <a:xfrm>
            <a:off x="4937760" y="3886200"/>
            <a:ext cx="3017520" cy="365760"/>
          </a:xfrm>
          <a:prstGeom prst="rect">
            <a:avLst/>
          </a:prstGeom>
          <a:noFill/>
          <a:ln/>
        </p:spPr>
        <p:txBody>
          <a:bodyPr wrap="square" lIns="0" tIns="0" rIns="0" bIns="0" rtlCol="0" anchor="t"/>
          <a:lstStyle/>
          <a:p>
            <a:pPr indent="0" marL="0">
              <a:buNone/>
            </a:pPr>
            <a:r>
              <a:rPr lang="en-US" sz="1900" dirty="0">
                <a:solidFill>
                  <a:schemeClr val="bg1"/>
                </a:solidFill>
                <a:latin typeface="Bahnschrift SemiBold Condensed" pitchFamily="34" charset="0"/>
                <a:ea typeface="Bahnschrift SemiBold Condensed" pitchFamily="34" charset="-122"/>
                <a:cs typeface="Bahnschrift SemiBold Condensed" pitchFamily="34" charset="-120"/>
              </a:rPr>
              <a:t>RESPALDO POR REGLAS</a:t>
            </a:r>
            <a:endParaRPr lang="en-US" sz="1900" dirty="0"/>
          </a:p>
        </p:txBody>
      </p:sp>
      <p:sp>
        <p:nvSpPr>
          <p:cNvPr id="37" name="Text 29"/>
          <p:cNvSpPr txBox="1"/>
          <p:nvPr/>
        </p:nvSpPr>
        <p:spPr>
          <a:xfrm>
            <a:off x="4937760" y="4279392"/>
            <a:ext cx="2971800" cy="1783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Sin clave, con error, respuesta inválida o más de 30 s de espera: muestra los tres candidatos más económicos con el origen Reglas (sin IA). La pantalla siempre dice el origen.</a:t>
            </a:r>
            <a:endParaRPr lang="en-US" sz="1200" dirty="0"/>
          </a:p>
        </p:txBody>
      </p:sp>
      <p:sp>
        <p:nvSpPr>
          <p:cNvPr id="38" name="hint"/>
          <p:cNvSpPr/>
          <p:nvPr/>
        </p:nvSpPr>
        <p:spPr>
          <a:xfrm>
            <a:off x="8321040" y="3749040"/>
            <a:ext cx="3319272" cy="2423160"/>
          </a:xfrm>
          <a:prstGeom prst="roundRect">
            <a:avLst>
              <a:gd name="adj" fmla="val 5283"/>
            </a:avLst>
          </a:prstGeom>
          <a:solidFill>
            <a:schemeClr val="accent6"/>
          </a:solidFill>
          <a:ln/>
        </p:spPr>
      </p:sp>
      <p:sp>
        <p:nvSpPr>
          <p:cNvPr id="39" name="icono-MdLightbulb"/>
          <p:cNvSpPr/>
          <p:nvPr/>
        </p:nvSpPr>
        <p:spPr>
          <a:xfrm>
            <a:off x="8503920" y="3931920"/>
            <a:ext cx="384048" cy="384048"/>
          </a:xfrm>
          <a:prstGeom prst="roundRect">
            <a:avLst>
              <a:gd name="adj" fmla="val 22000"/>
            </a:avLst>
          </a:prstGeom>
          <a:solidFill>
            <a:schemeClr val="accent1"/>
          </a:solidFill>
          <a:ln/>
        </p:spPr>
      </p:sp>
      <p:pic>
        <p:nvPicPr>
          <p:cNvPr id="40" name="glifo-MdLightbulb" descr="preencoded.png">    </p:cNvPr>
          <p:cNvPicPr>
            <a:picLocks noChangeAspect="1"/>
          </p:cNvPicPr>
          <p:nvPr/>
        </p:nvPicPr>
        <p:blipFill>
          <a:blip r:embed="rId7"/>
          <a:stretch>
            <a:fillRect/>
          </a:stretch>
        </p:blipFill>
        <p:spPr>
          <a:xfrm>
            <a:off x="8580730" y="4008730"/>
            <a:ext cx="230429" cy="230429"/>
          </a:xfrm>
          <a:prstGeom prst="rect">
            <a:avLst/>
          </a:prstGeom>
        </p:spPr>
      </p:pic>
      <p:sp>
        <p:nvSpPr>
          <p:cNvPr id="41" name="Text 32"/>
          <p:cNvSpPr txBox="1"/>
          <p:nvPr/>
        </p:nvSpPr>
        <p:spPr>
          <a:xfrm>
            <a:off x="9034272" y="3904488"/>
            <a:ext cx="242316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STRUCTURED OUTPUTS</a:t>
            </a:r>
            <a:endParaRPr lang="en-US" sz="1050" dirty="0"/>
          </a:p>
        </p:txBody>
      </p:sp>
      <p:sp>
        <p:nvSpPr>
          <p:cNvPr id="42" name="Text 33"/>
          <p:cNvSpPr txBox="1"/>
          <p:nvPr/>
        </p:nvSpPr>
        <p:spPr>
          <a:xfrm>
            <a:off x="9034272" y="4206240"/>
            <a:ext cx="2423160" cy="185623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Se exige al modelo responder con un esquema JSON fijo (vehiculoId y motivo). El servidor puede validarlo y descartar IDs inventados. Las preferencias se tratan como datos, no como órdenes.</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SEGURIDAD Y MANEJO DE ERRORES</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SEGURO POR DEFECTO, CLARO CUANDO ALGO FALLA</a:t>
            </a:r>
            <a:endParaRPr lang="en-US" sz="3800" dirty="0"/>
          </a:p>
        </p:txBody>
      </p:sp>
      <p:sp>
        <p:nvSpPr>
          <p:cNvPr id="4" name="card"/>
          <p:cNvSpPr/>
          <p:nvPr/>
        </p:nvSpPr>
        <p:spPr>
          <a:xfrm>
            <a:off x="548640" y="1783080"/>
            <a:ext cx="6035040" cy="4389120"/>
          </a:xfrm>
          <a:prstGeom prst="roundRect">
            <a:avLst>
              <a:gd name="adj" fmla="val 2917"/>
            </a:avLst>
          </a:prstGeom>
          <a:solidFill>
            <a:schemeClr val="tx2"/>
          </a:solidFill>
          <a:ln/>
        </p:spPr>
      </p:sp>
      <p:sp>
        <p:nvSpPr>
          <p:cNvPr id="5" name="Text 3"/>
          <p:cNvSpPr txBox="1"/>
          <p:nvPr/>
        </p:nvSpPr>
        <p:spPr>
          <a:xfrm>
            <a:off x="777240" y="1920240"/>
            <a:ext cx="5486400" cy="365760"/>
          </a:xfrm>
          <a:prstGeom prst="rect">
            <a:avLst/>
          </a:prstGeom>
          <a:noFill/>
          <a:ln/>
        </p:spPr>
        <p:txBody>
          <a:bodyPr wrap="square" lIns="0" tIns="0" rIns="0" bIns="0" rtlCol="0" anchor="t"/>
          <a:lstStyle/>
          <a:p>
            <a:pPr indent="0" marL="0">
              <a:buNone/>
            </a:pPr>
            <a:r>
              <a:rPr lang="en-US" sz="2000" dirty="0">
                <a:solidFill>
                  <a:schemeClr val="bg1"/>
                </a:solidFill>
                <a:latin typeface="Bahnschrift SemiBold Condensed" pitchFamily="34" charset="0"/>
                <a:ea typeface="Bahnschrift SemiBold Condensed" pitchFamily="34" charset="-122"/>
                <a:cs typeface="Bahnschrift SemiBold Condensed" pitchFamily="34" charset="-120"/>
              </a:rPr>
              <a:t>SEGURIDAD</a:t>
            </a:r>
            <a:endParaRPr lang="en-US" sz="2000" dirty="0"/>
          </a:p>
        </p:txBody>
      </p:sp>
      <p:sp>
        <p:nvSpPr>
          <p:cNvPr id="6" name="icono-MdLock"/>
          <p:cNvSpPr/>
          <p:nvPr/>
        </p:nvSpPr>
        <p:spPr>
          <a:xfrm>
            <a:off x="777240" y="2395728"/>
            <a:ext cx="420624" cy="420624"/>
          </a:xfrm>
          <a:prstGeom prst="roundRect">
            <a:avLst>
              <a:gd name="adj" fmla="val 22000"/>
            </a:avLst>
          </a:prstGeom>
          <a:solidFill>
            <a:schemeClr val="accent6"/>
          </a:solidFill>
          <a:ln/>
        </p:spPr>
      </p:sp>
      <p:pic>
        <p:nvPicPr>
          <p:cNvPr id="7" name="glifo-MdLock" descr="preencoded.png">    </p:cNvPr>
          <p:cNvPicPr>
            <a:picLocks noChangeAspect="1"/>
          </p:cNvPicPr>
          <p:nvPr/>
        </p:nvPicPr>
        <p:blipFill>
          <a:blip r:embed="rId1"/>
          <a:stretch>
            <a:fillRect/>
          </a:stretch>
        </p:blipFill>
        <p:spPr>
          <a:xfrm>
            <a:off x="861365" y="2479853"/>
            <a:ext cx="252374" cy="252374"/>
          </a:xfrm>
          <a:prstGeom prst="rect">
            <a:avLst/>
          </a:prstGeom>
        </p:spPr>
      </p:pic>
      <p:sp>
        <p:nvSpPr>
          <p:cNvPr id="8" name="Text 5"/>
          <p:cNvSpPr txBox="1"/>
          <p:nvPr/>
        </p:nvSpPr>
        <p:spPr>
          <a:xfrm>
            <a:off x="1371600" y="2395728"/>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Contraseñas con hash y bloqueo de 10 min tras 5 intentos fallidos</a:t>
            </a:r>
            <a:endParaRPr lang="en-US" sz="1250" dirty="0"/>
          </a:p>
        </p:txBody>
      </p:sp>
      <p:sp>
        <p:nvSpPr>
          <p:cNvPr id="9" name="icono-MdAdminPanelSettings"/>
          <p:cNvSpPr/>
          <p:nvPr/>
        </p:nvSpPr>
        <p:spPr>
          <a:xfrm>
            <a:off x="777240" y="3008376"/>
            <a:ext cx="420624" cy="420624"/>
          </a:xfrm>
          <a:prstGeom prst="roundRect">
            <a:avLst>
              <a:gd name="adj" fmla="val 22000"/>
            </a:avLst>
          </a:prstGeom>
          <a:solidFill>
            <a:schemeClr val="accent6"/>
          </a:solidFill>
          <a:ln/>
        </p:spPr>
      </p:sp>
      <p:pic>
        <p:nvPicPr>
          <p:cNvPr id="10" name="glifo-MdAdminPanelSettings" descr="preencoded.png">    </p:cNvPr>
          <p:cNvPicPr>
            <a:picLocks noChangeAspect="1"/>
          </p:cNvPicPr>
          <p:nvPr/>
        </p:nvPicPr>
        <p:blipFill>
          <a:blip r:embed="rId2"/>
          <a:stretch>
            <a:fillRect/>
          </a:stretch>
        </p:blipFill>
        <p:spPr>
          <a:xfrm>
            <a:off x="861365" y="3092501"/>
            <a:ext cx="252374" cy="252374"/>
          </a:xfrm>
          <a:prstGeom prst="rect">
            <a:avLst/>
          </a:prstGeom>
        </p:spPr>
      </p:pic>
      <p:sp>
        <p:nvSpPr>
          <p:cNvPr id="11" name="Text 7"/>
          <p:cNvSpPr txBox="1"/>
          <p:nvPr/>
        </p:nvSpPr>
        <p:spPr>
          <a:xfrm>
            <a:off x="1371600" y="3008376"/>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Roles: Administrador y Empleado; eliminar y administrar exige Administrador</a:t>
            </a:r>
            <a:endParaRPr lang="en-US" sz="1250" dirty="0"/>
          </a:p>
        </p:txBody>
      </p:sp>
      <p:sp>
        <p:nvSpPr>
          <p:cNvPr id="12" name="icono-MdShield"/>
          <p:cNvSpPr/>
          <p:nvPr/>
        </p:nvSpPr>
        <p:spPr>
          <a:xfrm>
            <a:off x="777240" y="3621024"/>
            <a:ext cx="420624" cy="420624"/>
          </a:xfrm>
          <a:prstGeom prst="roundRect">
            <a:avLst>
              <a:gd name="adj" fmla="val 22000"/>
            </a:avLst>
          </a:prstGeom>
          <a:solidFill>
            <a:schemeClr val="accent6"/>
          </a:solidFill>
          <a:ln/>
        </p:spPr>
      </p:sp>
      <p:pic>
        <p:nvPicPr>
          <p:cNvPr id="13" name="glifo-MdShield" descr="preencoded.png">    </p:cNvPr>
          <p:cNvPicPr>
            <a:picLocks noChangeAspect="1"/>
          </p:cNvPicPr>
          <p:nvPr/>
        </p:nvPicPr>
        <p:blipFill>
          <a:blip r:embed="rId3"/>
          <a:stretch>
            <a:fillRect/>
          </a:stretch>
        </p:blipFill>
        <p:spPr>
          <a:xfrm>
            <a:off x="861365" y="3705149"/>
            <a:ext cx="252374" cy="252374"/>
          </a:xfrm>
          <a:prstGeom prst="rect">
            <a:avLst/>
          </a:prstGeom>
        </p:spPr>
      </p:pic>
      <p:sp>
        <p:nvSpPr>
          <p:cNvPr id="14" name="Text 9"/>
          <p:cNvSpPr txBox="1"/>
          <p:nvPr/>
        </p:nvSpPr>
        <p:spPr>
          <a:xfrm>
            <a:off x="1371600" y="3621024"/>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Token antifalsificación en todas las peticiones POST</a:t>
            </a:r>
            <a:endParaRPr lang="en-US" sz="1250" dirty="0"/>
          </a:p>
        </p:txBody>
      </p:sp>
      <p:sp>
        <p:nvSpPr>
          <p:cNvPr id="15" name="icono-MdSpeed"/>
          <p:cNvSpPr/>
          <p:nvPr/>
        </p:nvSpPr>
        <p:spPr>
          <a:xfrm>
            <a:off x="777240" y="4233672"/>
            <a:ext cx="420624" cy="420624"/>
          </a:xfrm>
          <a:prstGeom prst="roundRect">
            <a:avLst>
              <a:gd name="adj" fmla="val 22000"/>
            </a:avLst>
          </a:prstGeom>
          <a:solidFill>
            <a:schemeClr val="accent6"/>
          </a:solidFill>
          <a:ln/>
        </p:spPr>
      </p:sp>
      <p:pic>
        <p:nvPicPr>
          <p:cNvPr id="16" name="glifo-MdSpeed" descr="preencoded.png">    </p:cNvPr>
          <p:cNvPicPr>
            <a:picLocks noChangeAspect="1"/>
          </p:cNvPicPr>
          <p:nvPr/>
        </p:nvPicPr>
        <p:blipFill>
          <a:blip r:embed="rId4"/>
          <a:stretch>
            <a:fillRect/>
          </a:stretch>
        </p:blipFill>
        <p:spPr>
          <a:xfrm>
            <a:off x="861365" y="4317797"/>
            <a:ext cx="252374" cy="252374"/>
          </a:xfrm>
          <a:prstGeom prst="rect">
            <a:avLst/>
          </a:prstGeom>
        </p:spPr>
      </p:pic>
      <p:sp>
        <p:nvSpPr>
          <p:cNvPr id="17" name="Text 11"/>
          <p:cNvSpPr txBox="1"/>
          <p:nvPr/>
        </p:nvSpPr>
        <p:spPr>
          <a:xfrm>
            <a:off x="1371600" y="4233672"/>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Límites: 20 intentos de acceso por minuto por IP y 10 consultas IA por usuario</a:t>
            </a:r>
            <a:endParaRPr lang="en-US" sz="1250" dirty="0"/>
          </a:p>
        </p:txBody>
      </p:sp>
      <p:sp>
        <p:nvSpPr>
          <p:cNvPr id="18" name="icono-MdCookie"/>
          <p:cNvSpPr/>
          <p:nvPr/>
        </p:nvSpPr>
        <p:spPr>
          <a:xfrm>
            <a:off x="777240" y="4846320"/>
            <a:ext cx="420624" cy="420624"/>
          </a:xfrm>
          <a:prstGeom prst="roundRect">
            <a:avLst>
              <a:gd name="adj" fmla="val 22000"/>
            </a:avLst>
          </a:prstGeom>
          <a:solidFill>
            <a:schemeClr val="accent6"/>
          </a:solidFill>
          <a:ln/>
        </p:spPr>
      </p:sp>
      <p:pic>
        <p:nvPicPr>
          <p:cNvPr id="19" name="glifo-MdCookie" descr="preencoded.png">    </p:cNvPr>
          <p:cNvPicPr>
            <a:picLocks noChangeAspect="1"/>
          </p:cNvPicPr>
          <p:nvPr/>
        </p:nvPicPr>
        <p:blipFill>
          <a:blip r:embed="rId5"/>
          <a:stretch>
            <a:fillRect/>
          </a:stretch>
        </p:blipFill>
        <p:spPr>
          <a:xfrm>
            <a:off x="861365" y="4930445"/>
            <a:ext cx="252374" cy="252374"/>
          </a:xfrm>
          <a:prstGeom prst="rect">
            <a:avLst/>
          </a:prstGeom>
        </p:spPr>
      </p:pic>
      <p:sp>
        <p:nvSpPr>
          <p:cNvPr id="20" name="Text 13"/>
          <p:cNvSpPr txBox="1"/>
          <p:nvPr/>
        </p:nvSpPr>
        <p:spPr>
          <a:xfrm>
            <a:off x="1371600" y="4846320"/>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Cookie HttpOnly y SameSite=Lax con expiración de 8 horas</a:t>
            </a:r>
            <a:endParaRPr lang="en-US" sz="1250" dirty="0"/>
          </a:p>
        </p:txBody>
      </p:sp>
      <p:sp>
        <p:nvSpPr>
          <p:cNvPr id="21" name="icono-MdImage"/>
          <p:cNvSpPr/>
          <p:nvPr/>
        </p:nvSpPr>
        <p:spPr>
          <a:xfrm>
            <a:off x="777240" y="5458968"/>
            <a:ext cx="420624" cy="420624"/>
          </a:xfrm>
          <a:prstGeom prst="roundRect">
            <a:avLst>
              <a:gd name="adj" fmla="val 22000"/>
            </a:avLst>
          </a:prstGeom>
          <a:solidFill>
            <a:schemeClr val="accent6"/>
          </a:solidFill>
          <a:ln/>
        </p:spPr>
      </p:sp>
      <p:pic>
        <p:nvPicPr>
          <p:cNvPr id="22" name="glifo-MdImage" descr="preencoded.png">    </p:cNvPr>
          <p:cNvPicPr>
            <a:picLocks noChangeAspect="1"/>
          </p:cNvPicPr>
          <p:nvPr/>
        </p:nvPicPr>
        <p:blipFill>
          <a:blip r:embed="rId6"/>
          <a:stretch>
            <a:fillRect/>
          </a:stretch>
        </p:blipFill>
        <p:spPr>
          <a:xfrm>
            <a:off x="861365" y="5543093"/>
            <a:ext cx="252374" cy="252374"/>
          </a:xfrm>
          <a:prstGeom prst="rect">
            <a:avLst/>
          </a:prstGeom>
        </p:spPr>
      </p:pic>
      <p:sp>
        <p:nvSpPr>
          <p:cNvPr id="23" name="Text 15"/>
          <p:cNvSpPr txBox="1"/>
          <p:nvPr/>
        </p:nvSpPr>
        <p:spPr>
          <a:xfrm>
            <a:off x="1371600" y="5458968"/>
            <a:ext cx="5029200" cy="420624"/>
          </a:xfrm>
          <a:prstGeom prst="rect">
            <a:avLst/>
          </a:prstGeom>
          <a:noFill/>
          <a:ln/>
        </p:spPr>
        <p:txBody>
          <a:bodyPr wrap="square" lIns="0" tIns="0" rIns="0" bIns="0" rtlCol="0" anchor="ctr"/>
          <a:lstStyle/>
          <a:p>
            <a:pPr indent="0" marL="0">
              <a:buNone/>
            </a:pPr>
            <a:r>
              <a:rPr lang="en-US" sz="1250" dirty="0">
                <a:solidFill>
                  <a:schemeClr val="bg1"/>
                </a:solidFill>
                <a:latin typeface="Segoe UI" pitchFamily="34" charset="0"/>
                <a:ea typeface="Segoe UI" pitchFamily="34" charset="-122"/>
                <a:cs typeface="Segoe UI" pitchFamily="34" charset="-120"/>
              </a:rPr>
              <a:t>Fotos validadas por sus primeros bytes, máximo 2 MB, nombre aleatorio</a:t>
            </a:r>
            <a:endParaRPr lang="en-US" sz="1250" dirty="0"/>
          </a:p>
        </p:txBody>
      </p:sp>
      <p:sp>
        <p:nvSpPr>
          <p:cNvPr id="24" name="card"/>
          <p:cNvSpPr/>
          <p:nvPr/>
        </p:nvSpPr>
        <p:spPr>
          <a:xfrm>
            <a:off x="6812280" y="1783080"/>
            <a:ext cx="4828032" cy="2606040"/>
          </a:xfrm>
          <a:prstGeom prst="roundRect">
            <a:avLst>
              <a:gd name="adj" fmla="val 4912"/>
            </a:avLst>
          </a:prstGeom>
          <a:solidFill>
            <a:schemeClr val="tx2"/>
          </a:solidFill>
          <a:ln/>
        </p:spPr>
      </p:sp>
      <p:sp>
        <p:nvSpPr>
          <p:cNvPr id="25" name="Text 17"/>
          <p:cNvSpPr txBox="1"/>
          <p:nvPr/>
        </p:nvSpPr>
        <p:spPr>
          <a:xfrm>
            <a:off x="7040880" y="1920240"/>
            <a:ext cx="4389120" cy="365760"/>
          </a:xfrm>
          <a:prstGeom prst="rect">
            <a:avLst/>
          </a:prstGeom>
          <a:noFill/>
          <a:ln/>
        </p:spPr>
        <p:txBody>
          <a:bodyPr wrap="square" lIns="0" tIns="0" rIns="0" bIns="0" rtlCol="0" anchor="t"/>
          <a:lstStyle/>
          <a:p>
            <a:pPr indent="0" marL="0">
              <a:buNone/>
            </a:pPr>
            <a:r>
              <a:rPr lang="en-US" sz="2000" dirty="0">
                <a:solidFill>
                  <a:schemeClr val="bg1"/>
                </a:solidFill>
                <a:latin typeface="Bahnschrift SemiBold Condensed" pitchFamily="34" charset="0"/>
                <a:ea typeface="Bahnschrift SemiBold Condensed" pitchFamily="34" charset="-122"/>
                <a:cs typeface="Bahnschrift SemiBold Condensed" pitchFamily="34" charset="-120"/>
              </a:rPr>
              <a:t>MANEJO DE ERRORES</a:t>
            </a:r>
            <a:endParaRPr lang="en-US" sz="2000" dirty="0"/>
          </a:p>
        </p:txBody>
      </p:sp>
      <p:sp>
        <p:nvSpPr>
          <p:cNvPr id="26" name="Text 18"/>
          <p:cNvSpPr txBox="1"/>
          <p:nvPr/>
        </p:nvSpPr>
        <p:spPr>
          <a:xfrm>
            <a:off x="7040880" y="2377440"/>
            <a:ext cx="4434840" cy="19202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1"/>
                </a:solidFill>
                <a:latin typeface="Segoe UI" pitchFamily="34" charset="0"/>
                <a:ea typeface="Segoe UI" pitchFamily="34" charset="-122"/>
                <a:cs typeface="Segoe UI" pitchFamily="34" charset="-120"/>
              </a:rPr>
              <a:t>ReglaNegocioException: el mensaje aparece sobre el formulario sin perder lo escrito</a:t>
            </a:r>
            <a:endParaRPr lang="en-US" sz="1250" dirty="0"/>
          </a:p>
          <a:p>
            <a:pPr marL="342900" indent="-342900">
              <a:spcAft>
                <a:spcPts val="400"/>
              </a:spcAft>
              <a:buSzPct val="100000"/>
              <a:buChar char="•"/>
            </a:pPr>
            <a:r>
              <a:rPr lang="en-US" sz="1250" dirty="0">
                <a:solidFill>
                  <a:schemeClr val="bg1"/>
                </a:solidFill>
                <a:latin typeface="Segoe UI" pitchFamily="34" charset="0"/>
                <a:ea typeface="Segoe UI" pitchFamily="34" charset="-122"/>
                <a:cs typeface="Segoe UI" pitchFamily="34" charset="-120"/>
              </a:rPr>
              <a:t>Conflicto de rowversion: pide recargar en lugar de sobrescribir</a:t>
            </a:r>
            <a:endParaRPr lang="en-US" sz="1250" dirty="0"/>
          </a:p>
          <a:p>
            <a:pPr marL="342900" indent="-342900">
              <a:spcAft>
                <a:spcPts val="400"/>
              </a:spcAft>
              <a:buSzPct val="100000"/>
              <a:buChar char="•"/>
            </a:pPr>
            <a:r>
              <a:rPr lang="en-US" sz="1250" dirty="0">
                <a:solidFill>
                  <a:schemeClr val="bg1"/>
                </a:solidFill>
                <a:latin typeface="Segoe UI" pitchFamily="34" charset="0"/>
                <a:ea typeface="Segoe UI" pitchFamily="34" charset="-122"/>
                <a:cs typeface="Segoe UI" pitchFamily="34" charset="-120"/>
              </a:rPr>
              <a:t>Errores no previstos: página con código de referencia, sin detalles internos</a:t>
            </a:r>
            <a:endParaRPr lang="en-US" sz="1250" dirty="0"/>
          </a:p>
        </p:txBody>
      </p:sp>
      <p:sp>
        <p:nvSpPr>
          <p:cNvPr id="27" name="hint"/>
          <p:cNvSpPr/>
          <p:nvPr/>
        </p:nvSpPr>
        <p:spPr>
          <a:xfrm>
            <a:off x="6812280" y="4572000"/>
            <a:ext cx="4828032" cy="1600200"/>
          </a:xfrm>
          <a:prstGeom prst="roundRect">
            <a:avLst>
              <a:gd name="adj" fmla="val 8000"/>
            </a:avLst>
          </a:prstGeom>
          <a:solidFill>
            <a:schemeClr val="accent6"/>
          </a:solidFill>
          <a:ln/>
        </p:spPr>
      </p:sp>
      <p:sp>
        <p:nvSpPr>
          <p:cNvPr id="28" name="icono-MdLightbulb"/>
          <p:cNvSpPr/>
          <p:nvPr/>
        </p:nvSpPr>
        <p:spPr>
          <a:xfrm>
            <a:off x="6995160" y="4754880"/>
            <a:ext cx="384048" cy="384048"/>
          </a:xfrm>
          <a:prstGeom prst="roundRect">
            <a:avLst>
              <a:gd name="adj" fmla="val 22000"/>
            </a:avLst>
          </a:prstGeom>
          <a:solidFill>
            <a:schemeClr val="accent1"/>
          </a:solidFill>
          <a:ln/>
        </p:spPr>
      </p:sp>
      <p:pic>
        <p:nvPicPr>
          <p:cNvPr id="29" name="glifo-MdLightbulb" descr="preencoded.png">    </p:cNvPr>
          <p:cNvPicPr>
            <a:picLocks noChangeAspect="1"/>
          </p:cNvPicPr>
          <p:nvPr/>
        </p:nvPicPr>
        <p:blipFill>
          <a:blip r:embed="rId7"/>
          <a:stretch>
            <a:fillRect/>
          </a:stretch>
        </p:blipFill>
        <p:spPr>
          <a:xfrm>
            <a:off x="7071970" y="4831690"/>
            <a:ext cx="230429" cy="230429"/>
          </a:xfrm>
          <a:prstGeom prst="rect">
            <a:avLst/>
          </a:prstGeom>
        </p:spPr>
      </p:pic>
      <p:sp>
        <p:nvSpPr>
          <p:cNvPr id="30" name="Text 21"/>
          <p:cNvSpPr txBox="1"/>
          <p:nvPr/>
        </p:nvSpPr>
        <p:spPr>
          <a:xfrm>
            <a:off x="7525512" y="4727448"/>
            <a:ext cx="393192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CSRF</a:t>
            </a:r>
            <a:endParaRPr lang="en-US" sz="1050" dirty="0"/>
          </a:p>
        </p:txBody>
      </p:sp>
      <p:sp>
        <p:nvSpPr>
          <p:cNvPr id="31" name="Text 22"/>
          <p:cNvSpPr txBox="1"/>
          <p:nvPr/>
        </p:nvSpPr>
        <p:spPr>
          <a:xfrm>
            <a:off x="7525512" y="5029200"/>
            <a:ext cx="3931920" cy="103327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Cross-Site Request Forgery: un sitio ajeno intenta enviar un formulario en nombre del usuario. El token antifalsificación lo impide.</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CONTENERIZACIÓN</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TODO EL SISTEMA CON UN SOLO COMANDO</a:t>
            </a:r>
            <a:endParaRPr lang="en-US" sz="3800" dirty="0"/>
          </a:p>
        </p:txBody>
      </p:sp>
      <p:sp>
        <p:nvSpPr>
          <p:cNvPr id="4" name="servicio-database"/>
          <p:cNvSpPr/>
          <p:nvPr/>
        </p:nvSpPr>
        <p:spPr>
          <a:xfrm>
            <a:off x="548640" y="1783080"/>
            <a:ext cx="3566160" cy="1645920"/>
          </a:xfrm>
          <a:prstGeom prst="roundRect">
            <a:avLst>
              <a:gd name="adj" fmla="val 7778"/>
            </a:avLst>
          </a:prstGeom>
          <a:solidFill>
            <a:schemeClr val="tx2"/>
          </a:solidFill>
          <a:ln/>
        </p:spPr>
      </p:sp>
      <p:sp>
        <p:nvSpPr>
          <p:cNvPr id="5" name="icono-MdDns"/>
          <p:cNvSpPr/>
          <p:nvPr/>
        </p:nvSpPr>
        <p:spPr>
          <a:xfrm>
            <a:off x="777240" y="2011680"/>
            <a:ext cx="548640" cy="548640"/>
          </a:xfrm>
          <a:prstGeom prst="roundRect">
            <a:avLst>
              <a:gd name="adj" fmla="val 22000"/>
            </a:avLst>
          </a:prstGeom>
          <a:solidFill>
            <a:schemeClr val="accent1"/>
          </a:solidFill>
          <a:ln/>
        </p:spPr>
      </p:sp>
      <p:pic>
        <p:nvPicPr>
          <p:cNvPr id="6" name="glifo-MdDns" descr="preencoded.png">    </p:cNvPr>
          <p:cNvPicPr>
            <a:picLocks noChangeAspect="1"/>
          </p:cNvPicPr>
          <p:nvPr/>
        </p:nvPicPr>
        <p:blipFill>
          <a:blip r:embed="rId1"/>
          <a:stretch>
            <a:fillRect/>
          </a:stretch>
        </p:blipFill>
        <p:spPr>
          <a:xfrm>
            <a:off x="886968" y="2121408"/>
            <a:ext cx="329184" cy="329184"/>
          </a:xfrm>
          <a:prstGeom prst="rect">
            <a:avLst/>
          </a:prstGeom>
        </p:spPr>
      </p:pic>
      <p:sp>
        <p:nvSpPr>
          <p:cNvPr id="7" name="Text 4"/>
          <p:cNvSpPr txBox="1"/>
          <p:nvPr/>
        </p:nvSpPr>
        <p:spPr>
          <a:xfrm>
            <a:off x="1508760" y="2011680"/>
            <a:ext cx="2468880" cy="292608"/>
          </a:xfrm>
          <a:prstGeom prst="rect">
            <a:avLst/>
          </a:prstGeom>
          <a:noFill/>
          <a:ln/>
        </p:spPr>
        <p:txBody>
          <a:bodyPr wrap="square" lIns="0" tIns="0" rIns="0" bIns="0" rtlCol="0" anchor="t"/>
          <a:lstStyle/>
          <a:p>
            <a:pPr indent="0" marL="0">
              <a:buNone/>
            </a:pPr>
            <a:r>
              <a:rPr lang="en-US" sz="1600" b="1" dirty="0">
                <a:solidFill>
                  <a:schemeClr val="bg1"/>
                </a:solidFill>
                <a:latin typeface="Consolas" pitchFamily="34" charset="0"/>
                <a:ea typeface="Consolas" pitchFamily="34" charset="-122"/>
                <a:cs typeface="Consolas" pitchFamily="34" charset="-120"/>
              </a:rPr>
              <a:t>database</a:t>
            </a:r>
            <a:endParaRPr lang="en-US" sz="1600" dirty="0"/>
          </a:p>
        </p:txBody>
      </p:sp>
      <p:sp>
        <p:nvSpPr>
          <p:cNvPr id="8" name="Text 5"/>
          <p:cNvSpPr txBox="1"/>
          <p:nvPr/>
        </p:nvSpPr>
        <p:spPr>
          <a:xfrm>
            <a:off x="1508760" y="2304288"/>
            <a:ext cx="2468880" cy="27432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SQL Server 2025 Developer</a:t>
            </a:r>
            <a:endParaRPr lang="en-US" sz="1150" dirty="0"/>
          </a:p>
        </p:txBody>
      </p:sp>
      <p:sp>
        <p:nvSpPr>
          <p:cNvPr id="9" name="Text 6"/>
          <p:cNvSpPr txBox="1"/>
          <p:nvPr/>
        </p:nvSpPr>
        <p:spPr>
          <a:xfrm>
            <a:off x="777240" y="2743200"/>
            <a:ext cx="3154680" cy="566928"/>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Healthcheck con sqlcmd · volumen sql-data</a:t>
            </a:r>
            <a:endParaRPr lang="en-US" sz="1200" dirty="0"/>
          </a:p>
        </p:txBody>
      </p:sp>
      <p:sp>
        <p:nvSpPr>
          <p:cNvPr id="10" name="servicio-web"/>
          <p:cNvSpPr/>
          <p:nvPr/>
        </p:nvSpPr>
        <p:spPr>
          <a:xfrm>
            <a:off x="4297680" y="1783080"/>
            <a:ext cx="3566160" cy="1645920"/>
          </a:xfrm>
          <a:prstGeom prst="roundRect">
            <a:avLst>
              <a:gd name="adj" fmla="val 7778"/>
            </a:avLst>
          </a:prstGeom>
          <a:solidFill>
            <a:schemeClr val="accent1"/>
          </a:solidFill>
          <a:ln/>
        </p:spPr>
      </p:sp>
      <p:sp>
        <p:nvSpPr>
          <p:cNvPr id="11" name="icono-MdWeb"/>
          <p:cNvSpPr/>
          <p:nvPr/>
        </p:nvSpPr>
        <p:spPr>
          <a:xfrm>
            <a:off x="4526280" y="2011680"/>
            <a:ext cx="548640" cy="548640"/>
          </a:xfrm>
          <a:prstGeom prst="roundRect">
            <a:avLst>
              <a:gd name="adj" fmla="val 22000"/>
            </a:avLst>
          </a:prstGeom>
          <a:solidFill>
            <a:schemeClr val="accent6"/>
          </a:solidFill>
          <a:ln/>
        </p:spPr>
      </p:sp>
      <p:pic>
        <p:nvPicPr>
          <p:cNvPr id="12" name="glifo-MdWeb" descr="preencoded.png">    </p:cNvPr>
          <p:cNvPicPr>
            <a:picLocks noChangeAspect="1"/>
          </p:cNvPicPr>
          <p:nvPr/>
        </p:nvPicPr>
        <p:blipFill>
          <a:blip r:embed="rId2"/>
          <a:stretch>
            <a:fillRect/>
          </a:stretch>
        </p:blipFill>
        <p:spPr>
          <a:xfrm>
            <a:off x="4636008" y="2121408"/>
            <a:ext cx="329184" cy="329184"/>
          </a:xfrm>
          <a:prstGeom prst="rect">
            <a:avLst/>
          </a:prstGeom>
        </p:spPr>
      </p:pic>
      <p:sp>
        <p:nvSpPr>
          <p:cNvPr id="13" name="Text 9"/>
          <p:cNvSpPr txBox="1"/>
          <p:nvPr/>
        </p:nvSpPr>
        <p:spPr>
          <a:xfrm>
            <a:off x="5257800" y="2011680"/>
            <a:ext cx="2468880" cy="292608"/>
          </a:xfrm>
          <a:prstGeom prst="rect">
            <a:avLst/>
          </a:prstGeom>
          <a:noFill/>
          <a:ln/>
        </p:spPr>
        <p:txBody>
          <a:bodyPr wrap="square" lIns="0" tIns="0" rIns="0" bIns="0" rtlCol="0" anchor="t"/>
          <a:lstStyle/>
          <a:p>
            <a:pPr indent="0" marL="0">
              <a:buNone/>
            </a:pPr>
            <a:r>
              <a:rPr lang="en-US" sz="1600" b="1" dirty="0">
                <a:solidFill>
                  <a:schemeClr val="bg1"/>
                </a:solidFill>
                <a:latin typeface="Consolas" pitchFamily="34" charset="0"/>
                <a:ea typeface="Consolas" pitchFamily="34" charset="-122"/>
                <a:cs typeface="Consolas" pitchFamily="34" charset="-120"/>
              </a:rPr>
              <a:t>web</a:t>
            </a:r>
            <a:endParaRPr lang="en-US" sz="1600" dirty="0"/>
          </a:p>
        </p:txBody>
      </p:sp>
      <p:sp>
        <p:nvSpPr>
          <p:cNvPr id="14" name="Text 10"/>
          <p:cNvSpPr txBox="1"/>
          <p:nvPr/>
        </p:nvSpPr>
        <p:spPr>
          <a:xfrm>
            <a:off x="5257800" y="2304288"/>
            <a:ext cx="2468880" cy="274320"/>
          </a:xfrm>
          <a:prstGeom prst="rect">
            <a:avLst/>
          </a:prstGeom>
          <a:noFill/>
          <a:ln/>
        </p:spPr>
        <p:txBody>
          <a:bodyPr wrap="square" lIns="0" tIns="0" rIns="0" bIns="0" rtlCol="0" anchor="t"/>
          <a:lstStyle/>
          <a:p>
            <a:pPr indent="0" marL="0">
              <a:buNone/>
            </a:pPr>
            <a:r>
              <a:rPr lang="en-US" sz="1150" dirty="0">
                <a:solidFill>
                  <a:schemeClr val="bg1"/>
                </a:solidFill>
                <a:latin typeface="Segoe UI" pitchFamily="34" charset="0"/>
                <a:ea typeface="Segoe UI" pitchFamily="34" charset="-122"/>
                <a:cs typeface="Segoe UI" pitchFamily="34" charset="-120"/>
              </a:rPr>
              <a:t>rentavia-web:local</a:t>
            </a:r>
            <a:endParaRPr lang="en-US" sz="1150" dirty="0"/>
          </a:p>
        </p:txBody>
      </p:sp>
      <p:sp>
        <p:nvSpPr>
          <p:cNvPr id="15" name="Text 11"/>
          <p:cNvSpPr txBox="1"/>
          <p:nvPr/>
        </p:nvSpPr>
        <p:spPr>
          <a:xfrm>
            <a:off x="4526280" y="2743200"/>
            <a:ext cx="3154680" cy="566928"/>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Espera a la base sana · volúmenes uploads y keys</a:t>
            </a:r>
            <a:endParaRPr lang="en-US" sz="1200" dirty="0"/>
          </a:p>
        </p:txBody>
      </p:sp>
      <p:sp>
        <p:nvSpPr>
          <p:cNvPr id="16" name="servicio-setup"/>
          <p:cNvSpPr/>
          <p:nvPr/>
        </p:nvSpPr>
        <p:spPr>
          <a:xfrm>
            <a:off x="8046720" y="1783080"/>
            <a:ext cx="3566160" cy="1645920"/>
          </a:xfrm>
          <a:prstGeom prst="roundRect">
            <a:avLst>
              <a:gd name="adj" fmla="val 7778"/>
            </a:avLst>
          </a:prstGeom>
          <a:solidFill>
            <a:schemeClr val="tx2"/>
          </a:solidFill>
          <a:ln/>
        </p:spPr>
      </p:sp>
      <p:sp>
        <p:nvSpPr>
          <p:cNvPr id="17" name="icono-MdSettings"/>
          <p:cNvSpPr/>
          <p:nvPr/>
        </p:nvSpPr>
        <p:spPr>
          <a:xfrm>
            <a:off x="8275320" y="2011680"/>
            <a:ext cx="548640" cy="548640"/>
          </a:xfrm>
          <a:prstGeom prst="roundRect">
            <a:avLst>
              <a:gd name="adj" fmla="val 22000"/>
            </a:avLst>
          </a:prstGeom>
          <a:solidFill>
            <a:schemeClr val="accent1"/>
          </a:solidFill>
          <a:ln/>
        </p:spPr>
      </p:sp>
      <p:pic>
        <p:nvPicPr>
          <p:cNvPr id="18" name="glifo-MdSettings" descr="preencoded.png">    </p:cNvPr>
          <p:cNvPicPr>
            <a:picLocks noChangeAspect="1"/>
          </p:cNvPicPr>
          <p:nvPr/>
        </p:nvPicPr>
        <p:blipFill>
          <a:blip r:embed="rId3"/>
          <a:stretch>
            <a:fillRect/>
          </a:stretch>
        </p:blipFill>
        <p:spPr>
          <a:xfrm>
            <a:off x="8385048" y="2121408"/>
            <a:ext cx="329184" cy="329184"/>
          </a:xfrm>
          <a:prstGeom prst="rect">
            <a:avLst/>
          </a:prstGeom>
        </p:spPr>
      </p:pic>
      <p:sp>
        <p:nvSpPr>
          <p:cNvPr id="19" name="Text 14"/>
          <p:cNvSpPr txBox="1"/>
          <p:nvPr/>
        </p:nvSpPr>
        <p:spPr>
          <a:xfrm>
            <a:off x="9006840" y="2011680"/>
            <a:ext cx="2468880" cy="292608"/>
          </a:xfrm>
          <a:prstGeom prst="rect">
            <a:avLst/>
          </a:prstGeom>
          <a:noFill/>
          <a:ln/>
        </p:spPr>
        <p:txBody>
          <a:bodyPr wrap="square" lIns="0" tIns="0" rIns="0" bIns="0" rtlCol="0" anchor="t"/>
          <a:lstStyle/>
          <a:p>
            <a:pPr indent="0" marL="0">
              <a:buNone/>
            </a:pPr>
            <a:r>
              <a:rPr lang="en-US" sz="1600" b="1" dirty="0">
                <a:solidFill>
                  <a:schemeClr val="bg1"/>
                </a:solidFill>
                <a:latin typeface="Consolas" pitchFamily="34" charset="0"/>
                <a:ea typeface="Consolas" pitchFamily="34" charset="-122"/>
                <a:cs typeface="Consolas" pitchFamily="34" charset="-120"/>
              </a:rPr>
              <a:t>setup</a:t>
            </a:r>
            <a:endParaRPr lang="en-US" sz="1600" dirty="0"/>
          </a:p>
        </p:txBody>
      </p:sp>
      <p:sp>
        <p:nvSpPr>
          <p:cNvPr id="20" name="Text 15"/>
          <p:cNvSpPr txBox="1"/>
          <p:nvPr/>
        </p:nvSpPr>
        <p:spPr>
          <a:xfrm>
            <a:off x="9006840" y="2304288"/>
            <a:ext cx="2468880" cy="27432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rentavia-web:local</a:t>
            </a:r>
            <a:endParaRPr lang="en-US" sz="1150" dirty="0"/>
          </a:p>
        </p:txBody>
      </p:sp>
      <p:sp>
        <p:nvSpPr>
          <p:cNvPr id="21" name="Text 16"/>
          <p:cNvSpPr txBox="1"/>
          <p:nvPr/>
        </p:nvSpPr>
        <p:spPr>
          <a:xfrm>
            <a:off x="8275320" y="2743200"/>
            <a:ext cx="3154680" cy="566928"/>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--migrate, --create-admin o --seed y termina</a:t>
            </a:r>
            <a:endParaRPr lang="en-US" sz="1200" dirty="0"/>
          </a:p>
        </p:txBody>
      </p:sp>
      <p:sp>
        <p:nvSpPr>
          <p:cNvPr id="22" name="comando"/>
          <p:cNvSpPr/>
          <p:nvPr/>
        </p:nvSpPr>
        <p:spPr>
          <a:xfrm>
            <a:off x="548640" y="3611880"/>
            <a:ext cx="6492240" cy="2560320"/>
          </a:xfrm>
          <a:prstGeom prst="roundRect">
            <a:avLst>
              <a:gd name="adj" fmla="val 5000"/>
            </a:avLst>
          </a:prstGeom>
          <a:solidFill>
            <a:schemeClr val="accent6"/>
          </a:solidFill>
          <a:ln/>
        </p:spPr>
      </p:sp>
      <p:sp>
        <p:nvSpPr>
          <p:cNvPr id="23" name="Text 18"/>
          <p:cNvSpPr txBox="1"/>
          <p:nvPr/>
        </p:nvSpPr>
        <p:spPr>
          <a:xfrm>
            <a:off x="777240" y="3794760"/>
            <a:ext cx="5943600" cy="365760"/>
          </a:xfrm>
          <a:prstGeom prst="rect">
            <a:avLst/>
          </a:prstGeom>
          <a:noFill/>
          <a:ln/>
        </p:spPr>
        <p:txBody>
          <a:bodyPr wrap="square" lIns="0" tIns="0" rIns="0" bIns="0" rtlCol="0" anchor="t"/>
          <a:lstStyle/>
          <a:p>
            <a:pPr indent="0" marL="0">
              <a:buNone/>
            </a:pPr>
            <a:r>
              <a:rPr lang="en-US" sz="1900" dirty="0">
                <a:solidFill>
                  <a:schemeClr val="bg1"/>
                </a:solidFill>
                <a:latin typeface="Bahnschrift SemiBold Condensed" pitchFamily="34" charset="0"/>
                <a:ea typeface="Bahnschrift SemiBold Condensed" pitchFamily="34" charset="-122"/>
                <a:cs typeface="Bahnschrift SemiBold Condensed" pitchFamily="34" charset="-120"/>
              </a:rPr>
              <a:t>PRIMER ARRANQUE</a:t>
            </a:r>
            <a:endParaRPr lang="en-US" sz="1900" dirty="0"/>
          </a:p>
        </p:txBody>
      </p:sp>
      <p:sp>
        <p:nvSpPr>
          <p:cNvPr id="24" name="Text 19"/>
          <p:cNvSpPr txBox="1"/>
          <p:nvPr/>
        </p:nvSpPr>
        <p:spPr>
          <a:xfrm>
            <a:off x="777240" y="4251960"/>
            <a:ext cx="6126480" cy="685800"/>
          </a:xfrm>
          <a:prstGeom prst="rect">
            <a:avLst/>
          </a:prstGeom>
          <a:noFill/>
          <a:ln/>
        </p:spPr>
        <p:txBody>
          <a:bodyPr wrap="square" lIns="0" tIns="0" rIns="0" bIns="0" rtlCol="0" anchor="t"/>
          <a:lstStyle/>
          <a:p>
            <a:pPr indent="0" marL="0">
              <a:buNone/>
            </a:pPr>
            <a:r>
              <a:rPr lang="en-US" sz="1300" dirty="0">
                <a:solidFill>
                  <a:schemeClr val="accent2"/>
                </a:solidFill>
                <a:latin typeface="Consolas" pitchFamily="34" charset="0"/>
                <a:ea typeface="Consolas" pitchFamily="34" charset="-122"/>
                <a:cs typeface="Consolas" pitchFamily="34" charset="-120"/>
              </a:rPr>
              <a:t>./scripts/Preparar-env.ps1</a:t>
            </a:r>
            <a:endParaRPr lang="en-US" sz="1300" dirty="0"/>
          </a:p>
          <a:p>
            <a:pPr indent="0" marL="0">
              <a:buNone/>
            </a:pPr>
            <a:r>
              <a:rPr lang="en-US" sz="1300" dirty="0">
                <a:solidFill>
                  <a:schemeClr val="accent2"/>
                </a:solidFill>
                <a:latin typeface="Consolas" pitchFamily="34" charset="0"/>
                <a:ea typeface="Consolas" pitchFamily="34" charset="-122"/>
                <a:cs typeface="Consolas" pitchFamily="34" charset="-120"/>
              </a:rPr>
              <a:t>./scripts/Iniciar-docker.ps1 -CrearAdministrador -DatosIniciales</a:t>
            </a:r>
            <a:endParaRPr lang="en-US" sz="1300" dirty="0"/>
          </a:p>
        </p:txBody>
      </p:sp>
      <p:sp>
        <p:nvSpPr>
          <p:cNvPr id="25" name="Text 20"/>
          <p:cNvSpPr txBox="1"/>
          <p:nvPr/>
        </p:nvSpPr>
        <p:spPr>
          <a:xfrm>
            <a:off x="777240" y="5120640"/>
            <a:ext cx="6035040" cy="822960"/>
          </a:xfrm>
          <a:prstGeom prst="rect">
            <a:avLst/>
          </a:prstGeom>
          <a:noFill/>
          <a:ln/>
        </p:spPr>
        <p:txBody>
          <a:bodyPr wrap="square" lIns="0" tIns="0" rIns="0" bIns="0" rtlCol="0" anchor="t"/>
          <a:lstStyle/>
          <a:p>
            <a:pPr indent="0" marL="0">
              <a:buNone/>
            </a:pPr>
            <a:r>
              <a:rPr lang="en-US" sz="1400" dirty="0">
                <a:solidFill>
                  <a:schemeClr val="bg2"/>
                </a:solidFill>
                <a:latin typeface="Segoe UI" pitchFamily="34" charset="0"/>
                <a:ea typeface="Segoe UI" pitchFamily="34" charset="-122"/>
                <a:cs typeface="Segoe UI" pitchFamily="34" charset="-120"/>
              </a:rPr>
              <a:t>Valida Compose, construye la imagen, levanta SQL Server, migra, crea la cuenta y los datos, y abre http://localhost:8080.</a:t>
            </a:r>
            <a:endParaRPr lang="en-US" sz="1400" dirty="0"/>
          </a:p>
        </p:txBody>
      </p:sp>
      <p:sp>
        <p:nvSpPr>
          <p:cNvPr id="26" name="hint"/>
          <p:cNvSpPr/>
          <p:nvPr/>
        </p:nvSpPr>
        <p:spPr>
          <a:xfrm>
            <a:off x="7269480" y="3611880"/>
            <a:ext cx="4370832" cy="2560320"/>
          </a:xfrm>
          <a:prstGeom prst="roundRect">
            <a:avLst>
              <a:gd name="adj" fmla="val 5000"/>
            </a:avLst>
          </a:prstGeom>
          <a:solidFill>
            <a:schemeClr val="accent6"/>
          </a:solidFill>
          <a:ln/>
        </p:spPr>
      </p:sp>
      <p:sp>
        <p:nvSpPr>
          <p:cNvPr id="27" name="icono-MdLightbulb"/>
          <p:cNvSpPr/>
          <p:nvPr/>
        </p:nvSpPr>
        <p:spPr>
          <a:xfrm>
            <a:off x="7452360" y="3794760"/>
            <a:ext cx="384048" cy="384048"/>
          </a:xfrm>
          <a:prstGeom prst="roundRect">
            <a:avLst>
              <a:gd name="adj" fmla="val 22000"/>
            </a:avLst>
          </a:prstGeom>
          <a:solidFill>
            <a:schemeClr val="accent1"/>
          </a:solidFill>
          <a:ln/>
        </p:spPr>
      </p:sp>
      <p:pic>
        <p:nvPicPr>
          <p:cNvPr id="28" name="glifo-MdLightbulb" descr="preencoded.png">    </p:cNvPr>
          <p:cNvPicPr>
            <a:picLocks noChangeAspect="1"/>
          </p:cNvPicPr>
          <p:nvPr/>
        </p:nvPicPr>
        <p:blipFill>
          <a:blip r:embed="rId4"/>
          <a:stretch>
            <a:fillRect/>
          </a:stretch>
        </p:blipFill>
        <p:spPr>
          <a:xfrm>
            <a:off x="7529170" y="3871570"/>
            <a:ext cx="230429" cy="230429"/>
          </a:xfrm>
          <a:prstGeom prst="rect">
            <a:avLst/>
          </a:prstGeom>
        </p:spPr>
      </p:pic>
      <p:sp>
        <p:nvSpPr>
          <p:cNvPr id="29" name="Text 23"/>
          <p:cNvSpPr txBox="1"/>
          <p:nvPr/>
        </p:nvSpPr>
        <p:spPr>
          <a:xfrm>
            <a:off x="7982712" y="3767328"/>
            <a:ext cx="347472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IMAGEN MULTIETAPA</a:t>
            </a:r>
            <a:endParaRPr lang="en-US" sz="1050" dirty="0"/>
          </a:p>
        </p:txBody>
      </p:sp>
      <p:sp>
        <p:nvSpPr>
          <p:cNvPr id="30" name="Text 24"/>
          <p:cNvSpPr txBox="1"/>
          <p:nvPr/>
        </p:nvSpPr>
        <p:spPr>
          <a:xfrm>
            <a:off x="7982712" y="4069080"/>
            <a:ext cx="3474720" cy="199339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Se compila con la imagen del SDK y se ejecuta con la imagen aspnet, más liviana, con el usuario sin privilegios app. La clave de OpenAI entra como variable de entorno: no queda dentro de la imagen.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06</a:t>
            </a:r>
            <a:endParaRPr lang="en-US" sz="11000" dirty="0"/>
          </a:p>
        </p:txBody>
      </p:sp>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DESPLIEGUE EN AZURE</a:t>
            </a:r>
            <a:endParaRPr lang="en-US" sz="6000" dirty="0"/>
          </a:p>
        </p:txBody>
      </p:sp>
      <p:sp>
        <p:nvSpPr>
          <p:cNvPr id="4"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Propuesta documentada: la guía no exige desplegar.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PROPUESTA DE DESPLIEGUE</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LA MISMA IMAGEN DOCKER EN AZURE</a:t>
            </a:r>
            <a:endParaRPr lang="en-US" sz="3800" dirty="0"/>
          </a:p>
        </p:txBody>
      </p:sp>
      <p:sp>
        <p:nvSpPr>
          <p:cNvPr id="4" name="aca"/>
          <p:cNvSpPr/>
          <p:nvPr/>
        </p:nvSpPr>
        <p:spPr>
          <a:xfrm>
            <a:off x="2788920" y="3246120"/>
            <a:ext cx="2377440" cy="1051560"/>
          </a:xfrm>
          <a:prstGeom prst="roundRect">
            <a:avLst>
              <a:gd name="adj" fmla="val 12174"/>
            </a:avLst>
          </a:prstGeom>
          <a:solidFill>
            <a:schemeClr val="accent1"/>
          </a:solidFill>
          <a:ln/>
        </p:spPr>
      </p:sp>
      <p:sp>
        <p:nvSpPr>
          <p:cNvPr id="5" name="Text 3"/>
          <p:cNvSpPr txBox="1"/>
          <p:nvPr/>
        </p:nvSpPr>
        <p:spPr>
          <a:xfrm>
            <a:off x="2880360" y="3310128"/>
            <a:ext cx="2194560" cy="365760"/>
          </a:xfrm>
          <a:prstGeom prst="rect">
            <a:avLst/>
          </a:prstGeom>
          <a:noFill/>
          <a:ln/>
        </p:spPr>
        <p:txBody>
          <a:bodyPr wrap="square" lIns="0" tIns="0" rIns="0" bIns="0" rtlCol="0" anchor="t"/>
          <a:lstStyle/>
          <a:p>
            <a:pPr algn="ctr" indent="0" marL="0">
              <a:buNone/>
            </a:pPr>
            <a:r>
              <a:rPr lang="en-US" sz="1350" b="1" dirty="0">
                <a:solidFill>
                  <a:schemeClr val="bg1"/>
                </a:solidFill>
                <a:latin typeface="Segoe UI" pitchFamily="34" charset="0"/>
                <a:ea typeface="Segoe UI" pitchFamily="34" charset="-122"/>
                <a:cs typeface="Segoe UI" pitchFamily="34" charset="-120"/>
              </a:rPr>
              <a:t>Azure Container Apps</a:t>
            </a:r>
            <a:endParaRPr lang="en-US" sz="1350" dirty="0"/>
          </a:p>
        </p:txBody>
      </p:sp>
      <p:sp>
        <p:nvSpPr>
          <p:cNvPr id="6" name="Text 4"/>
          <p:cNvSpPr txBox="1"/>
          <p:nvPr/>
        </p:nvSpPr>
        <p:spPr>
          <a:xfrm>
            <a:off x="2880360" y="3675888"/>
            <a:ext cx="2194560" cy="502920"/>
          </a:xfrm>
          <a:prstGeom prst="rect">
            <a:avLst/>
          </a:prstGeom>
          <a:noFill/>
          <a:ln/>
        </p:spPr>
        <p:txBody>
          <a:bodyPr wrap="square" lIns="0" tIns="0" rIns="0" bIns="0" rtlCol="0" anchor="t"/>
          <a:lstStyle/>
          <a:p>
            <a:pPr algn="ctr" indent="0" marL="0">
              <a:buNone/>
            </a:pPr>
            <a:r>
              <a:rPr lang="en-US" sz="1050" dirty="0">
                <a:solidFill>
                  <a:schemeClr val="bg1"/>
                </a:solidFill>
                <a:latin typeface="Segoe UI" pitchFamily="34" charset="0"/>
                <a:ea typeface="Segoe UI" pitchFamily="34" charset="-122"/>
                <a:cs typeface="Segoe UI" pitchFamily="34" charset="-120"/>
              </a:rPr>
              <a:t>Aplicación con HTTPS y escalado</a:t>
            </a:r>
            <a:endParaRPr lang="en-US" sz="1050" dirty="0"/>
          </a:p>
        </p:txBody>
      </p:sp>
      <p:sp>
        <p:nvSpPr>
          <p:cNvPr id="7" name="azure-Container Registry"/>
          <p:cNvSpPr/>
          <p:nvPr/>
        </p:nvSpPr>
        <p:spPr>
          <a:xfrm>
            <a:off x="548640" y="1828800"/>
            <a:ext cx="2011680" cy="777240"/>
          </a:xfrm>
          <a:prstGeom prst="roundRect">
            <a:avLst>
              <a:gd name="adj" fmla="val 16471"/>
            </a:avLst>
          </a:prstGeom>
          <a:solidFill>
            <a:schemeClr val="tx2"/>
          </a:solidFill>
          <a:ln/>
        </p:spPr>
      </p:sp>
      <p:sp>
        <p:nvSpPr>
          <p:cNvPr id="8" name="Text 6"/>
          <p:cNvSpPr txBox="1"/>
          <p:nvPr/>
        </p:nvSpPr>
        <p:spPr>
          <a:xfrm>
            <a:off x="685800" y="192024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Container Registry</a:t>
            </a:r>
            <a:endParaRPr lang="en-US" sz="1200" dirty="0"/>
          </a:p>
        </p:txBody>
      </p:sp>
      <p:sp>
        <p:nvSpPr>
          <p:cNvPr id="9" name="Text 7"/>
          <p:cNvSpPr txBox="1"/>
          <p:nvPr/>
        </p:nvSpPr>
        <p:spPr>
          <a:xfrm>
            <a:off x="685800" y="223113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Versiones de la imagen</a:t>
            </a:r>
            <a:endParaRPr lang="en-US" sz="1050" dirty="0"/>
          </a:p>
        </p:txBody>
      </p:sp>
      <p:sp>
        <p:nvSpPr>
          <p:cNvPr id="10" name="enlace"/>
          <p:cNvSpPr/>
          <p:nvPr/>
        </p:nvSpPr>
        <p:spPr>
          <a:xfrm>
            <a:off x="2560320" y="2217420"/>
            <a:ext cx="228600" cy="1554480"/>
          </a:xfrm>
          <a:prstGeom prst="line">
            <a:avLst/>
          </a:prstGeom>
          <a:noFill/>
          <a:ln w="15875">
            <a:solidFill>
              <a:schemeClr val="accent2"/>
            </a:solidFill>
            <a:prstDash val="solid"/>
          </a:ln>
        </p:spPr>
      </p:sp>
      <p:sp>
        <p:nvSpPr>
          <p:cNvPr id="11" name="azure-Usuario de la agencia"/>
          <p:cNvSpPr/>
          <p:nvPr/>
        </p:nvSpPr>
        <p:spPr>
          <a:xfrm>
            <a:off x="548640" y="4846320"/>
            <a:ext cx="2011680" cy="777240"/>
          </a:xfrm>
          <a:prstGeom prst="roundRect">
            <a:avLst>
              <a:gd name="adj" fmla="val 16471"/>
            </a:avLst>
          </a:prstGeom>
          <a:solidFill>
            <a:schemeClr val="tx2"/>
          </a:solidFill>
          <a:ln/>
        </p:spPr>
      </p:sp>
      <p:sp>
        <p:nvSpPr>
          <p:cNvPr id="12" name="Text 10"/>
          <p:cNvSpPr txBox="1"/>
          <p:nvPr/>
        </p:nvSpPr>
        <p:spPr>
          <a:xfrm>
            <a:off x="685800" y="493776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Usuario de la agencia</a:t>
            </a:r>
            <a:endParaRPr lang="en-US" sz="1200" dirty="0"/>
          </a:p>
        </p:txBody>
      </p:sp>
      <p:sp>
        <p:nvSpPr>
          <p:cNvPr id="13" name="Text 11"/>
          <p:cNvSpPr txBox="1"/>
          <p:nvPr/>
        </p:nvSpPr>
        <p:spPr>
          <a:xfrm>
            <a:off x="685800" y="524865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Acceso por HTTPS</a:t>
            </a:r>
            <a:endParaRPr lang="en-US" sz="1050" dirty="0"/>
          </a:p>
        </p:txBody>
      </p:sp>
      <p:sp>
        <p:nvSpPr>
          <p:cNvPr id="14" name="enlace"/>
          <p:cNvSpPr/>
          <p:nvPr/>
        </p:nvSpPr>
        <p:spPr>
          <a:xfrm flipV="1">
            <a:off x="2560320" y="3771900"/>
            <a:ext cx="228600" cy="1463040"/>
          </a:xfrm>
          <a:prstGeom prst="line">
            <a:avLst/>
          </a:prstGeom>
          <a:noFill/>
          <a:ln w="15875">
            <a:solidFill>
              <a:schemeClr val="accent2"/>
            </a:solidFill>
            <a:prstDash val="solid"/>
          </a:ln>
        </p:spPr>
      </p:sp>
      <p:sp>
        <p:nvSpPr>
          <p:cNvPr id="15" name="azure-Azure SQL Database"/>
          <p:cNvSpPr/>
          <p:nvPr/>
        </p:nvSpPr>
        <p:spPr>
          <a:xfrm>
            <a:off x="5577840" y="1828800"/>
            <a:ext cx="2011680" cy="777240"/>
          </a:xfrm>
          <a:prstGeom prst="roundRect">
            <a:avLst>
              <a:gd name="adj" fmla="val 16471"/>
            </a:avLst>
          </a:prstGeom>
          <a:solidFill>
            <a:schemeClr val="tx2"/>
          </a:solidFill>
          <a:ln/>
        </p:spPr>
      </p:sp>
      <p:sp>
        <p:nvSpPr>
          <p:cNvPr id="16" name="Text 14"/>
          <p:cNvSpPr txBox="1"/>
          <p:nvPr/>
        </p:nvSpPr>
        <p:spPr>
          <a:xfrm>
            <a:off x="5715000" y="192024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Azure SQL Database</a:t>
            </a:r>
            <a:endParaRPr lang="en-US" sz="1200" dirty="0"/>
          </a:p>
        </p:txBody>
      </p:sp>
      <p:sp>
        <p:nvSpPr>
          <p:cNvPr id="17" name="Text 15"/>
          <p:cNvSpPr txBox="1"/>
          <p:nvPr/>
        </p:nvSpPr>
        <p:spPr>
          <a:xfrm>
            <a:off x="5715000" y="223113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Base administrada</a:t>
            </a:r>
            <a:endParaRPr lang="en-US" sz="1050" dirty="0"/>
          </a:p>
        </p:txBody>
      </p:sp>
      <p:sp>
        <p:nvSpPr>
          <p:cNvPr id="18" name="enlace"/>
          <p:cNvSpPr/>
          <p:nvPr/>
        </p:nvSpPr>
        <p:spPr>
          <a:xfrm flipV="1">
            <a:off x="5166360" y="2217420"/>
            <a:ext cx="411480" cy="1554480"/>
          </a:xfrm>
          <a:prstGeom prst="line">
            <a:avLst/>
          </a:prstGeom>
          <a:noFill/>
          <a:ln w="15875">
            <a:solidFill>
              <a:schemeClr val="accent2"/>
            </a:solidFill>
            <a:prstDash val="solid"/>
          </a:ln>
        </p:spPr>
      </p:sp>
      <p:sp>
        <p:nvSpPr>
          <p:cNvPr id="19" name="azure-Azure Storage"/>
          <p:cNvSpPr/>
          <p:nvPr/>
        </p:nvSpPr>
        <p:spPr>
          <a:xfrm>
            <a:off x="5577840" y="2788920"/>
            <a:ext cx="2011680" cy="777240"/>
          </a:xfrm>
          <a:prstGeom prst="roundRect">
            <a:avLst>
              <a:gd name="adj" fmla="val 16471"/>
            </a:avLst>
          </a:prstGeom>
          <a:solidFill>
            <a:schemeClr val="tx2"/>
          </a:solidFill>
          <a:ln/>
        </p:spPr>
      </p:sp>
      <p:sp>
        <p:nvSpPr>
          <p:cNvPr id="20" name="Text 18"/>
          <p:cNvSpPr txBox="1"/>
          <p:nvPr/>
        </p:nvSpPr>
        <p:spPr>
          <a:xfrm>
            <a:off x="5715000" y="288036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Azure Storage</a:t>
            </a:r>
            <a:endParaRPr lang="en-US" sz="1200" dirty="0"/>
          </a:p>
        </p:txBody>
      </p:sp>
      <p:sp>
        <p:nvSpPr>
          <p:cNvPr id="21" name="Text 19"/>
          <p:cNvSpPr txBox="1"/>
          <p:nvPr/>
        </p:nvSpPr>
        <p:spPr>
          <a:xfrm>
            <a:off x="5715000" y="319125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Fotos y claves de sesión</a:t>
            </a:r>
            <a:endParaRPr lang="en-US" sz="1050" dirty="0"/>
          </a:p>
        </p:txBody>
      </p:sp>
      <p:sp>
        <p:nvSpPr>
          <p:cNvPr id="22" name="enlace"/>
          <p:cNvSpPr/>
          <p:nvPr/>
        </p:nvSpPr>
        <p:spPr>
          <a:xfrm flipV="1">
            <a:off x="5166360" y="3177540"/>
            <a:ext cx="411480" cy="594360"/>
          </a:xfrm>
          <a:prstGeom prst="line">
            <a:avLst/>
          </a:prstGeom>
          <a:noFill/>
          <a:ln w="15875">
            <a:solidFill>
              <a:schemeClr val="accent2"/>
            </a:solidFill>
            <a:prstDash val="solid"/>
          </a:ln>
        </p:spPr>
      </p:sp>
      <p:sp>
        <p:nvSpPr>
          <p:cNvPr id="23" name="azure-Azure Key Vault"/>
          <p:cNvSpPr/>
          <p:nvPr/>
        </p:nvSpPr>
        <p:spPr>
          <a:xfrm>
            <a:off x="5577840" y="3749040"/>
            <a:ext cx="2011680" cy="777240"/>
          </a:xfrm>
          <a:prstGeom prst="roundRect">
            <a:avLst>
              <a:gd name="adj" fmla="val 16471"/>
            </a:avLst>
          </a:prstGeom>
          <a:solidFill>
            <a:schemeClr val="tx2"/>
          </a:solidFill>
          <a:ln/>
        </p:spPr>
      </p:sp>
      <p:sp>
        <p:nvSpPr>
          <p:cNvPr id="24" name="Text 22"/>
          <p:cNvSpPr txBox="1"/>
          <p:nvPr/>
        </p:nvSpPr>
        <p:spPr>
          <a:xfrm>
            <a:off x="5715000" y="384048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Azure Key Vault</a:t>
            </a:r>
            <a:endParaRPr lang="en-US" sz="1200" dirty="0"/>
          </a:p>
        </p:txBody>
      </p:sp>
      <p:sp>
        <p:nvSpPr>
          <p:cNvPr id="25" name="Text 23"/>
          <p:cNvSpPr txBox="1"/>
          <p:nvPr/>
        </p:nvSpPr>
        <p:spPr>
          <a:xfrm>
            <a:off x="5715000" y="415137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Cadena de conexión y clave</a:t>
            </a:r>
            <a:endParaRPr lang="en-US" sz="1050" dirty="0"/>
          </a:p>
        </p:txBody>
      </p:sp>
      <p:sp>
        <p:nvSpPr>
          <p:cNvPr id="26" name="enlace"/>
          <p:cNvSpPr/>
          <p:nvPr/>
        </p:nvSpPr>
        <p:spPr>
          <a:xfrm>
            <a:off x="5166360" y="3771900"/>
            <a:ext cx="411480" cy="365760"/>
          </a:xfrm>
          <a:prstGeom prst="line">
            <a:avLst/>
          </a:prstGeom>
          <a:noFill/>
          <a:ln w="15875">
            <a:solidFill>
              <a:schemeClr val="accent2"/>
            </a:solidFill>
            <a:prstDash val="solid"/>
          </a:ln>
        </p:spPr>
      </p:sp>
      <p:sp>
        <p:nvSpPr>
          <p:cNvPr id="27" name="azure-Monitor e Insights"/>
          <p:cNvSpPr/>
          <p:nvPr/>
        </p:nvSpPr>
        <p:spPr>
          <a:xfrm>
            <a:off x="5577840" y="4709160"/>
            <a:ext cx="2011680" cy="777240"/>
          </a:xfrm>
          <a:prstGeom prst="roundRect">
            <a:avLst>
              <a:gd name="adj" fmla="val 16471"/>
            </a:avLst>
          </a:prstGeom>
          <a:solidFill>
            <a:schemeClr val="tx2"/>
          </a:solidFill>
          <a:ln/>
        </p:spPr>
      </p:sp>
      <p:sp>
        <p:nvSpPr>
          <p:cNvPr id="28" name="Text 26"/>
          <p:cNvSpPr txBox="1"/>
          <p:nvPr/>
        </p:nvSpPr>
        <p:spPr>
          <a:xfrm>
            <a:off x="5715000" y="4800600"/>
            <a:ext cx="1737360" cy="292608"/>
          </a:xfrm>
          <a:prstGeom prst="rect">
            <a:avLst/>
          </a:prstGeom>
          <a:noFill/>
          <a:ln/>
        </p:spPr>
        <p:txBody>
          <a:bodyPr wrap="square" lIns="0" tIns="0" rIns="0" bIns="0" rtlCol="0" anchor="t"/>
          <a:lstStyle/>
          <a:p>
            <a:pPr indent="0" marL="0">
              <a:buNone/>
            </a:pPr>
            <a:r>
              <a:rPr lang="en-US" sz="1200" b="1" dirty="0">
                <a:solidFill>
                  <a:schemeClr val="bg1"/>
                </a:solidFill>
                <a:latin typeface="Segoe UI" pitchFamily="34" charset="0"/>
                <a:ea typeface="Segoe UI" pitchFamily="34" charset="-122"/>
                <a:cs typeface="Segoe UI" pitchFamily="34" charset="-120"/>
              </a:rPr>
              <a:t>Monitor e Insights</a:t>
            </a:r>
            <a:endParaRPr lang="en-US" sz="1200" dirty="0"/>
          </a:p>
        </p:txBody>
      </p:sp>
      <p:sp>
        <p:nvSpPr>
          <p:cNvPr id="29" name="Text 27"/>
          <p:cNvSpPr txBox="1"/>
          <p:nvPr/>
        </p:nvSpPr>
        <p:spPr>
          <a:xfrm>
            <a:off x="5715000" y="5111496"/>
            <a:ext cx="1737360" cy="274320"/>
          </a:xfrm>
          <a:prstGeom prst="rect">
            <a:avLst/>
          </a:prstGeom>
          <a:noFill/>
          <a:ln/>
        </p:spPr>
        <p:txBody>
          <a:bodyPr wrap="square" lIns="0" tIns="0" rIns="0" bIns="0" rtlCol="0" anchor="t"/>
          <a:lstStyle/>
          <a:p>
            <a:pPr indent="0" marL="0">
              <a:buNone/>
            </a:pPr>
            <a:r>
              <a:rPr lang="en-US" sz="1050" dirty="0">
                <a:solidFill>
                  <a:schemeClr val="bg2"/>
                </a:solidFill>
                <a:latin typeface="Segoe UI" pitchFamily="34" charset="0"/>
                <a:ea typeface="Segoe UI" pitchFamily="34" charset="-122"/>
                <a:cs typeface="Segoe UI" pitchFamily="34" charset="-120"/>
              </a:rPr>
              <a:t>Registros y alertas</a:t>
            </a:r>
            <a:endParaRPr lang="en-US" sz="1050" dirty="0"/>
          </a:p>
        </p:txBody>
      </p:sp>
      <p:sp>
        <p:nvSpPr>
          <p:cNvPr id="30" name="enlace"/>
          <p:cNvSpPr/>
          <p:nvPr/>
        </p:nvSpPr>
        <p:spPr>
          <a:xfrm>
            <a:off x="5166360" y="3771900"/>
            <a:ext cx="411480" cy="1325880"/>
          </a:xfrm>
          <a:prstGeom prst="line">
            <a:avLst/>
          </a:prstGeom>
          <a:noFill/>
          <a:ln w="15875">
            <a:solidFill>
              <a:schemeClr val="accent2"/>
            </a:solidFill>
            <a:prstDash val="solid"/>
          </a:ln>
        </p:spPr>
      </p:sp>
      <p:sp>
        <p:nvSpPr>
          <p:cNvPr id="31" name="card"/>
          <p:cNvSpPr/>
          <p:nvPr/>
        </p:nvSpPr>
        <p:spPr>
          <a:xfrm>
            <a:off x="8001000" y="1783080"/>
            <a:ext cx="3639312" cy="2057400"/>
          </a:xfrm>
          <a:prstGeom prst="roundRect">
            <a:avLst>
              <a:gd name="adj" fmla="val 6222"/>
            </a:avLst>
          </a:prstGeom>
          <a:solidFill>
            <a:schemeClr val="tx2"/>
          </a:solidFill>
          <a:ln/>
        </p:spPr>
      </p:sp>
      <p:sp>
        <p:nvSpPr>
          <p:cNvPr id="32" name="Text 30"/>
          <p:cNvSpPr txBox="1"/>
          <p:nvPr/>
        </p:nvSpPr>
        <p:spPr>
          <a:xfrm>
            <a:off x="8229600" y="1920240"/>
            <a:ext cx="3200400" cy="320040"/>
          </a:xfrm>
          <a:prstGeom prst="rect">
            <a:avLst/>
          </a:prstGeom>
          <a:noFill/>
          <a:ln/>
        </p:spPr>
        <p:txBody>
          <a:bodyPr wrap="square" lIns="0" tIns="0" rIns="0" bIns="0" rtlCol="0" anchor="t"/>
          <a:lstStyle/>
          <a:p>
            <a:pPr indent="0" marL="0">
              <a:buNone/>
            </a:pPr>
            <a:r>
              <a:rPr lang="en-US" sz="1100" b="1" spc="150" kern="0" dirty="0">
                <a:solidFill>
                  <a:schemeClr val="accent2"/>
                </a:solidFill>
                <a:latin typeface="Segoe UI" pitchFamily="34" charset="0"/>
                <a:ea typeface="Segoe UI" pitchFamily="34" charset="-122"/>
                <a:cs typeface="Segoe UI" pitchFamily="34" charset="-120"/>
              </a:rPr>
              <a:t>COSTO ESTIMADO</a:t>
            </a:r>
            <a:endParaRPr lang="en-US" sz="1100" dirty="0"/>
          </a:p>
        </p:txBody>
      </p:sp>
      <p:sp>
        <p:nvSpPr>
          <p:cNvPr id="33" name="Text 31"/>
          <p:cNvSpPr txBox="1"/>
          <p:nvPr/>
        </p:nvSpPr>
        <p:spPr>
          <a:xfrm>
            <a:off x="8229600" y="2240280"/>
            <a:ext cx="3200400" cy="914400"/>
          </a:xfrm>
          <a:prstGeom prst="rect">
            <a:avLst/>
          </a:prstGeom>
          <a:noFill/>
          <a:ln/>
        </p:spPr>
        <p:txBody>
          <a:bodyPr wrap="square" lIns="0" tIns="0" rIns="0" bIns="0" rtlCol="0" anchor="t"/>
          <a:lstStyle/>
          <a:p>
            <a:pPr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13–30</a:t>
            </a:r>
            <a:endParaRPr lang="en-US" sz="6000" dirty="0"/>
          </a:p>
        </p:txBody>
      </p:sp>
      <p:sp>
        <p:nvSpPr>
          <p:cNvPr id="34" name="Text 32"/>
          <p:cNvSpPr txBox="1"/>
          <p:nvPr/>
        </p:nvSpPr>
        <p:spPr>
          <a:xfrm>
            <a:off x="8229600" y="3200400"/>
            <a:ext cx="3200400" cy="502920"/>
          </a:xfrm>
          <a:prstGeom prst="rect">
            <a:avLst/>
          </a:prstGeom>
          <a:noFill/>
          <a:ln/>
        </p:spPr>
        <p:txBody>
          <a:bodyPr wrap="square" lIns="0" tIns="0" rIns="0" bIns="0" rtlCol="0" anchor="t"/>
          <a:lstStyle/>
          <a:p>
            <a:pPr indent="0" marL="0">
              <a:buNone/>
            </a:pPr>
            <a:r>
              <a:rPr lang="en-US" sz="1100" dirty="0">
                <a:solidFill>
                  <a:schemeClr val="bg2"/>
                </a:solidFill>
                <a:latin typeface="Segoe UI" pitchFamily="34" charset="0"/>
                <a:ea typeface="Segoe UI" pitchFamily="34" charset="-122"/>
                <a:cs typeface="Segoe UI" pitchFamily="34" charset="-120"/>
              </a:rPr>
              <a:t>USD por mes · East US · demo de una hora diaria</a:t>
            </a:r>
            <a:endParaRPr lang="en-US" sz="1100" dirty="0"/>
          </a:p>
        </p:txBody>
      </p:sp>
      <p:sp>
        <p:nvSpPr>
          <p:cNvPr id="35" name="card"/>
          <p:cNvSpPr/>
          <p:nvPr/>
        </p:nvSpPr>
        <p:spPr>
          <a:xfrm>
            <a:off x="8001000" y="4023360"/>
            <a:ext cx="3639312" cy="2148840"/>
          </a:xfrm>
          <a:prstGeom prst="roundRect">
            <a:avLst>
              <a:gd name="adj" fmla="val 5957"/>
            </a:avLst>
          </a:prstGeom>
          <a:solidFill>
            <a:schemeClr val="tx2"/>
          </a:solidFill>
          <a:ln/>
        </p:spPr>
      </p:sp>
      <p:sp>
        <p:nvSpPr>
          <p:cNvPr id="36" name="Text 34"/>
          <p:cNvSpPr txBox="1"/>
          <p:nvPr/>
        </p:nvSpPr>
        <p:spPr>
          <a:xfrm>
            <a:off x="8229600" y="4160520"/>
            <a:ext cx="3246120" cy="19202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1"/>
                </a:solidFill>
                <a:latin typeface="Segoe UI" pitchFamily="34" charset="0"/>
                <a:ea typeface="Segoe UI" pitchFamily="34" charset="-122"/>
                <a:cs typeface="Segoe UI" pitchFamily="34" charset="-120"/>
              </a:rPr>
              <a:t>Container Apps: 0 (asignación gratuita)</a:t>
            </a:r>
            <a:endParaRPr lang="en-US" sz="1200" dirty="0"/>
          </a:p>
          <a:p>
            <a:pPr marL="342900" indent="-342900">
              <a:spcAft>
                <a:spcPts val="300"/>
              </a:spcAft>
              <a:buSzPct val="100000"/>
              <a:buChar char="•"/>
            </a:pPr>
            <a:r>
              <a:rPr lang="en-US" sz="1200" dirty="0">
                <a:solidFill>
                  <a:schemeClr val="bg1"/>
                </a:solidFill>
                <a:latin typeface="Segoe UI" pitchFamily="34" charset="0"/>
                <a:ea typeface="Segoe UI" pitchFamily="34" charset="-122"/>
                <a:cs typeface="Segoe UI" pitchFamily="34" charset="-120"/>
              </a:rPr>
              <a:t>Azure SQL Basic: 5 a 15</a:t>
            </a:r>
            <a:endParaRPr lang="en-US" sz="1200" dirty="0"/>
          </a:p>
          <a:p>
            <a:pPr marL="342900" indent="-342900">
              <a:spcAft>
                <a:spcPts val="300"/>
              </a:spcAft>
              <a:buSzPct val="100000"/>
              <a:buChar char="•"/>
            </a:pPr>
            <a:r>
              <a:rPr lang="en-US" sz="1200" dirty="0">
                <a:solidFill>
                  <a:schemeClr val="bg1"/>
                </a:solidFill>
                <a:latin typeface="Segoe UI" pitchFamily="34" charset="0"/>
                <a:ea typeface="Segoe UI" pitchFamily="34" charset="-122"/>
                <a:cs typeface="Segoe UI" pitchFamily="34" charset="-120"/>
              </a:rPr>
              <a:t>Container Registry Basic: 5</a:t>
            </a:r>
            <a:endParaRPr lang="en-US" sz="1200" dirty="0"/>
          </a:p>
          <a:p>
            <a:pPr marL="342900" indent="-342900">
              <a:spcAft>
                <a:spcPts val="300"/>
              </a:spcAft>
              <a:buSzPct val="100000"/>
              <a:buChar char="•"/>
            </a:pPr>
            <a:r>
              <a:rPr lang="en-US" sz="1200" dirty="0">
                <a:solidFill>
                  <a:schemeClr val="bg1"/>
                </a:solidFill>
                <a:latin typeface="Segoe UI" pitchFamily="34" charset="0"/>
                <a:ea typeface="Segoe UI" pitchFamily="34" charset="-122"/>
                <a:cs typeface="Segoe UI" pitchFamily="34" charset="-120"/>
              </a:rPr>
              <a:t>Storage, registros y tráfico: 3 a 10</a:t>
            </a:r>
            <a:endParaRPr lang="en-US" sz="1200" dirty="0"/>
          </a:p>
          <a:p>
            <a:pPr marL="342900" indent="-342900">
              <a:spcAft>
                <a:spcPts val="300"/>
              </a:spcAft>
              <a:buSzPct val="100000"/>
              <a:buChar char="•"/>
            </a:pPr>
            <a:r>
              <a:rPr lang="en-US" sz="1200" dirty="0">
                <a:solidFill>
                  <a:schemeClr val="bg1"/>
                </a:solidFill>
                <a:latin typeface="Segoe UI" pitchFamily="34" charset="0"/>
                <a:ea typeface="Segoe UI" pitchFamily="34" charset="-122"/>
                <a:cs typeface="Segoe UI" pitchFamily="34" charset="-120"/>
              </a:rPr>
              <a:t>OpenAI aparte: 100 consultas ≈ 0.13</a:t>
            </a:r>
            <a:endParaRPr lang="en-US" sz="1200" dirty="0"/>
          </a:p>
        </p:txBody>
      </p:sp>
      <p:sp>
        <p:nvSpPr>
          <p:cNvPr id="37" name="Text 35"/>
          <p:cNvSpPr txBox="1"/>
          <p:nvPr/>
        </p:nvSpPr>
        <p:spPr>
          <a:xfrm>
            <a:off x="548640" y="5760720"/>
            <a:ext cx="7040880" cy="411480"/>
          </a:xfrm>
          <a:prstGeom prst="rect">
            <a:avLst/>
          </a:prstGeom>
          <a:noFill/>
          <a:ln/>
        </p:spPr>
        <p:txBody>
          <a:bodyPr wrap="square" lIns="0" tIns="0" rIns="0" bIns="0" rtlCol="0" anchor="t"/>
          <a:lstStyle/>
          <a:p>
            <a:pPr indent="0" marL="0">
              <a:buNone/>
            </a:pPr>
            <a:r>
              <a:rPr lang="en-US" sz="1150" dirty="0">
                <a:solidFill>
                  <a:schemeClr val="bg2"/>
                </a:solidFill>
                <a:latin typeface="Segoe UI" pitchFamily="34" charset="0"/>
                <a:ea typeface="Segoe UI" pitchFamily="34" charset="-122"/>
                <a:cs typeface="Segoe UI" pitchFamily="34" charset="-120"/>
              </a:rPr>
              <a:t>Las migraciones se aplicarían con un trabajo de Container Apps que ejecute --migrate, igual que el servicio setup.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07</a:t>
            </a:r>
            <a:endParaRPr lang="en-US" sz="11000" dirty="0"/>
          </a:p>
        </p:txBody>
      </p:sp>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RESULTADOS</a:t>
            </a:r>
            <a:endParaRPr lang="en-US" sz="6000" dirty="0"/>
          </a:p>
        </p:txBody>
      </p:sp>
      <p:sp>
        <p:nvSpPr>
          <p:cNvPr id="4"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Pruebas de funcionamiento, retos y lecciones aprendidas.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PRUEBAS DE FUNCIONAMIENTO</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CASOS DE USO VERIFICADOS</a:t>
            </a:r>
            <a:endParaRPr lang="en-US" sz="3800" dirty="0"/>
          </a:p>
        </p:txBody>
      </p:sp>
      <p:graphicFrame>
        <p:nvGraphicFramePr>
          <p:cNvPr id="22" name="tabla-pruebas"/>
          <p:cNvGraphicFramePr>
            <a:graphicFrameLocks noGrp="1"/>
          </p:cNvGraphicFramePr>
          <p:nvPr>
            <p:extLst>
              <p:ext uri="{D42A27DB-BD31-4B8C-83A1-F6EECF244321}">
                <p14:modId xmlns:p14="http://schemas.microsoft.com/office/powerpoint/2010/main" val="1579011935"/>
              </p:ext>
            </p:extLst>
          </p:nvPr>
        </p:nvGraphicFramePr>
        <p:xfrm>
          <a:off x="548640" y="1783080"/>
          <a:ext cx="7589520" cy="914400"/>
        </p:xfrm>
        <a:graphic>
          <a:graphicData uri="http://schemas.openxmlformats.org/drawingml/2006/table">
            <a:tbl>
              <a:tblPr/>
              <a:tblGrid>
                <a:gridCol w="3017520"/>
                <a:gridCol w="4023360"/>
                <a:gridCol w="548640"/>
              </a:tblGrid>
              <a:tr h="457200">
                <a:tc>
                  <a:txBody>
                    <a:bodyPr/>
                    <a:lstStyle/>
                    <a:p>
                      <a:pPr indent="0" marL="0">
                        <a:buNone/>
                      </a:pPr>
                      <a:r>
                        <a:rPr lang="en-US" sz="1250" b="1" dirty="0">
                          <a:solidFill>
                            <a:schemeClr val="bg1"/>
                          </a:solidFill>
                          <a:latin typeface="Segoe UI" pitchFamily="34" charset="0"/>
                          <a:ea typeface="Segoe UI" pitchFamily="34" charset="-122"/>
                          <a:cs typeface="Segoe UI" pitchFamily="34" charset="-120"/>
                        </a:rPr>
                        <a:t>Caso de uso</a:t>
                      </a:r>
                      <a:endParaRPr lang="en-US" sz="125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1250" b="1" dirty="0">
                          <a:solidFill>
                            <a:schemeClr val="bg1"/>
                          </a:solidFill>
                          <a:latin typeface="Segoe UI" pitchFamily="34" charset="0"/>
                          <a:ea typeface="Segoe UI" pitchFamily="34" charset="-122"/>
                          <a:cs typeface="Segoe UI" pitchFamily="34" charset="-120"/>
                        </a:rPr>
                        <a:t>Resultado</a:t>
                      </a:r>
                      <a:endParaRPr lang="en-US" sz="125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endParaRPr lang="en-US" sz="125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1"/>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Iniciar sesión y acceder según el rol</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El empleado no entra a Usuarios ni elimina catálogos</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Registrar, editar y eliminar clientes y vehículos</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Documento o placa repetidos y ediciones viejas se rechazan</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Consultar disponibilidad y reservar</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Solo aparecen vehículos libres; la reserva queda confirmada</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Reservar un vehículo ya ocupado</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Se rechaza con un mensaje para elegir otro período</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Entregar, pagar y devolver</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El alquiler se cierra, el saldo se actualiza y la agenda se libera</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Mantenimiento en curso</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El vehículo aparece En mantenimiento y no se puede reservar</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Pedir una recomendación</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Sugerencias de OpenAI con explicación, o respaldo por reglas</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200" b="1" dirty="0">
                          <a:solidFill>
                            <a:schemeClr val="bg1"/>
                          </a:solidFill>
                          <a:latin typeface="Segoe UI" pitchFamily="34" charset="0"/>
                          <a:ea typeface="Segoe UI" pitchFamily="34" charset="-122"/>
                          <a:cs typeface="Segoe UI" pitchFamily="34" charset="-120"/>
                        </a:rPr>
                        <a:t>Ejecutar en Docker</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indent="0" marL="0">
                        <a:buNone/>
                      </a:pPr>
                      <a:r>
                        <a:rPr lang="en-US" sz="1200" dirty="0">
                          <a:solidFill>
                            <a:schemeClr val="bg2"/>
                          </a:solidFill>
                          <a:latin typeface="Segoe UI" pitchFamily="34" charset="0"/>
                          <a:ea typeface="Segoe UI" pitchFamily="34" charset="-122"/>
                          <a:cs typeface="Segoe UI" pitchFamily="34" charset="-120"/>
                        </a:rPr>
                        <a:t>La app responde en localhost:8080 con la base del contenedor</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c>
                  <a:txBody>
                    <a:bodyPr/>
                    <a:lstStyle/>
                    <a:p>
                      <a:pPr algn="ctr" indent="0" marL="0">
                        <a:buNone/>
                      </a:pPr>
                      <a:r>
                        <a:rPr lang="en-US" sz="1200" b="1" dirty="0">
                          <a:solidFill>
                            <a:schemeClr val="accent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accent6"/>
                    </a:solidFill>
                  </a:tcPr>
                </a:tc>
              </a:tr>
            </a:tbl>
          </a:graphicData>
        </a:graphic>
      </p:graphicFrame>
      <p:sp>
        <p:nvSpPr>
          <p:cNvPr id="5" name="hint"/>
          <p:cNvSpPr/>
          <p:nvPr/>
        </p:nvSpPr>
        <p:spPr>
          <a:xfrm>
            <a:off x="8412480" y="1783080"/>
            <a:ext cx="3227832" cy="2057400"/>
          </a:xfrm>
          <a:prstGeom prst="roundRect">
            <a:avLst>
              <a:gd name="adj" fmla="val 6222"/>
            </a:avLst>
          </a:prstGeom>
          <a:solidFill>
            <a:schemeClr val="accent6"/>
          </a:solidFill>
          <a:ln/>
        </p:spPr>
      </p:sp>
      <p:sp>
        <p:nvSpPr>
          <p:cNvPr id="6" name="icono-MdLightbulb"/>
          <p:cNvSpPr/>
          <p:nvPr/>
        </p:nvSpPr>
        <p:spPr>
          <a:xfrm>
            <a:off x="8595360" y="1965960"/>
            <a:ext cx="384048" cy="384048"/>
          </a:xfrm>
          <a:prstGeom prst="roundRect">
            <a:avLst>
              <a:gd name="adj" fmla="val 22000"/>
            </a:avLst>
          </a:prstGeom>
          <a:solidFill>
            <a:schemeClr val="accent1"/>
          </a:solidFill>
          <a:ln/>
        </p:spPr>
      </p:sp>
      <p:pic>
        <p:nvPicPr>
          <p:cNvPr id="7" name="glifo-MdLightbulb" descr="preencoded.png">    </p:cNvPr>
          <p:cNvPicPr>
            <a:picLocks noChangeAspect="1"/>
          </p:cNvPicPr>
          <p:nvPr/>
        </p:nvPicPr>
        <p:blipFill>
          <a:blip r:embed="rId1"/>
          <a:stretch>
            <a:fillRect/>
          </a:stretch>
        </p:blipFill>
        <p:spPr>
          <a:xfrm>
            <a:off x="8672170" y="2042770"/>
            <a:ext cx="230429" cy="230429"/>
          </a:xfrm>
          <a:prstGeom prst="rect">
            <a:avLst/>
          </a:prstGeom>
        </p:spPr>
      </p:pic>
      <p:sp>
        <p:nvSpPr>
          <p:cNvPr id="8" name="Text 4"/>
          <p:cNvSpPr txBox="1"/>
          <p:nvPr/>
        </p:nvSpPr>
        <p:spPr>
          <a:xfrm>
            <a:off x="9125712" y="1938528"/>
            <a:ext cx="233172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VERIFICAR-BASE.SQL</a:t>
            </a:r>
            <a:endParaRPr lang="en-US" sz="1050" dirty="0"/>
          </a:p>
        </p:txBody>
      </p:sp>
      <p:sp>
        <p:nvSpPr>
          <p:cNvPr id="9" name="Text 5"/>
          <p:cNvSpPr txBox="1"/>
          <p:nvPr/>
        </p:nvSpPr>
        <p:spPr>
          <a:xfrm>
            <a:off x="9125712" y="2240280"/>
            <a:ext cx="2331720" cy="149047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Script que prueba en SQL Server las restricciones: placa y documento únicos, capacidad, borrado restringido y rowversion. Revierte sus filas al terminar.</a:t>
            </a:r>
            <a:endParaRPr lang="en-US" sz="1200" dirty="0"/>
          </a:p>
        </p:txBody>
      </p:sp>
      <p:sp>
        <p:nvSpPr>
          <p:cNvPr id="10" name="hint"/>
          <p:cNvSpPr/>
          <p:nvPr/>
        </p:nvSpPr>
        <p:spPr>
          <a:xfrm>
            <a:off x="8412480" y="4023360"/>
            <a:ext cx="3227832" cy="2148840"/>
          </a:xfrm>
          <a:prstGeom prst="roundRect">
            <a:avLst>
              <a:gd name="adj" fmla="val 5957"/>
            </a:avLst>
          </a:prstGeom>
          <a:solidFill>
            <a:schemeClr val="accent6"/>
          </a:solidFill>
          <a:ln/>
        </p:spPr>
      </p:sp>
      <p:sp>
        <p:nvSpPr>
          <p:cNvPr id="11" name="icono-MdLightbulb"/>
          <p:cNvSpPr/>
          <p:nvPr/>
        </p:nvSpPr>
        <p:spPr>
          <a:xfrm>
            <a:off x="8595360" y="4206240"/>
            <a:ext cx="384048" cy="384048"/>
          </a:xfrm>
          <a:prstGeom prst="roundRect">
            <a:avLst>
              <a:gd name="adj" fmla="val 22000"/>
            </a:avLst>
          </a:prstGeom>
          <a:solidFill>
            <a:schemeClr val="accent1"/>
          </a:solidFill>
          <a:ln/>
        </p:spPr>
      </p:sp>
      <p:pic>
        <p:nvPicPr>
          <p:cNvPr id="12" name="glifo-MdLightbulb" descr="preencoded.png">    </p:cNvPr>
          <p:cNvPicPr>
            <a:picLocks noChangeAspect="1"/>
          </p:cNvPicPr>
          <p:nvPr/>
        </p:nvPicPr>
        <p:blipFill>
          <a:blip r:embed="rId2"/>
          <a:stretch>
            <a:fillRect/>
          </a:stretch>
        </p:blipFill>
        <p:spPr>
          <a:xfrm>
            <a:off x="8672170" y="4283050"/>
            <a:ext cx="230429" cy="230429"/>
          </a:xfrm>
          <a:prstGeom prst="rect">
            <a:avLst/>
          </a:prstGeom>
        </p:spPr>
      </p:pic>
      <p:sp>
        <p:nvSpPr>
          <p:cNvPr id="13" name="Text 8"/>
          <p:cNvSpPr txBox="1"/>
          <p:nvPr/>
        </p:nvSpPr>
        <p:spPr>
          <a:xfrm>
            <a:off x="9125712" y="4178808"/>
            <a:ext cx="2331720" cy="274320"/>
          </a:xfrm>
          <a:prstGeom prst="rect">
            <a:avLst/>
          </a:prstGeom>
          <a:noFill/>
          <a:ln/>
        </p:spPr>
        <p:txBody>
          <a:bodyPr wrap="square" lIns="0" tIns="0" rIns="0" bIns="0" rtlCol="0" anchor="ctr"/>
          <a:lstStyle/>
          <a:p>
            <a:pPr indent="0" marL="0">
              <a:buNone/>
            </a:pPr>
            <a:r>
              <a:rPr lang="en-US" sz="1050" b="1" spc="150" kern="0" dirty="0">
                <a:solidFill>
                  <a:schemeClr val="accent2"/>
                </a:solidFill>
                <a:latin typeface="Segoe UI" pitchFamily="34" charset="0"/>
                <a:ea typeface="Segoe UI" pitchFamily="34" charset="-122"/>
                <a:cs typeface="Segoe UI" pitchFamily="34" charset="-120"/>
              </a:rPr>
              <a:t>HINT · EVIDENCIAS</a:t>
            </a:r>
            <a:endParaRPr lang="en-US" sz="1050" dirty="0"/>
          </a:p>
        </p:txBody>
      </p:sp>
      <p:sp>
        <p:nvSpPr>
          <p:cNvPr id="14" name="Text 9"/>
          <p:cNvSpPr txBox="1"/>
          <p:nvPr/>
        </p:nvSpPr>
        <p:spPr>
          <a:xfrm>
            <a:off x="9125712" y="4480560"/>
            <a:ext cx="2331720" cy="1581912"/>
          </a:xfrm>
          <a:prstGeom prst="rect">
            <a:avLst/>
          </a:prstGeom>
          <a:noFill/>
          <a:ln/>
        </p:spPr>
        <p:txBody>
          <a:bodyPr wrap="square" lIns="0" tIns="0" rIns="0" bIns="0" rtlCol="0" anchor="t"/>
          <a:lstStyle/>
          <a:p>
            <a:pPr indent="0" marL="0">
              <a:buNone/>
            </a:pPr>
            <a:r>
              <a:rPr lang="en-US" sz="1200" dirty="0">
                <a:solidFill>
                  <a:schemeClr val="bg1"/>
                </a:solidFill>
                <a:latin typeface="Segoe UI" pitchFamily="34" charset="0"/>
                <a:ea typeface="Segoe UI" pitchFamily="34" charset="-122"/>
                <a:cs typeface="Segoe UI" pitchFamily="34" charset="-120"/>
              </a:rPr>
              <a:t>Capturas de cada caso en docs/evidencias/ui y en el documento de la Fase II. Todas las pruebas se hicieron con datos ficticios.</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RETOS Y LECCIONES APRENDIDAS</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LO QUE APRENDIMOS CONSTRUYÉNDOLO</a:t>
            </a:r>
            <a:endParaRPr lang="en-US" sz="3800" dirty="0"/>
          </a:p>
        </p:txBody>
      </p:sp>
      <p:sp>
        <p:nvSpPr>
          <p:cNvPr id="4" name="Text 2"/>
          <p:cNvSpPr txBox="1"/>
          <p:nvPr/>
        </p:nvSpPr>
        <p:spPr>
          <a:xfrm>
            <a:off x="548640" y="1737360"/>
            <a:ext cx="5486400" cy="365760"/>
          </a:xfrm>
          <a:prstGeom prst="rect">
            <a:avLst/>
          </a:prstGeom>
          <a:noFill/>
          <a:ln/>
        </p:spPr>
        <p:txBody>
          <a:bodyPr wrap="square" lIns="0" tIns="0" rIns="0" bIns="0" rtlCol="0" anchor="t"/>
          <a:lstStyle/>
          <a:p>
            <a:pPr indent="0" marL="0">
              <a:buNone/>
            </a:pPr>
            <a:r>
              <a:rPr lang="en-US" sz="2200" dirty="0">
                <a:solidFill>
                  <a:schemeClr val="accent2"/>
                </a:solidFill>
                <a:latin typeface="Bahnschrift SemiBold Condensed" pitchFamily="34" charset="0"/>
                <a:ea typeface="Bahnschrift SemiBold Condensed" pitchFamily="34" charset="-122"/>
                <a:cs typeface="Bahnschrift SemiBold Condensed" pitchFamily="34" charset="-120"/>
              </a:rPr>
              <a:t>RETOS</a:t>
            </a:r>
            <a:endParaRPr lang="en-US" sz="2200" dirty="0"/>
          </a:p>
        </p:txBody>
      </p:sp>
      <p:sp>
        <p:nvSpPr>
          <p:cNvPr id="5" name="card"/>
          <p:cNvSpPr/>
          <p:nvPr/>
        </p:nvSpPr>
        <p:spPr>
          <a:xfrm>
            <a:off x="548640" y="2194560"/>
            <a:ext cx="5486400" cy="1143000"/>
          </a:xfrm>
          <a:prstGeom prst="roundRect">
            <a:avLst>
              <a:gd name="adj" fmla="val 11200"/>
            </a:avLst>
          </a:prstGeom>
          <a:solidFill>
            <a:schemeClr val="tx2"/>
          </a:solidFill>
          <a:ln/>
        </p:spPr>
      </p:sp>
      <p:sp>
        <p:nvSpPr>
          <p:cNvPr id="6" name="icono-MdSwapHoriz"/>
          <p:cNvSpPr/>
          <p:nvPr/>
        </p:nvSpPr>
        <p:spPr>
          <a:xfrm>
            <a:off x="777240" y="2468880"/>
            <a:ext cx="566928" cy="566928"/>
          </a:xfrm>
          <a:prstGeom prst="roundRect">
            <a:avLst>
              <a:gd name="adj" fmla="val 22000"/>
            </a:avLst>
          </a:prstGeom>
          <a:solidFill>
            <a:schemeClr val="accent1"/>
          </a:solidFill>
          <a:ln/>
        </p:spPr>
      </p:sp>
      <p:pic>
        <p:nvPicPr>
          <p:cNvPr id="7" name="glifo-MdSwapHoriz" descr="preencoded.png">    </p:cNvPr>
          <p:cNvPicPr>
            <a:picLocks noChangeAspect="1"/>
          </p:cNvPicPr>
          <p:nvPr/>
        </p:nvPicPr>
        <p:blipFill>
          <a:blip r:embed="rId1"/>
          <a:stretch>
            <a:fillRect/>
          </a:stretch>
        </p:blipFill>
        <p:spPr>
          <a:xfrm>
            <a:off x="890626" y="2582266"/>
            <a:ext cx="340157" cy="340157"/>
          </a:xfrm>
          <a:prstGeom prst="rect">
            <a:avLst/>
          </a:prstGeom>
        </p:spPr>
      </p:pic>
      <p:sp>
        <p:nvSpPr>
          <p:cNvPr id="8" name="Text 5"/>
          <p:cNvSpPr txBox="1"/>
          <p:nvPr/>
        </p:nvSpPr>
        <p:spPr>
          <a:xfrm>
            <a:off x="1554480" y="2377440"/>
            <a:ext cx="4343400" cy="32004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Cambio de PostgreSQL a SQL Server</a:t>
            </a:r>
            <a:endParaRPr lang="en-US" sz="1400" dirty="0"/>
          </a:p>
        </p:txBody>
      </p:sp>
      <p:sp>
        <p:nvSpPr>
          <p:cNvPr id="9" name="Text 6"/>
          <p:cNvSpPr txBox="1"/>
          <p:nvPr/>
        </p:nvSpPr>
        <p:spPr>
          <a:xfrm>
            <a:off x="1554480" y="2715768"/>
            <a:ext cx="4343400" cy="5029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Rehacer el modelo con el proveedor oficial de EF Core</a:t>
            </a:r>
            <a:endParaRPr lang="en-US" sz="1200" dirty="0"/>
          </a:p>
        </p:txBody>
      </p:sp>
      <p:sp>
        <p:nvSpPr>
          <p:cNvPr id="10" name="card"/>
          <p:cNvSpPr/>
          <p:nvPr/>
        </p:nvSpPr>
        <p:spPr>
          <a:xfrm>
            <a:off x="548640" y="3520440"/>
            <a:ext cx="5486400" cy="1143000"/>
          </a:xfrm>
          <a:prstGeom prst="roundRect">
            <a:avLst>
              <a:gd name="adj" fmla="val 11200"/>
            </a:avLst>
          </a:prstGeom>
          <a:solidFill>
            <a:schemeClr val="tx2"/>
          </a:solidFill>
          <a:ln/>
        </p:spPr>
      </p:sp>
      <p:sp>
        <p:nvSpPr>
          <p:cNvPr id="11" name="icono-MdSync"/>
          <p:cNvSpPr/>
          <p:nvPr/>
        </p:nvSpPr>
        <p:spPr>
          <a:xfrm>
            <a:off x="777240" y="3794760"/>
            <a:ext cx="566928" cy="566928"/>
          </a:xfrm>
          <a:prstGeom prst="roundRect">
            <a:avLst>
              <a:gd name="adj" fmla="val 22000"/>
            </a:avLst>
          </a:prstGeom>
          <a:solidFill>
            <a:schemeClr val="accent1"/>
          </a:solidFill>
          <a:ln/>
        </p:spPr>
      </p:sp>
      <p:pic>
        <p:nvPicPr>
          <p:cNvPr id="12" name="glifo-MdSync" descr="preencoded.png">    </p:cNvPr>
          <p:cNvPicPr>
            <a:picLocks noChangeAspect="1"/>
          </p:cNvPicPr>
          <p:nvPr/>
        </p:nvPicPr>
        <p:blipFill>
          <a:blip r:embed="rId2"/>
          <a:stretch>
            <a:fillRect/>
          </a:stretch>
        </p:blipFill>
        <p:spPr>
          <a:xfrm>
            <a:off x="890626" y="3908146"/>
            <a:ext cx="340157" cy="340157"/>
          </a:xfrm>
          <a:prstGeom prst="rect">
            <a:avLst/>
          </a:prstGeom>
        </p:spPr>
      </p:pic>
      <p:sp>
        <p:nvSpPr>
          <p:cNvPr id="13" name="Text 9"/>
          <p:cNvSpPr txBox="1"/>
          <p:nvPr/>
        </p:nvSpPr>
        <p:spPr>
          <a:xfrm>
            <a:off x="1554480" y="3703320"/>
            <a:ext cx="4343400" cy="32004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Reservas simultáneas</a:t>
            </a:r>
            <a:endParaRPr lang="en-US" sz="1400" dirty="0"/>
          </a:p>
        </p:txBody>
      </p:sp>
      <p:sp>
        <p:nvSpPr>
          <p:cNvPr id="14" name="Text 10"/>
          <p:cNvSpPr txBox="1"/>
          <p:nvPr/>
        </p:nvSpPr>
        <p:spPr>
          <a:xfrm>
            <a:off x="1554480" y="4041648"/>
            <a:ext cx="4343400" cy="5029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Una consulta previa no bastaba; hizo falta bloquear el vehículo</a:t>
            </a:r>
            <a:endParaRPr lang="en-US" sz="1200" dirty="0"/>
          </a:p>
        </p:txBody>
      </p:sp>
      <p:sp>
        <p:nvSpPr>
          <p:cNvPr id="15" name="card"/>
          <p:cNvSpPr/>
          <p:nvPr/>
        </p:nvSpPr>
        <p:spPr>
          <a:xfrm>
            <a:off x="548640" y="4846320"/>
            <a:ext cx="5486400" cy="1143000"/>
          </a:xfrm>
          <a:prstGeom prst="roundRect">
            <a:avLst>
              <a:gd name="adj" fmla="val 11200"/>
            </a:avLst>
          </a:prstGeom>
          <a:solidFill>
            <a:schemeClr val="tx2"/>
          </a:solidFill>
          <a:ln/>
        </p:spPr>
      </p:sp>
      <p:sp>
        <p:nvSpPr>
          <p:cNvPr id="16" name="icono-MdInventory2"/>
          <p:cNvSpPr/>
          <p:nvPr/>
        </p:nvSpPr>
        <p:spPr>
          <a:xfrm>
            <a:off x="777240" y="5120640"/>
            <a:ext cx="566928" cy="566928"/>
          </a:xfrm>
          <a:prstGeom prst="roundRect">
            <a:avLst>
              <a:gd name="adj" fmla="val 22000"/>
            </a:avLst>
          </a:prstGeom>
          <a:solidFill>
            <a:schemeClr val="accent1"/>
          </a:solidFill>
          <a:ln/>
        </p:spPr>
      </p:sp>
      <p:pic>
        <p:nvPicPr>
          <p:cNvPr id="17" name="glifo-MdInventory2" descr="preencoded.png">    </p:cNvPr>
          <p:cNvPicPr>
            <a:picLocks noChangeAspect="1"/>
          </p:cNvPicPr>
          <p:nvPr/>
        </p:nvPicPr>
        <p:blipFill>
          <a:blip r:embed="rId3"/>
          <a:stretch>
            <a:fillRect/>
          </a:stretch>
        </p:blipFill>
        <p:spPr>
          <a:xfrm>
            <a:off x="890626" y="5234026"/>
            <a:ext cx="340157" cy="340157"/>
          </a:xfrm>
          <a:prstGeom prst="rect">
            <a:avLst/>
          </a:prstGeom>
        </p:spPr>
      </p:pic>
      <p:sp>
        <p:nvSpPr>
          <p:cNvPr id="18" name="Text 13"/>
          <p:cNvSpPr txBox="1"/>
          <p:nvPr/>
        </p:nvSpPr>
        <p:spPr>
          <a:xfrm>
            <a:off x="1554480" y="5029200"/>
            <a:ext cx="4343400" cy="32004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Puesta en marcha de Docker</a:t>
            </a:r>
            <a:endParaRPr lang="en-US" sz="1400" dirty="0"/>
          </a:p>
        </p:txBody>
      </p:sp>
      <p:sp>
        <p:nvSpPr>
          <p:cNvPr id="19" name="Text 14"/>
          <p:cNvSpPr txBox="1"/>
          <p:nvPr/>
        </p:nvSpPr>
        <p:spPr>
          <a:xfrm>
            <a:off x="1554480" y="5367528"/>
            <a:ext cx="4343400" cy="50292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Esperar a que SQL Server esté sano antes de migrar y levantar la web</a:t>
            </a:r>
            <a:endParaRPr lang="en-US" sz="1200" dirty="0"/>
          </a:p>
        </p:txBody>
      </p:sp>
      <p:sp>
        <p:nvSpPr>
          <p:cNvPr id="20" name="Text 15"/>
          <p:cNvSpPr txBox="1"/>
          <p:nvPr/>
        </p:nvSpPr>
        <p:spPr>
          <a:xfrm>
            <a:off x="6355080" y="1737360"/>
            <a:ext cx="5029200" cy="365760"/>
          </a:xfrm>
          <a:prstGeom prst="rect">
            <a:avLst/>
          </a:prstGeom>
          <a:noFill/>
          <a:ln/>
        </p:spPr>
        <p:txBody>
          <a:bodyPr wrap="square" lIns="0" tIns="0" rIns="0" bIns="0" rtlCol="0" anchor="t"/>
          <a:lstStyle/>
          <a:p>
            <a:pPr indent="0" marL="0">
              <a:buNone/>
            </a:pPr>
            <a:r>
              <a:rPr lang="en-US" sz="2200" dirty="0">
                <a:solidFill>
                  <a:schemeClr val="accent2"/>
                </a:solidFill>
                <a:latin typeface="Bahnschrift SemiBold Condensed" pitchFamily="34" charset="0"/>
                <a:ea typeface="Bahnschrift SemiBold Condensed" pitchFamily="34" charset="-122"/>
                <a:cs typeface="Bahnschrift SemiBold Condensed" pitchFamily="34" charset="-120"/>
              </a:rPr>
              <a:t>LECCIONES</a:t>
            </a:r>
            <a:endParaRPr lang="en-US" sz="2200" dirty="0"/>
          </a:p>
        </p:txBody>
      </p:sp>
      <p:sp>
        <p:nvSpPr>
          <p:cNvPr id="21" name="card"/>
          <p:cNvSpPr/>
          <p:nvPr/>
        </p:nvSpPr>
        <p:spPr>
          <a:xfrm>
            <a:off x="6355080" y="2194560"/>
            <a:ext cx="5285232" cy="1143000"/>
          </a:xfrm>
          <a:prstGeom prst="roundRect">
            <a:avLst>
              <a:gd name="adj" fmla="val 11200"/>
            </a:avLst>
          </a:prstGeom>
          <a:solidFill>
            <a:schemeClr val="accent6"/>
          </a:solidFill>
          <a:ln/>
        </p:spPr>
      </p:sp>
      <p:sp>
        <p:nvSpPr>
          <p:cNvPr id="22" name="Text 17"/>
          <p:cNvSpPr txBox="1"/>
          <p:nvPr/>
        </p:nvSpPr>
        <p:spPr>
          <a:xfrm>
            <a:off x="6583680" y="2194560"/>
            <a:ext cx="731520" cy="1143000"/>
          </a:xfrm>
          <a:prstGeom prst="rect">
            <a:avLst/>
          </a:prstGeom>
          <a:noFill/>
          <a:ln/>
        </p:spPr>
        <p:txBody>
          <a:bodyPr wrap="square" lIns="0" tIns="0" rIns="0" bIns="0" rtlCol="0" anchor="ctr"/>
          <a:lstStyle/>
          <a:p>
            <a:pPr indent="0" marL="0">
              <a:buNone/>
            </a:pPr>
            <a:r>
              <a:rPr lang="en-US" sz="3600" dirty="0">
                <a:solidFill>
                  <a:schemeClr val="accent1"/>
                </a:solidFill>
                <a:latin typeface="Bahnschrift SemiBold Condensed" pitchFamily="34" charset="0"/>
                <a:ea typeface="Bahnschrift SemiBold Condensed" pitchFamily="34" charset="-122"/>
                <a:cs typeface="Bahnschrift SemiBold Condensed" pitchFamily="34" charset="-120"/>
              </a:rPr>
              <a:t>01</a:t>
            </a:r>
            <a:endParaRPr lang="en-US" sz="3600" dirty="0"/>
          </a:p>
        </p:txBody>
      </p:sp>
      <p:sp>
        <p:nvSpPr>
          <p:cNvPr id="23" name="Text 18"/>
          <p:cNvSpPr txBox="1"/>
          <p:nvPr/>
        </p:nvSpPr>
        <p:spPr>
          <a:xfrm>
            <a:off x="7315200" y="2194560"/>
            <a:ext cx="4160520" cy="1143000"/>
          </a:xfrm>
          <a:prstGeom prst="rect">
            <a:avLst/>
          </a:prstGeom>
          <a:noFill/>
          <a:ln/>
        </p:spPr>
        <p:txBody>
          <a:bodyPr wrap="square" lIns="0" tIns="0" rIns="0" bIns="0" rtlCol="0" anchor="ctr"/>
          <a:lstStyle/>
          <a:p>
            <a:pPr indent="0" marL="0">
              <a:buNone/>
            </a:pPr>
            <a:r>
              <a:rPr lang="en-US" sz="1350" dirty="0">
                <a:solidFill>
                  <a:schemeClr val="bg1"/>
                </a:solidFill>
                <a:latin typeface="Segoe UI" pitchFamily="34" charset="0"/>
                <a:ea typeface="Segoe UI" pitchFamily="34" charset="-122"/>
                <a:cs typeface="Segoe UI" pitchFamily="34" charset="-120"/>
              </a:rPr>
              <a:t>Definir pronto el motor de base de datos evita rehacer el modelo</a:t>
            </a:r>
            <a:endParaRPr lang="en-US" sz="1350" dirty="0"/>
          </a:p>
        </p:txBody>
      </p:sp>
      <p:sp>
        <p:nvSpPr>
          <p:cNvPr id="24" name="card"/>
          <p:cNvSpPr/>
          <p:nvPr/>
        </p:nvSpPr>
        <p:spPr>
          <a:xfrm>
            <a:off x="6355080" y="3520440"/>
            <a:ext cx="5285232" cy="1143000"/>
          </a:xfrm>
          <a:prstGeom prst="roundRect">
            <a:avLst>
              <a:gd name="adj" fmla="val 11200"/>
            </a:avLst>
          </a:prstGeom>
          <a:solidFill>
            <a:schemeClr val="accent6"/>
          </a:solidFill>
          <a:ln/>
        </p:spPr>
      </p:sp>
      <p:sp>
        <p:nvSpPr>
          <p:cNvPr id="25" name="Text 20"/>
          <p:cNvSpPr txBox="1"/>
          <p:nvPr/>
        </p:nvSpPr>
        <p:spPr>
          <a:xfrm>
            <a:off x="6583680" y="3520440"/>
            <a:ext cx="731520" cy="1143000"/>
          </a:xfrm>
          <a:prstGeom prst="rect">
            <a:avLst/>
          </a:prstGeom>
          <a:noFill/>
          <a:ln/>
        </p:spPr>
        <p:txBody>
          <a:bodyPr wrap="square" lIns="0" tIns="0" rIns="0" bIns="0" rtlCol="0" anchor="ctr"/>
          <a:lstStyle/>
          <a:p>
            <a:pPr indent="0" marL="0">
              <a:buNone/>
            </a:pPr>
            <a:r>
              <a:rPr lang="en-US" sz="3600" dirty="0">
                <a:solidFill>
                  <a:schemeClr val="accent1"/>
                </a:solidFill>
                <a:latin typeface="Bahnschrift SemiBold Condensed" pitchFamily="34" charset="0"/>
                <a:ea typeface="Bahnschrift SemiBold Condensed" pitchFamily="34" charset="-122"/>
                <a:cs typeface="Bahnschrift SemiBold Condensed" pitchFamily="34" charset="-120"/>
              </a:rPr>
              <a:t>02</a:t>
            </a:r>
            <a:endParaRPr lang="en-US" sz="3600" dirty="0"/>
          </a:p>
        </p:txBody>
      </p:sp>
      <p:sp>
        <p:nvSpPr>
          <p:cNvPr id="26" name="Text 21"/>
          <p:cNvSpPr txBox="1"/>
          <p:nvPr/>
        </p:nvSpPr>
        <p:spPr>
          <a:xfrm>
            <a:off x="7315200" y="3520440"/>
            <a:ext cx="4160520" cy="1143000"/>
          </a:xfrm>
          <a:prstGeom prst="rect">
            <a:avLst/>
          </a:prstGeom>
          <a:noFill/>
          <a:ln/>
        </p:spPr>
        <p:txBody>
          <a:bodyPr wrap="square" lIns="0" tIns="0" rIns="0" bIns="0" rtlCol="0" anchor="ctr"/>
          <a:lstStyle/>
          <a:p>
            <a:pPr indent="0" marL="0">
              <a:buNone/>
            </a:pPr>
            <a:r>
              <a:rPr lang="en-US" sz="1350" dirty="0">
                <a:solidFill>
                  <a:schemeClr val="bg1"/>
                </a:solidFill>
                <a:latin typeface="Segoe UI" pitchFamily="34" charset="0"/>
                <a:ea typeface="Segoe UI" pitchFamily="34" charset="-122"/>
                <a:cs typeface="Segoe UI" pitchFamily="34" charset="-120"/>
              </a:rPr>
              <a:t>Las reglas de disponibilidad se validan en el servidor y en la base, no solo en la interfaz</a:t>
            </a:r>
            <a:endParaRPr lang="en-US" sz="1350" dirty="0"/>
          </a:p>
        </p:txBody>
      </p:sp>
      <p:sp>
        <p:nvSpPr>
          <p:cNvPr id="27" name="card"/>
          <p:cNvSpPr/>
          <p:nvPr/>
        </p:nvSpPr>
        <p:spPr>
          <a:xfrm>
            <a:off x="6355080" y="4846320"/>
            <a:ext cx="5285232" cy="1143000"/>
          </a:xfrm>
          <a:prstGeom prst="roundRect">
            <a:avLst>
              <a:gd name="adj" fmla="val 11200"/>
            </a:avLst>
          </a:prstGeom>
          <a:solidFill>
            <a:schemeClr val="accent6"/>
          </a:solidFill>
          <a:ln/>
        </p:spPr>
      </p:sp>
      <p:sp>
        <p:nvSpPr>
          <p:cNvPr id="28" name="Text 23"/>
          <p:cNvSpPr txBox="1"/>
          <p:nvPr/>
        </p:nvSpPr>
        <p:spPr>
          <a:xfrm>
            <a:off x="6583680" y="4846320"/>
            <a:ext cx="731520" cy="1143000"/>
          </a:xfrm>
          <a:prstGeom prst="rect">
            <a:avLst/>
          </a:prstGeom>
          <a:noFill/>
          <a:ln/>
        </p:spPr>
        <p:txBody>
          <a:bodyPr wrap="square" lIns="0" tIns="0" rIns="0" bIns="0" rtlCol="0" anchor="ctr"/>
          <a:lstStyle/>
          <a:p>
            <a:pPr indent="0" marL="0">
              <a:buNone/>
            </a:pPr>
            <a:r>
              <a:rPr lang="en-US" sz="3600" dirty="0">
                <a:solidFill>
                  <a:schemeClr val="accent1"/>
                </a:solidFill>
                <a:latin typeface="Bahnschrift SemiBold Condensed" pitchFamily="34" charset="0"/>
                <a:ea typeface="Bahnschrift SemiBold Condensed" pitchFamily="34" charset="-122"/>
                <a:cs typeface="Bahnschrift SemiBold Condensed" pitchFamily="34" charset="-120"/>
              </a:rPr>
              <a:t>03</a:t>
            </a:r>
            <a:endParaRPr lang="en-US" sz="3600" dirty="0"/>
          </a:p>
        </p:txBody>
      </p:sp>
      <p:sp>
        <p:nvSpPr>
          <p:cNvPr id="29" name="Text 24"/>
          <p:cNvSpPr txBox="1"/>
          <p:nvPr/>
        </p:nvSpPr>
        <p:spPr>
          <a:xfrm>
            <a:off x="7315200" y="4846320"/>
            <a:ext cx="4160520" cy="1143000"/>
          </a:xfrm>
          <a:prstGeom prst="rect">
            <a:avLst/>
          </a:prstGeom>
          <a:noFill/>
          <a:ln/>
        </p:spPr>
        <p:txBody>
          <a:bodyPr wrap="square" lIns="0" tIns="0" rIns="0" bIns="0" rtlCol="0" anchor="ctr"/>
          <a:lstStyle/>
          <a:p>
            <a:pPr indent="0" marL="0">
              <a:buNone/>
            </a:pPr>
            <a:r>
              <a:rPr lang="en-US" sz="1350" dirty="0">
                <a:solidFill>
                  <a:schemeClr val="bg1"/>
                </a:solidFill>
                <a:latin typeface="Segoe UI" pitchFamily="34" charset="0"/>
                <a:ea typeface="Segoe UI" pitchFamily="34" charset="-122"/>
                <a:cs typeface="Segoe UI" pitchFamily="34" charset="-120"/>
              </a:rPr>
              <a:t>Una funcionalidad de IA necesita un modo de respaldo para que el sistema siga siendo útil</a:t>
            </a:r>
            <a:endParaRPr lang="en-US" sz="13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08</a:t>
            </a:r>
            <a:endParaRPr lang="en-US" sz="11000" dirty="0"/>
          </a:p>
        </p:txBody>
      </p:sp>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CONCLUSIONES</a:t>
            </a:r>
            <a:endParaRPr lang="en-US" sz="6000" dirty="0"/>
          </a:p>
        </p:txBody>
      </p:sp>
      <p:sp>
        <p:nvSpPr>
          <p:cNvPr id="4"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Lo logrado en la Fase II y los siguientes pasos.</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CONCLUSIONES</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UN PROTOTIPO QUE FUNCIONA DE PRINCIPIO A FIN</a:t>
            </a:r>
            <a:endParaRPr lang="en-US" sz="3800" dirty="0"/>
          </a:p>
        </p:txBody>
      </p:sp>
      <p:sp>
        <p:nvSpPr>
          <p:cNvPr id="4" name="conclusion-0"/>
          <p:cNvSpPr/>
          <p:nvPr/>
        </p:nvSpPr>
        <p:spPr>
          <a:xfrm>
            <a:off x="548640" y="1783080"/>
            <a:ext cx="3566160" cy="2743200"/>
          </a:xfrm>
          <a:prstGeom prst="roundRect">
            <a:avLst>
              <a:gd name="adj" fmla="val 4667"/>
            </a:avLst>
          </a:prstGeom>
          <a:solidFill>
            <a:schemeClr val="tx2"/>
          </a:solidFill>
          <a:ln/>
        </p:spPr>
      </p:sp>
      <p:sp>
        <p:nvSpPr>
          <p:cNvPr id="5" name="icono-MdTaskAlt"/>
          <p:cNvSpPr/>
          <p:nvPr/>
        </p:nvSpPr>
        <p:spPr>
          <a:xfrm>
            <a:off x="822960" y="2011680"/>
            <a:ext cx="640080" cy="640080"/>
          </a:xfrm>
          <a:prstGeom prst="roundRect">
            <a:avLst>
              <a:gd name="adj" fmla="val 22000"/>
            </a:avLst>
          </a:prstGeom>
          <a:solidFill>
            <a:schemeClr val="accent1"/>
          </a:solidFill>
          <a:ln/>
        </p:spPr>
      </p:sp>
      <p:pic>
        <p:nvPicPr>
          <p:cNvPr id="6" name="glifo-MdTaskAlt" descr="preencoded.png">    </p:cNvPr>
          <p:cNvPicPr>
            <a:picLocks noChangeAspect="1"/>
          </p:cNvPicPr>
          <p:nvPr/>
        </p:nvPicPr>
        <p:blipFill>
          <a:blip r:embed="rId1"/>
          <a:stretch>
            <a:fillRect/>
          </a:stretch>
        </p:blipFill>
        <p:spPr>
          <a:xfrm>
            <a:off x="950976" y="2139696"/>
            <a:ext cx="384048" cy="384048"/>
          </a:xfrm>
          <a:prstGeom prst="rect">
            <a:avLst/>
          </a:prstGeom>
        </p:spPr>
      </p:pic>
      <p:sp>
        <p:nvSpPr>
          <p:cNvPr id="7" name="Text 4"/>
          <p:cNvSpPr txBox="1"/>
          <p:nvPr/>
        </p:nvSpPr>
        <p:spPr>
          <a:xfrm>
            <a:off x="822960" y="2788920"/>
            <a:ext cx="3063240" cy="411480"/>
          </a:xfrm>
          <a:prstGeom prst="rect">
            <a:avLst/>
          </a:prstGeom>
          <a:noFill/>
          <a:ln/>
        </p:spPr>
        <p:txBody>
          <a:bodyPr wrap="square" lIns="0" tIns="0" rIns="0" bIns="0" rtlCol="0" anchor="t"/>
          <a:lstStyle/>
          <a:p>
            <a:pPr indent="0" marL="0">
              <a:buNone/>
            </a:pPr>
            <a:r>
              <a:rPr lang="en-US" sz="2100" dirty="0">
                <a:solidFill>
                  <a:schemeClr val="bg1"/>
                </a:solidFill>
                <a:latin typeface="Bahnschrift SemiBold Condensed" pitchFamily="34" charset="0"/>
                <a:ea typeface="Bahnschrift SemiBold Condensed" pitchFamily="34" charset="-122"/>
                <a:cs typeface="Bahnschrift SemiBold Condensed" pitchFamily="34" charset="-120"/>
              </a:rPr>
              <a:t>REQUISITOS CUBIERTOS</a:t>
            </a:r>
            <a:endParaRPr lang="en-US" sz="2100" dirty="0"/>
          </a:p>
        </p:txBody>
      </p:sp>
      <p:sp>
        <p:nvSpPr>
          <p:cNvPr id="8" name="Text 5"/>
          <p:cNvSpPr txBox="1"/>
          <p:nvPr/>
        </p:nvSpPr>
        <p:spPr>
          <a:xfrm>
            <a:off x="822960" y="3200400"/>
            <a:ext cx="3063240" cy="1234440"/>
          </a:xfrm>
          <a:prstGeom prst="rect">
            <a:avLst/>
          </a:prstGeom>
          <a:noFill/>
          <a:ln/>
        </p:spPr>
        <p:txBody>
          <a:bodyPr wrap="square" lIns="0" tIns="0" rIns="0" bIns="0" rtlCol="0" anchor="t"/>
          <a:lstStyle/>
          <a:p>
            <a:pPr indent="0" marL="0">
              <a:buNone/>
            </a:pPr>
            <a:r>
              <a:rPr lang="en-US" sz="1250" dirty="0">
                <a:solidFill>
                  <a:schemeClr val="bg2"/>
                </a:solidFill>
                <a:latin typeface="Segoe UI" pitchFamily="34" charset="0"/>
                <a:ea typeface="Segoe UI" pitchFamily="34" charset="-122"/>
                <a:cs typeface="Segoe UI" pitchFamily="34" charset="-120"/>
              </a:rPr>
              <a:t>Catálogos, disponibilidad, reservas, alquileres, pagos, mantenimientos, reportes y auditoría. Solo el envío de correos quedó fuera.</a:t>
            </a:r>
            <a:endParaRPr lang="en-US" sz="1250" dirty="0"/>
          </a:p>
        </p:txBody>
      </p:sp>
      <p:sp>
        <p:nvSpPr>
          <p:cNvPr id="9" name="conclusion-1"/>
          <p:cNvSpPr/>
          <p:nvPr/>
        </p:nvSpPr>
        <p:spPr>
          <a:xfrm>
            <a:off x="4297680" y="1783080"/>
            <a:ext cx="3566160" cy="2743200"/>
          </a:xfrm>
          <a:prstGeom prst="roundRect">
            <a:avLst>
              <a:gd name="adj" fmla="val 4667"/>
            </a:avLst>
          </a:prstGeom>
          <a:solidFill>
            <a:schemeClr val="accent1"/>
          </a:solidFill>
          <a:ln/>
        </p:spPr>
      </p:sp>
      <p:sp>
        <p:nvSpPr>
          <p:cNvPr id="10" name="icono-MdEventAvailable"/>
          <p:cNvSpPr/>
          <p:nvPr/>
        </p:nvSpPr>
        <p:spPr>
          <a:xfrm>
            <a:off x="4572000" y="2011680"/>
            <a:ext cx="640080" cy="640080"/>
          </a:xfrm>
          <a:prstGeom prst="roundRect">
            <a:avLst>
              <a:gd name="adj" fmla="val 22000"/>
            </a:avLst>
          </a:prstGeom>
          <a:solidFill>
            <a:schemeClr val="accent6"/>
          </a:solidFill>
          <a:ln/>
        </p:spPr>
      </p:sp>
      <p:pic>
        <p:nvPicPr>
          <p:cNvPr id="11" name="glifo-MdEventAvailable" descr="preencoded.png">    </p:cNvPr>
          <p:cNvPicPr>
            <a:picLocks noChangeAspect="1"/>
          </p:cNvPicPr>
          <p:nvPr/>
        </p:nvPicPr>
        <p:blipFill>
          <a:blip r:embed="rId2"/>
          <a:stretch>
            <a:fillRect/>
          </a:stretch>
        </p:blipFill>
        <p:spPr>
          <a:xfrm>
            <a:off x="4700016" y="2139696"/>
            <a:ext cx="384048" cy="384048"/>
          </a:xfrm>
          <a:prstGeom prst="rect">
            <a:avLst/>
          </a:prstGeom>
        </p:spPr>
      </p:pic>
      <p:sp>
        <p:nvSpPr>
          <p:cNvPr id="12" name="Text 8"/>
          <p:cNvSpPr txBox="1"/>
          <p:nvPr/>
        </p:nvSpPr>
        <p:spPr>
          <a:xfrm>
            <a:off x="4572000" y="2788920"/>
            <a:ext cx="3063240" cy="411480"/>
          </a:xfrm>
          <a:prstGeom prst="rect">
            <a:avLst/>
          </a:prstGeom>
          <a:noFill/>
          <a:ln/>
        </p:spPr>
        <p:txBody>
          <a:bodyPr wrap="square" lIns="0" tIns="0" rIns="0" bIns="0" rtlCol="0" anchor="t"/>
          <a:lstStyle/>
          <a:p>
            <a:pPr indent="0" marL="0">
              <a:buNone/>
            </a:pPr>
            <a:r>
              <a:rPr lang="en-US" sz="2100" dirty="0">
                <a:solidFill>
                  <a:schemeClr val="bg1"/>
                </a:solidFill>
                <a:latin typeface="Bahnschrift SemiBold Condensed" pitchFamily="34" charset="0"/>
                <a:ea typeface="Bahnschrift SemiBold Condensed" pitchFamily="34" charset="-122"/>
                <a:cs typeface="Bahnschrift SemiBold Condensed" pitchFamily="34" charset="-120"/>
              </a:rPr>
              <a:t>PROBLEMA PRINCIPAL RESUELTO</a:t>
            </a:r>
            <a:endParaRPr lang="en-US" sz="2100" dirty="0"/>
          </a:p>
        </p:txBody>
      </p:sp>
      <p:sp>
        <p:nvSpPr>
          <p:cNvPr id="13" name="Text 9"/>
          <p:cNvSpPr txBox="1"/>
          <p:nvPr/>
        </p:nvSpPr>
        <p:spPr>
          <a:xfrm>
            <a:off x="4572000" y="3200400"/>
            <a:ext cx="3063240" cy="1234440"/>
          </a:xfrm>
          <a:prstGeom prst="rect">
            <a:avLst/>
          </a:prstGeom>
          <a:noFill/>
          <a:ln/>
        </p:spPr>
        <p:txBody>
          <a:bodyPr wrap="square" lIns="0" tIns="0" rIns="0" bIns="0" rtlCol="0" anchor="t"/>
          <a:lstStyle/>
          <a:p>
            <a:pPr indent="0" marL="0">
              <a:buNone/>
            </a:pPr>
            <a:r>
              <a:rPr lang="en-US" sz="1250" dirty="0">
                <a:solidFill>
                  <a:schemeClr val="bg1"/>
                </a:solidFill>
                <a:latin typeface="Segoe UI" pitchFamily="34" charset="0"/>
                <a:ea typeface="Segoe UI" pitchFamily="34" charset="-122"/>
                <a:cs typeface="Segoe UI" pitchFamily="34" charset="-120"/>
              </a:rPr>
              <a:t>La agenda única validada dentro de una transacción impide asignar un vehículo dos veces en el mismo período.</a:t>
            </a:r>
            <a:endParaRPr lang="en-US" sz="1250" dirty="0"/>
          </a:p>
        </p:txBody>
      </p:sp>
      <p:sp>
        <p:nvSpPr>
          <p:cNvPr id="14" name="conclusion-2"/>
          <p:cNvSpPr/>
          <p:nvPr/>
        </p:nvSpPr>
        <p:spPr>
          <a:xfrm>
            <a:off x="8046720" y="1783080"/>
            <a:ext cx="3566160" cy="2743200"/>
          </a:xfrm>
          <a:prstGeom prst="roundRect">
            <a:avLst>
              <a:gd name="adj" fmla="val 4667"/>
            </a:avLst>
          </a:prstGeom>
          <a:solidFill>
            <a:schemeClr val="tx2"/>
          </a:solidFill>
          <a:ln/>
        </p:spPr>
      </p:sp>
      <p:sp>
        <p:nvSpPr>
          <p:cNvPr id="15" name="icono-MdAutoAwesome"/>
          <p:cNvSpPr/>
          <p:nvPr/>
        </p:nvSpPr>
        <p:spPr>
          <a:xfrm>
            <a:off x="8321040" y="2011680"/>
            <a:ext cx="640080" cy="640080"/>
          </a:xfrm>
          <a:prstGeom prst="roundRect">
            <a:avLst>
              <a:gd name="adj" fmla="val 22000"/>
            </a:avLst>
          </a:prstGeom>
          <a:solidFill>
            <a:schemeClr val="accent1"/>
          </a:solidFill>
          <a:ln/>
        </p:spPr>
      </p:sp>
      <p:pic>
        <p:nvPicPr>
          <p:cNvPr id="16" name="glifo-MdAutoAwesome" descr="preencoded.png">    </p:cNvPr>
          <p:cNvPicPr>
            <a:picLocks noChangeAspect="1"/>
          </p:cNvPicPr>
          <p:nvPr/>
        </p:nvPicPr>
        <p:blipFill>
          <a:blip r:embed="rId3"/>
          <a:stretch>
            <a:fillRect/>
          </a:stretch>
        </p:blipFill>
        <p:spPr>
          <a:xfrm>
            <a:off x="8449056" y="2139696"/>
            <a:ext cx="384048" cy="384048"/>
          </a:xfrm>
          <a:prstGeom prst="rect">
            <a:avLst/>
          </a:prstGeom>
        </p:spPr>
      </p:pic>
      <p:sp>
        <p:nvSpPr>
          <p:cNvPr id="17" name="Text 12"/>
          <p:cNvSpPr txBox="1"/>
          <p:nvPr/>
        </p:nvSpPr>
        <p:spPr>
          <a:xfrm>
            <a:off x="8321040" y="2788920"/>
            <a:ext cx="3063240" cy="411480"/>
          </a:xfrm>
          <a:prstGeom prst="rect">
            <a:avLst/>
          </a:prstGeom>
          <a:noFill/>
          <a:ln/>
        </p:spPr>
        <p:txBody>
          <a:bodyPr wrap="square" lIns="0" tIns="0" rIns="0" bIns="0" rtlCol="0" anchor="t"/>
          <a:lstStyle/>
          <a:p>
            <a:pPr indent="0" marL="0">
              <a:buNone/>
            </a:pPr>
            <a:r>
              <a:rPr lang="en-US" sz="2100" dirty="0">
                <a:solidFill>
                  <a:schemeClr val="bg1"/>
                </a:solidFill>
                <a:latin typeface="Bahnschrift SemiBold Condensed" pitchFamily="34" charset="0"/>
                <a:ea typeface="Bahnschrift SemiBold Condensed" pitchFamily="34" charset="-122"/>
                <a:cs typeface="Bahnschrift SemiBold Condensed" pitchFamily="34" charset="-120"/>
              </a:rPr>
              <a:t>IA CON VALOR REAL</a:t>
            </a:r>
            <a:endParaRPr lang="en-US" sz="2100" dirty="0"/>
          </a:p>
        </p:txBody>
      </p:sp>
      <p:sp>
        <p:nvSpPr>
          <p:cNvPr id="18" name="Text 13"/>
          <p:cNvSpPr txBox="1"/>
          <p:nvPr/>
        </p:nvSpPr>
        <p:spPr>
          <a:xfrm>
            <a:off x="8321040" y="3200400"/>
            <a:ext cx="3063240" cy="1234440"/>
          </a:xfrm>
          <a:prstGeom prst="rect">
            <a:avLst/>
          </a:prstGeom>
          <a:noFill/>
          <a:ln/>
        </p:spPr>
        <p:txBody>
          <a:bodyPr wrap="square" lIns="0" tIns="0" rIns="0" bIns="0" rtlCol="0" anchor="t"/>
          <a:lstStyle/>
          <a:p>
            <a:pPr indent="0" marL="0">
              <a:buNone/>
            </a:pPr>
            <a:r>
              <a:rPr lang="en-US" sz="1250" dirty="0">
                <a:solidFill>
                  <a:schemeClr val="bg2"/>
                </a:solidFill>
                <a:latin typeface="Segoe UI" pitchFamily="34" charset="0"/>
                <a:ea typeface="Segoe UI" pitchFamily="34" charset="-122"/>
                <a:cs typeface="Segoe UI" pitchFamily="34" charset="-120"/>
              </a:rPr>
              <a:t>Aporta más cuando trabaja sobre datos ya validados: sugiere solo entre vehículos libres y cada respuesta se revisa.</a:t>
            </a:r>
            <a:endParaRPr lang="en-US" sz="1250" dirty="0"/>
          </a:p>
        </p:txBody>
      </p:sp>
      <p:sp>
        <p:nvSpPr>
          <p:cNvPr id="19" name="siguientes"/>
          <p:cNvSpPr/>
          <p:nvPr/>
        </p:nvSpPr>
        <p:spPr>
          <a:xfrm>
            <a:off x="548640" y="4709160"/>
            <a:ext cx="11091672" cy="1463040"/>
          </a:xfrm>
          <a:prstGeom prst="roundRect">
            <a:avLst>
              <a:gd name="adj" fmla="val 8750"/>
            </a:avLst>
          </a:prstGeom>
          <a:solidFill>
            <a:schemeClr val="accent6"/>
          </a:solidFill>
          <a:ln/>
        </p:spPr>
      </p:sp>
      <p:sp>
        <p:nvSpPr>
          <p:cNvPr id="20" name="Text 15"/>
          <p:cNvSpPr txBox="1"/>
          <p:nvPr/>
        </p:nvSpPr>
        <p:spPr>
          <a:xfrm>
            <a:off x="822960" y="4846320"/>
            <a:ext cx="4572000" cy="365760"/>
          </a:xfrm>
          <a:prstGeom prst="rect">
            <a:avLst/>
          </a:prstGeom>
          <a:noFill/>
          <a:ln/>
        </p:spPr>
        <p:txBody>
          <a:bodyPr wrap="square" lIns="0" tIns="0" rIns="0" bIns="0" rtlCol="0" anchor="t"/>
          <a:lstStyle/>
          <a:p>
            <a:pPr indent="0" marL="0">
              <a:buNone/>
            </a:pPr>
            <a:r>
              <a:rPr lang="en-US" sz="1900" dirty="0">
                <a:solidFill>
                  <a:schemeClr val="accent2"/>
                </a:solidFill>
                <a:latin typeface="Bahnschrift SemiBold Condensed" pitchFamily="34" charset="0"/>
                <a:ea typeface="Bahnschrift SemiBold Condensed" pitchFamily="34" charset="-122"/>
                <a:cs typeface="Bahnschrift SemiBold Condensed" pitchFamily="34" charset="-120"/>
              </a:rPr>
              <a:t>SIGUIENTES PASOS</a:t>
            </a:r>
            <a:endParaRPr lang="en-US" sz="1900" dirty="0"/>
          </a:p>
        </p:txBody>
      </p:sp>
      <p:sp>
        <p:nvSpPr>
          <p:cNvPr id="21" name="icono-MdStorefront"/>
          <p:cNvSpPr/>
          <p:nvPr/>
        </p:nvSpPr>
        <p:spPr>
          <a:xfrm>
            <a:off x="822960" y="5349240"/>
            <a:ext cx="457200" cy="457200"/>
          </a:xfrm>
          <a:prstGeom prst="roundRect">
            <a:avLst>
              <a:gd name="adj" fmla="val 22000"/>
            </a:avLst>
          </a:prstGeom>
          <a:solidFill>
            <a:schemeClr val="accent1"/>
          </a:solidFill>
          <a:ln/>
        </p:spPr>
      </p:sp>
      <p:pic>
        <p:nvPicPr>
          <p:cNvPr id="22" name="glifo-MdStorefront" descr="preencoded.png">    </p:cNvPr>
          <p:cNvPicPr>
            <a:picLocks noChangeAspect="1"/>
          </p:cNvPicPr>
          <p:nvPr/>
        </p:nvPicPr>
        <p:blipFill>
          <a:blip r:embed="rId4"/>
          <a:stretch>
            <a:fillRect/>
          </a:stretch>
        </p:blipFill>
        <p:spPr>
          <a:xfrm>
            <a:off x="914400" y="5440680"/>
            <a:ext cx="274320" cy="274320"/>
          </a:xfrm>
          <a:prstGeom prst="rect">
            <a:avLst/>
          </a:prstGeom>
        </p:spPr>
      </p:pic>
      <p:sp>
        <p:nvSpPr>
          <p:cNvPr id="23" name="Text 17"/>
          <p:cNvSpPr txBox="1"/>
          <p:nvPr/>
        </p:nvSpPr>
        <p:spPr>
          <a:xfrm>
            <a:off x="1417320" y="5349240"/>
            <a:ext cx="2880360" cy="457200"/>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Validar las reglas con una agencia real</a:t>
            </a:r>
            <a:endParaRPr lang="en-US" sz="1300" dirty="0"/>
          </a:p>
        </p:txBody>
      </p:sp>
      <p:sp>
        <p:nvSpPr>
          <p:cNvPr id="24" name="icono-MdMail"/>
          <p:cNvSpPr/>
          <p:nvPr/>
        </p:nvSpPr>
        <p:spPr>
          <a:xfrm>
            <a:off x="4434840" y="5349240"/>
            <a:ext cx="457200" cy="457200"/>
          </a:xfrm>
          <a:prstGeom prst="roundRect">
            <a:avLst>
              <a:gd name="adj" fmla="val 22000"/>
            </a:avLst>
          </a:prstGeom>
          <a:solidFill>
            <a:schemeClr val="accent1"/>
          </a:solidFill>
          <a:ln/>
        </p:spPr>
      </p:sp>
      <p:pic>
        <p:nvPicPr>
          <p:cNvPr id="25" name="glifo-MdMail" descr="preencoded.png">    </p:cNvPr>
          <p:cNvPicPr>
            <a:picLocks noChangeAspect="1"/>
          </p:cNvPicPr>
          <p:nvPr/>
        </p:nvPicPr>
        <p:blipFill>
          <a:blip r:embed="rId5"/>
          <a:stretch>
            <a:fillRect/>
          </a:stretch>
        </p:blipFill>
        <p:spPr>
          <a:xfrm>
            <a:off x="4526280" y="5440680"/>
            <a:ext cx="274320" cy="274320"/>
          </a:xfrm>
          <a:prstGeom prst="rect">
            <a:avLst/>
          </a:prstGeom>
        </p:spPr>
      </p:pic>
      <p:sp>
        <p:nvSpPr>
          <p:cNvPr id="26" name="Text 19"/>
          <p:cNvSpPr txBox="1"/>
          <p:nvPr/>
        </p:nvSpPr>
        <p:spPr>
          <a:xfrm>
            <a:off x="5029200" y="5349240"/>
            <a:ext cx="2880360" cy="457200"/>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Agregar notificaciones por correo</a:t>
            </a:r>
            <a:endParaRPr lang="en-US" sz="1300" dirty="0"/>
          </a:p>
        </p:txBody>
      </p:sp>
      <p:sp>
        <p:nvSpPr>
          <p:cNvPr id="27" name="icono-MdCloudUpload"/>
          <p:cNvSpPr/>
          <p:nvPr/>
        </p:nvSpPr>
        <p:spPr>
          <a:xfrm>
            <a:off x="8046720" y="5349240"/>
            <a:ext cx="457200" cy="457200"/>
          </a:xfrm>
          <a:prstGeom prst="roundRect">
            <a:avLst>
              <a:gd name="adj" fmla="val 22000"/>
            </a:avLst>
          </a:prstGeom>
          <a:solidFill>
            <a:schemeClr val="accent1"/>
          </a:solidFill>
          <a:ln/>
        </p:spPr>
      </p:sp>
      <p:pic>
        <p:nvPicPr>
          <p:cNvPr id="28" name="glifo-MdCloudUpload" descr="preencoded.png">    </p:cNvPr>
          <p:cNvPicPr>
            <a:picLocks noChangeAspect="1"/>
          </p:cNvPicPr>
          <p:nvPr/>
        </p:nvPicPr>
        <p:blipFill>
          <a:blip r:embed="rId6"/>
          <a:stretch>
            <a:fillRect/>
          </a:stretch>
        </p:blipFill>
        <p:spPr>
          <a:xfrm>
            <a:off x="8138160" y="5440680"/>
            <a:ext cx="274320" cy="274320"/>
          </a:xfrm>
          <a:prstGeom prst="rect">
            <a:avLst/>
          </a:prstGeom>
        </p:spPr>
      </p:pic>
      <p:sp>
        <p:nvSpPr>
          <p:cNvPr id="29" name="Text 21"/>
          <p:cNvSpPr txBox="1"/>
          <p:nvPr/>
        </p:nvSpPr>
        <p:spPr>
          <a:xfrm>
            <a:off x="8641080" y="5349240"/>
            <a:ext cx="2880360" cy="457200"/>
          </a:xfrm>
          <a:prstGeom prst="rect">
            <a:avLst/>
          </a:prstGeom>
          <a:noFill/>
          <a:ln/>
        </p:spPr>
        <p:txBody>
          <a:bodyPr wrap="square" lIns="0" tIns="0" rIns="0" bIns="0" rtlCol="0" anchor="ctr"/>
          <a:lstStyle/>
          <a:p>
            <a:pPr indent="0" marL="0">
              <a:buNone/>
            </a:pPr>
            <a:r>
              <a:rPr lang="en-US" sz="1300" dirty="0">
                <a:solidFill>
                  <a:schemeClr val="bg1"/>
                </a:solidFill>
                <a:latin typeface="Segoe UI" pitchFamily="34" charset="0"/>
                <a:ea typeface="Segoe UI" pitchFamily="34" charset="-122"/>
                <a:cs typeface="Segoe UI" pitchFamily="34" charset="-120"/>
              </a:rPr>
              <a:t>Desplegar en Azure según la propuesta</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896112" y="393192"/>
            <a:ext cx="8229600" cy="310896"/>
          </a:xfrm>
          <a:prstGeom prst="rect">
            <a:avLst/>
          </a:prstGeom>
          <a:noFill/>
          <a:ln/>
        </p:spPr>
        <p:txBody>
          <a:bodyPr wrap="square" lIns="0" tIns="0" rIns="0" bIns="0" rtlCol="0" anchor="ctr"/>
          <a:lstStyle/>
          <a:p>
            <a:pPr indent="0" marL="0">
              <a:buNone/>
            </a:pPr>
            <a:r>
              <a:rPr lang="en-US" sz="1100" b="1" spc="200" kern="0" dirty="0">
                <a:solidFill>
                  <a:schemeClr val="accent2"/>
                </a:solidFill>
                <a:latin typeface="Segoe UI" pitchFamily="34" charset="0"/>
                <a:ea typeface="Segoe UI" pitchFamily="34" charset="-122"/>
                <a:cs typeface="Segoe UI" pitchFamily="34" charset="-120"/>
              </a:rPr>
              <a:t>PREPARACIÓN PARA LA DEFENSA</a:t>
            </a:r>
            <a:endParaRPr lang="en-US" sz="1100" dirty="0"/>
          </a:p>
        </p:txBody>
      </p:sp>
      <p:sp>
        <p:nvSpPr>
          <p:cNvPr id="3" name="Text 1"/>
          <p:cNvSpPr/>
          <p:nvPr>
            <p:ph idx="102" type="title" hasCustomPrompt="1"/>
          </p:nvPr>
        </p:nvSpPr>
        <p:spPr>
          <a:xfrm>
            <a:off x="548640" y="731520"/>
            <a:ext cx="11064240" cy="731520"/>
          </a:xfrm>
          <a:prstGeom prst="rect">
            <a:avLst/>
          </a:prstGeom>
          <a:noFill/>
          <a:ln/>
        </p:spPr>
        <p:txBody>
          <a:bodyPr wrap="square" lIns="0" tIns="0" rIns="0" bIns="0" rtlCol="0" anchor="ctr"/>
          <a:lstStyle/>
          <a:p>
            <a:pPr algn="l" indent="0" marL="0">
              <a:buNone/>
            </a:pPr>
            <a:r>
              <a:rPr lang="en-US" sz="3800" dirty="0">
                <a:solidFill>
                  <a:schemeClr val="bg1"/>
                </a:solidFill>
                <a:latin typeface="Bahnschrift SemiBold Condensed" pitchFamily="34" charset="0"/>
                <a:ea typeface="Bahnschrift SemiBold Condensed" pitchFamily="34" charset="-122"/>
                <a:cs typeface="Bahnschrift SemiBold Condensed" pitchFamily="34" charset="-120"/>
              </a:rPr>
              <a:t>PREGUNTAS PROBABLES</a:t>
            </a:r>
            <a:endParaRPr lang="en-US" sz="3800" dirty="0"/>
          </a:p>
        </p:txBody>
      </p:sp>
      <p:sp>
        <p:nvSpPr>
          <p:cNvPr id="4" name="card"/>
          <p:cNvSpPr/>
          <p:nvPr/>
        </p:nvSpPr>
        <p:spPr>
          <a:xfrm>
            <a:off x="548640" y="1783080"/>
            <a:ext cx="5440680" cy="1325880"/>
          </a:xfrm>
          <a:prstGeom prst="roundRect">
            <a:avLst>
              <a:gd name="adj" fmla="val 9655"/>
            </a:avLst>
          </a:prstGeom>
          <a:solidFill>
            <a:schemeClr val="accent6"/>
          </a:solidFill>
          <a:ln/>
        </p:spPr>
      </p:sp>
      <p:sp>
        <p:nvSpPr>
          <p:cNvPr id="5" name="icono-MdHelpOutline"/>
          <p:cNvSpPr/>
          <p:nvPr/>
        </p:nvSpPr>
        <p:spPr>
          <a:xfrm>
            <a:off x="777240" y="2011680"/>
            <a:ext cx="438912" cy="438912"/>
          </a:xfrm>
          <a:prstGeom prst="roundRect">
            <a:avLst>
              <a:gd name="adj" fmla="val 22000"/>
            </a:avLst>
          </a:prstGeom>
          <a:solidFill>
            <a:schemeClr val="accent1"/>
          </a:solidFill>
          <a:ln/>
        </p:spPr>
      </p:sp>
      <p:pic>
        <p:nvPicPr>
          <p:cNvPr id="6" name="glifo-MdHelpOutline" descr="preencoded.png">    </p:cNvPr>
          <p:cNvPicPr>
            <a:picLocks noChangeAspect="1"/>
          </p:cNvPicPr>
          <p:nvPr/>
        </p:nvPicPr>
        <p:blipFill>
          <a:blip r:embed="rId1"/>
          <a:stretch>
            <a:fillRect/>
          </a:stretch>
        </p:blipFill>
        <p:spPr>
          <a:xfrm>
            <a:off x="865022" y="2099462"/>
            <a:ext cx="263347" cy="263347"/>
          </a:xfrm>
          <a:prstGeom prst="rect">
            <a:avLst/>
          </a:prstGeom>
        </p:spPr>
      </p:pic>
      <p:sp>
        <p:nvSpPr>
          <p:cNvPr id="7" name="Text 4"/>
          <p:cNvSpPr txBox="1"/>
          <p:nvPr/>
        </p:nvSpPr>
        <p:spPr>
          <a:xfrm>
            <a:off x="1371600" y="1984248"/>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¿Por qué SQL Server y no PostgreSQL?</a:t>
            </a:r>
            <a:endParaRPr lang="en-US" sz="1400" dirty="0"/>
          </a:p>
        </p:txBody>
      </p:sp>
      <p:sp>
        <p:nvSpPr>
          <p:cNvPr id="8" name="Text 5"/>
          <p:cNvSpPr txBox="1"/>
          <p:nvPr/>
        </p:nvSpPr>
        <p:spPr>
          <a:xfrm>
            <a:off x="1371600" y="2377440"/>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Proveedor oficial de EF Core y Azure SQL Database como opción directa en la nube.</a:t>
            </a:r>
            <a:endParaRPr lang="en-US" sz="1200" dirty="0"/>
          </a:p>
        </p:txBody>
      </p:sp>
      <p:sp>
        <p:nvSpPr>
          <p:cNvPr id="9" name="card"/>
          <p:cNvSpPr/>
          <p:nvPr/>
        </p:nvSpPr>
        <p:spPr>
          <a:xfrm>
            <a:off x="6190488" y="1783080"/>
            <a:ext cx="5440680" cy="1325880"/>
          </a:xfrm>
          <a:prstGeom prst="roundRect">
            <a:avLst>
              <a:gd name="adj" fmla="val 9655"/>
            </a:avLst>
          </a:prstGeom>
          <a:solidFill>
            <a:schemeClr val="tx2"/>
          </a:solidFill>
          <a:ln/>
        </p:spPr>
      </p:sp>
      <p:sp>
        <p:nvSpPr>
          <p:cNvPr id="10" name="icono-MdHelpOutline"/>
          <p:cNvSpPr/>
          <p:nvPr/>
        </p:nvSpPr>
        <p:spPr>
          <a:xfrm>
            <a:off x="6419088" y="2011680"/>
            <a:ext cx="438912" cy="438912"/>
          </a:xfrm>
          <a:prstGeom prst="roundRect">
            <a:avLst>
              <a:gd name="adj" fmla="val 22000"/>
            </a:avLst>
          </a:prstGeom>
          <a:solidFill>
            <a:schemeClr val="accent1"/>
          </a:solidFill>
          <a:ln/>
        </p:spPr>
      </p:sp>
      <p:pic>
        <p:nvPicPr>
          <p:cNvPr id="11" name="glifo-MdHelpOutline" descr="preencoded.png">    </p:cNvPr>
          <p:cNvPicPr>
            <a:picLocks noChangeAspect="1"/>
          </p:cNvPicPr>
          <p:nvPr/>
        </p:nvPicPr>
        <p:blipFill>
          <a:blip r:embed="rId2"/>
          <a:stretch>
            <a:fillRect/>
          </a:stretch>
        </p:blipFill>
        <p:spPr>
          <a:xfrm>
            <a:off x="6506870" y="2099462"/>
            <a:ext cx="263347" cy="263347"/>
          </a:xfrm>
          <a:prstGeom prst="rect">
            <a:avLst/>
          </a:prstGeom>
        </p:spPr>
      </p:pic>
      <p:sp>
        <p:nvSpPr>
          <p:cNvPr id="12" name="Text 8"/>
          <p:cNvSpPr txBox="1"/>
          <p:nvPr/>
        </p:nvSpPr>
        <p:spPr>
          <a:xfrm>
            <a:off x="7013448" y="1984248"/>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¿Cómo evitan una doble reserva?</a:t>
            </a:r>
            <a:endParaRPr lang="en-US" sz="1400" dirty="0"/>
          </a:p>
        </p:txBody>
      </p:sp>
      <p:sp>
        <p:nvSpPr>
          <p:cNvPr id="13" name="Text 9"/>
          <p:cNvSpPr txBox="1"/>
          <p:nvPr/>
        </p:nvSpPr>
        <p:spPr>
          <a:xfrm>
            <a:off x="7013448" y="2377440"/>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Transacción serializable con UPDLOCK y HOLDLOCK sobre el vehículo, y la tabla única Ocupaciones.</a:t>
            </a:r>
            <a:endParaRPr lang="en-US" sz="1200" dirty="0"/>
          </a:p>
        </p:txBody>
      </p:sp>
      <p:sp>
        <p:nvSpPr>
          <p:cNvPr id="14" name="card"/>
          <p:cNvSpPr/>
          <p:nvPr/>
        </p:nvSpPr>
        <p:spPr>
          <a:xfrm>
            <a:off x="548640" y="3264408"/>
            <a:ext cx="5440680" cy="1325880"/>
          </a:xfrm>
          <a:prstGeom prst="roundRect">
            <a:avLst>
              <a:gd name="adj" fmla="val 9655"/>
            </a:avLst>
          </a:prstGeom>
          <a:solidFill>
            <a:schemeClr val="tx2"/>
          </a:solidFill>
          <a:ln/>
        </p:spPr>
      </p:sp>
      <p:sp>
        <p:nvSpPr>
          <p:cNvPr id="15" name="icono-MdHelpOutline"/>
          <p:cNvSpPr/>
          <p:nvPr/>
        </p:nvSpPr>
        <p:spPr>
          <a:xfrm>
            <a:off x="777240" y="3493008"/>
            <a:ext cx="438912" cy="438912"/>
          </a:xfrm>
          <a:prstGeom prst="roundRect">
            <a:avLst>
              <a:gd name="adj" fmla="val 22000"/>
            </a:avLst>
          </a:prstGeom>
          <a:solidFill>
            <a:schemeClr val="accent1"/>
          </a:solidFill>
          <a:ln/>
        </p:spPr>
      </p:sp>
      <p:pic>
        <p:nvPicPr>
          <p:cNvPr id="16" name="glifo-MdHelpOutline" descr="preencoded.png">    </p:cNvPr>
          <p:cNvPicPr>
            <a:picLocks noChangeAspect="1"/>
          </p:cNvPicPr>
          <p:nvPr/>
        </p:nvPicPr>
        <p:blipFill>
          <a:blip r:embed="rId3"/>
          <a:stretch>
            <a:fillRect/>
          </a:stretch>
        </p:blipFill>
        <p:spPr>
          <a:xfrm>
            <a:off x="865022" y="3580790"/>
            <a:ext cx="263347" cy="263347"/>
          </a:xfrm>
          <a:prstGeom prst="rect">
            <a:avLst/>
          </a:prstGeom>
        </p:spPr>
      </p:pic>
      <p:sp>
        <p:nvSpPr>
          <p:cNvPr id="17" name="Text 12"/>
          <p:cNvSpPr txBox="1"/>
          <p:nvPr/>
        </p:nvSpPr>
        <p:spPr>
          <a:xfrm>
            <a:off x="1371600" y="3465576"/>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¿Qué pasa si OpenAI falla?</a:t>
            </a:r>
            <a:endParaRPr lang="en-US" sz="1400" dirty="0"/>
          </a:p>
        </p:txBody>
      </p:sp>
      <p:sp>
        <p:nvSpPr>
          <p:cNvPr id="18" name="Text 13"/>
          <p:cNvSpPr txBox="1"/>
          <p:nvPr/>
        </p:nvSpPr>
        <p:spPr>
          <a:xfrm>
            <a:off x="1371600" y="3858768"/>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Respaldo por reglas: los tres candidatos más económicos, con el origen visible en pantalla.</a:t>
            </a:r>
            <a:endParaRPr lang="en-US" sz="1200" dirty="0"/>
          </a:p>
        </p:txBody>
      </p:sp>
      <p:sp>
        <p:nvSpPr>
          <p:cNvPr id="19" name="card"/>
          <p:cNvSpPr/>
          <p:nvPr/>
        </p:nvSpPr>
        <p:spPr>
          <a:xfrm>
            <a:off x="6190488" y="3264408"/>
            <a:ext cx="5440680" cy="1325880"/>
          </a:xfrm>
          <a:prstGeom prst="roundRect">
            <a:avLst>
              <a:gd name="adj" fmla="val 9655"/>
            </a:avLst>
          </a:prstGeom>
          <a:solidFill>
            <a:schemeClr val="accent6"/>
          </a:solidFill>
          <a:ln/>
        </p:spPr>
      </p:sp>
      <p:sp>
        <p:nvSpPr>
          <p:cNvPr id="20" name="icono-MdHelpOutline"/>
          <p:cNvSpPr/>
          <p:nvPr/>
        </p:nvSpPr>
        <p:spPr>
          <a:xfrm>
            <a:off x="6419088" y="3493008"/>
            <a:ext cx="438912" cy="438912"/>
          </a:xfrm>
          <a:prstGeom prst="roundRect">
            <a:avLst>
              <a:gd name="adj" fmla="val 22000"/>
            </a:avLst>
          </a:prstGeom>
          <a:solidFill>
            <a:schemeClr val="accent1"/>
          </a:solidFill>
          <a:ln/>
        </p:spPr>
      </p:sp>
      <p:pic>
        <p:nvPicPr>
          <p:cNvPr id="21" name="glifo-MdHelpOutline" descr="preencoded.png">    </p:cNvPr>
          <p:cNvPicPr>
            <a:picLocks noChangeAspect="1"/>
          </p:cNvPicPr>
          <p:nvPr/>
        </p:nvPicPr>
        <p:blipFill>
          <a:blip r:embed="rId4"/>
          <a:stretch>
            <a:fillRect/>
          </a:stretch>
        </p:blipFill>
        <p:spPr>
          <a:xfrm>
            <a:off x="6506870" y="3580790"/>
            <a:ext cx="263347" cy="263347"/>
          </a:xfrm>
          <a:prstGeom prst="rect">
            <a:avLst/>
          </a:prstGeom>
        </p:spPr>
      </p:pic>
      <p:sp>
        <p:nvSpPr>
          <p:cNvPr id="22" name="Text 16"/>
          <p:cNvSpPr txBox="1"/>
          <p:nvPr/>
        </p:nvSpPr>
        <p:spPr>
          <a:xfrm>
            <a:off x="7013448" y="3465576"/>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¿Dónde está la clave de OpenAI?</a:t>
            </a:r>
            <a:endParaRPr lang="en-US" sz="1400" dirty="0"/>
          </a:p>
        </p:txBody>
      </p:sp>
      <p:sp>
        <p:nvSpPr>
          <p:cNvPr id="23" name="Text 17"/>
          <p:cNvSpPr txBox="1"/>
          <p:nvPr/>
        </p:nvSpPr>
        <p:spPr>
          <a:xfrm>
            <a:off x="7013448" y="3858768"/>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Solo en el servidor, como variable de entorno. No está en el código, la imagen ni el navegador.</a:t>
            </a:r>
            <a:endParaRPr lang="en-US" sz="1200" dirty="0"/>
          </a:p>
        </p:txBody>
      </p:sp>
      <p:sp>
        <p:nvSpPr>
          <p:cNvPr id="24" name="card"/>
          <p:cNvSpPr/>
          <p:nvPr/>
        </p:nvSpPr>
        <p:spPr>
          <a:xfrm>
            <a:off x="548640" y="4745736"/>
            <a:ext cx="5440680" cy="1325880"/>
          </a:xfrm>
          <a:prstGeom prst="roundRect">
            <a:avLst>
              <a:gd name="adj" fmla="val 9655"/>
            </a:avLst>
          </a:prstGeom>
          <a:solidFill>
            <a:schemeClr val="tx2"/>
          </a:solidFill>
          <a:ln/>
        </p:spPr>
      </p:sp>
      <p:sp>
        <p:nvSpPr>
          <p:cNvPr id="25" name="icono-MdHelpOutline"/>
          <p:cNvSpPr/>
          <p:nvPr/>
        </p:nvSpPr>
        <p:spPr>
          <a:xfrm>
            <a:off x="777240" y="4974336"/>
            <a:ext cx="438912" cy="438912"/>
          </a:xfrm>
          <a:prstGeom prst="roundRect">
            <a:avLst>
              <a:gd name="adj" fmla="val 22000"/>
            </a:avLst>
          </a:prstGeom>
          <a:solidFill>
            <a:schemeClr val="accent1"/>
          </a:solidFill>
          <a:ln/>
        </p:spPr>
      </p:sp>
      <p:pic>
        <p:nvPicPr>
          <p:cNvPr id="26" name="glifo-MdHelpOutline" descr="preencoded.png">    </p:cNvPr>
          <p:cNvPicPr>
            <a:picLocks noChangeAspect="1"/>
          </p:cNvPicPr>
          <p:nvPr/>
        </p:nvPicPr>
        <p:blipFill>
          <a:blip r:embed="rId5"/>
          <a:stretch>
            <a:fillRect/>
          </a:stretch>
        </p:blipFill>
        <p:spPr>
          <a:xfrm>
            <a:off x="865022" y="5062118"/>
            <a:ext cx="263347" cy="263347"/>
          </a:xfrm>
          <a:prstGeom prst="rect">
            <a:avLst/>
          </a:prstGeom>
        </p:spPr>
      </p:pic>
      <p:sp>
        <p:nvSpPr>
          <p:cNvPr id="27" name="Text 20"/>
          <p:cNvSpPr txBox="1"/>
          <p:nvPr/>
        </p:nvSpPr>
        <p:spPr>
          <a:xfrm>
            <a:off x="1371600" y="4946904"/>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¿Por qué MVC y no una API con SPA?</a:t>
            </a:r>
            <a:endParaRPr lang="en-US" sz="1400" dirty="0"/>
          </a:p>
        </p:txBody>
      </p:sp>
      <p:sp>
        <p:nvSpPr>
          <p:cNvPr id="28" name="Text 21"/>
          <p:cNvSpPr txBox="1"/>
          <p:nvPr/>
        </p:nvSpPr>
        <p:spPr>
          <a:xfrm>
            <a:off x="1371600" y="5340096"/>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La guía pide C# y ASP.NET Core en frontend y backend; un solo proyecto simplifica todo.</a:t>
            </a:r>
            <a:endParaRPr lang="en-US" sz="1200" dirty="0"/>
          </a:p>
        </p:txBody>
      </p:sp>
      <p:sp>
        <p:nvSpPr>
          <p:cNvPr id="29" name="card"/>
          <p:cNvSpPr/>
          <p:nvPr/>
        </p:nvSpPr>
        <p:spPr>
          <a:xfrm>
            <a:off x="6190488" y="4745736"/>
            <a:ext cx="5440680" cy="1325880"/>
          </a:xfrm>
          <a:prstGeom prst="roundRect">
            <a:avLst>
              <a:gd name="adj" fmla="val 9655"/>
            </a:avLst>
          </a:prstGeom>
          <a:solidFill>
            <a:schemeClr val="tx2"/>
          </a:solidFill>
          <a:ln/>
        </p:spPr>
      </p:sp>
      <p:sp>
        <p:nvSpPr>
          <p:cNvPr id="30" name="icono-MdHelpOutline"/>
          <p:cNvSpPr/>
          <p:nvPr/>
        </p:nvSpPr>
        <p:spPr>
          <a:xfrm>
            <a:off x="6419088" y="4974336"/>
            <a:ext cx="438912" cy="438912"/>
          </a:xfrm>
          <a:prstGeom prst="roundRect">
            <a:avLst>
              <a:gd name="adj" fmla="val 22000"/>
            </a:avLst>
          </a:prstGeom>
          <a:solidFill>
            <a:schemeClr val="accent1"/>
          </a:solidFill>
          <a:ln/>
        </p:spPr>
      </p:sp>
      <p:pic>
        <p:nvPicPr>
          <p:cNvPr id="31" name="glifo-MdHelpOutline" descr="preencoded.png">    </p:cNvPr>
          <p:cNvPicPr>
            <a:picLocks noChangeAspect="1"/>
          </p:cNvPicPr>
          <p:nvPr/>
        </p:nvPicPr>
        <p:blipFill>
          <a:blip r:embed="rId6"/>
          <a:stretch>
            <a:fillRect/>
          </a:stretch>
        </p:blipFill>
        <p:spPr>
          <a:xfrm>
            <a:off x="6506870" y="5062118"/>
            <a:ext cx="263347" cy="263347"/>
          </a:xfrm>
          <a:prstGeom prst="rect">
            <a:avLst/>
          </a:prstGeom>
        </p:spPr>
      </p:pic>
      <p:sp>
        <p:nvSpPr>
          <p:cNvPr id="32" name="Text 24"/>
          <p:cNvSpPr txBox="1"/>
          <p:nvPr/>
        </p:nvSpPr>
        <p:spPr>
          <a:xfrm>
            <a:off x="7013448" y="4946904"/>
            <a:ext cx="4434840" cy="365760"/>
          </a:xfrm>
          <a:prstGeom prst="rect">
            <a:avLst/>
          </a:prstGeom>
          <a:noFill/>
          <a:ln/>
        </p:spPr>
        <p:txBody>
          <a:bodyPr wrap="square" lIns="0" tIns="0" rIns="0" bIns="0" rtlCol="0" anchor="t"/>
          <a:lstStyle/>
          <a:p>
            <a:pPr indent="0" marL="0">
              <a:buNone/>
            </a:pPr>
            <a:r>
              <a:rPr lang="en-US" sz="1400" b="1" dirty="0">
                <a:solidFill>
                  <a:schemeClr val="bg1"/>
                </a:solidFill>
                <a:latin typeface="Segoe UI" pitchFamily="34" charset="0"/>
                <a:ea typeface="Segoe UI" pitchFamily="34" charset="-122"/>
                <a:cs typeface="Segoe UI" pitchFamily="34" charset="-120"/>
              </a:rPr>
              <a:t>¿La IA puede inventar un vehículo?</a:t>
            </a:r>
            <a:endParaRPr lang="en-US" sz="1400" dirty="0"/>
          </a:p>
        </p:txBody>
      </p:sp>
      <p:sp>
        <p:nvSpPr>
          <p:cNvPr id="33" name="Text 25"/>
          <p:cNvSpPr txBox="1"/>
          <p:nvPr/>
        </p:nvSpPr>
        <p:spPr>
          <a:xfrm>
            <a:off x="7013448" y="5340096"/>
            <a:ext cx="4434840" cy="640080"/>
          </a:xfrm>
          <a:prstGeom prst="rect">
            <a:avLst/>
          </a:prstGeom>
          <a:noFill/>
          <a:ln/>
        </p:spPr>
        <p:txBody>
          <a:bodyPr wrap="square" lIns="0" tIns="0" rIns="0" bIns="0" rtlCol="0" anchor="t"/>
          <a:lstStyle/>
          <a:p>
            <a:pPr indent="0" marL="0">
              <a:buNone/>
            </a:pPr>
            <a:r>
              <a:rPr lang="en-US" sz="1200" dirty="0">
                <a:solidFill>
                  <a:schemeClr val="bg2"/>
                </a:solidFill>
                <a:latin typeface="Segoe UI" pitchFamily="34" charset="0"/>
                <a:ea typeface="Segoe UI" pitchFamily="34" charset="-122"/>
                <a:cs typeface="Segoe UI" pitchFamily="34" charset="-120"/>
              </a:rPr>
              <a:t>No: el servidor descarta IDs fuera de la lista de candidatos ya verificados como libres.</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vehiculo-cierre" descr="C:\Users\caleb\AppData\Local\Temp\claude\C--Users-caleb-Documents-Estudios-Universidad-TECNICO-CICLO02-DSP-DSP-Teoria-DSP-Proyecto-Catedra--claude-worktrees-update-project-documentation-92954b\d57d161d-a786-4869-8058-97cb6ca88192\scratchpad\deck\img\crv.png">    </p:cNvPr>
          <p:cNvPicPr>
            <a:picLocks noChangeAspect="1"/>
          </p:cNvPicPr>
          <p:nvPr/>
        </p:nvPicPr>
        <p:blipFill>
          <a:blip r:embed="rId1"/>
          <a:stretch>
            <a:fillRect/>
          </a:stretch>
        </p:blipFill>
        <p:spPr>
          <a:xfrm>
            <a:off x="6812280" y="2057400"/>
            <a:ext cx="5394960" cy="2697480"/>
          </a:xfrm>
          <a:prstGeom prst="rect">
            <a:avLst/>
          </a:prstGeom>
        </p:spPr>
      </p:pic>
      <p:sp>
        <p:nvSpPr>
          <p:cNvPr id="3" name="Text 1"/>
          <p:cNvSpPr/>
          <p:nvPr>
            <p:ph idx="102" type="title" hasCustomPrompt="1"/>
          </p:nvPr>
        </p:nvSpPr>
        <p:spPr>
          <a:xfrm>
            <a:off x="548640" y="2971800"/>
            <a:ext cx="6949440" cy="1188720"/>
          </a:xfrm>
          <a:prstGeom prst="rect">
            <a:avLst/>
          </a:prstGeom>
          <a:noFill/>
          <a:ln/>
        </p:spPr>
        <p:txBody>
          <a:bodyPr wrap="square" lIns="0" tIns="0" rIns="0" bIns="0" rtlCol="0" anchor="t"/>
          <a:lstStyle/>
          <a:p>
            <a:pPr algn="l" indent="0" marL="0">
              <a:buNone/>
            </a:pPr>
            <a:r>
              <a:rPr lang="en-US" sz="6000" dirty="0">
                <a:solidFill>
                  <a:schemeClr val="bg1"/>
                </a:solidFill>
                <a:latin typeface="Bahnschrift SemiBold Condensed" pitchFamily="34" charset="0"/>
                <a:ea typeface="Bahnschrift SemiBold Condensed" pitchFamily="34" charset="-122"/>
                <a:cs typeface="Bahnschrift SemiBold Condensed" pitchFamily="34" charset="-120"/>
              </a:rPr>
              <a:t>GRACIAS</a:t>
            </a:r>
            <a:endParaRPr lang="en-US" sz="6000" dirty="0"/>
          </a:p>
        </p:txBody>
      </p:sp>
      <p:sp>
        <p:nvSpPr>
          <p:cNvPr id="4" name="Text 1"/>
          <p:cNvSpPr/>
          <p:nvPr>
            <p:ph idx="101" type="body" hasCustomPrompt="1"/>
          </p:nvPr>
        </p:nvSpPr>
        <p:spPr>
          <a:xfrm>
            <a:off x="548640" y="1463040"/>
            <a:ext cx="5486400" cy="1463040"/>
          </a:xfrm>
          <a:prstGeom prst="rect">
            <a:avLst/>
          </a:prstGeom>
          <a:noFill/>
          <a:ln/>
        </p:spPr>
        <p:txBody>
          <a:bodyPr wrap="square" lIns="0" tIns="0" rIns="0" bIns="0" rtlCol="0" anchor="b"/>
          <a:lstStyle/>
          <a:p>
            <a:pPr algn="l" indent="0" marL="0">
              <a:buNone/>
            </a:pPr>
            <a:r>
              <a:rPr lang="en-US" sz="11000" dirty="0">
                <a:solidFill>
                  <a:schemeClr val="accent1"/>
                </a:solidFill>
                <a:latin typeface="Bahnschrift SemiBold Condensed" pitchFamily="34" charset="0"/>
                <a:ea typeface="Bahnschrift SemiBold Condensed" pitchFamily="34" charset="-122"/>
                <a:cs typeface="Bahnschrift SemiBold Condensed" pitchFamily="34" charset="-120"/>
              </a:rPr>
              <a:t>¿?</a:t>
            </a:r>
            <a:endParaRPr lang="en-US" sz="11000" dirty="0"/>
          </a:p>
        </p:txBody>
      </p:sp>
      <p:sp>
        <p:nvSpPr>
          <p:cNvPr id="5" name="Text 1"/>
          <p:cNvSpPr/>
          <p:nvPr>
            <p:ph idx="103" type="body" hasCustomPrompt="1"/>
          </p:nvPr>
        </p:nvSpPr>
        <p:spPr>
          <a:xfrm>
            <a:off x="548640" y="4206240"/>
            <a:ext cx="6583680" cy="914400"/>
          </a:xfrm>
          <a:prstGeom prst="rect">
            <a:avLst/>
          </a:prstGeom>
          <a:noFill/>
          <a:ln/>
        </p:spPr>
        <p:txBody>
          <a:bodyPr wrap="square" lIns="0" tIns="0" rIns="0" bIns="0" rtlCol="0" anchor="t"/>
          <a:lstStyle/>
          <a:p>
            <a:pPr algn="l" indent="0" marL="0">
              <a:buNone/>
            </a:pPr>
            <a:r>
              <a:rPr lang="en-US" sz="1800" dirty="0">
                <a:solidFill>
                  <a:schemeClr val="bg2"/>
                </a:solidFill>
                <a:latin typeface="Segoe UI" pitchFamily="34" charset="0"/>
                <a:ea typeface="Segoe UI" pitchFamily="34" charset="-122"/>
                <a:cs typeface="Segoe UI" pitchFamily="34" charset="-120"/>
              </a:rPr>
              <a:t>Preguntas y demostración en vivo</a:t>
            </a:r>
            <a:endParaRPr lang="en-US" sz="1800" dirty="0"/>
          </a:p>
          <a:p>
            <a:pPr algn="l" indent="0" marL="0">
              <a:buNone/>
            </a:pPr>
            <a:r>
              <a:rPr lang="en-US" sz="1800" dirty="0">
                <a:solidFill>
                  <a:schemeClr val="bg2"/>
                </a:solidFill>
                <a:latin typeface="Segoe UI" pitchFamily="34" charset="0"/>
                <a:ea typeface="Segoe UI" pitchFamily="34" charset="-122"/>
                <a:cs typeface="Segoe UI" pitchFamily="34" charset="-120"/>
              </a:rPr>
              <a:t>github.com/caleb-bvm/Rentavia</a:t>
            </a:r>
            <a:endParaRPr lang="en-US" sz="1800" dirty="0"/>
          </a:p>
        </p:txBody>
      </p:sp>
    </p:spTree>
  </p:cSld>
  <p:clrMapOvr>
    <a:masterClrMapping/>
  </p:clrMapOvr>
</p:sld>
</file>

<file path=ppt/theme/theme1.xml><?xml version="1.0" encoding="utf-8"?>
<a:theme xmlns:a="http://schemas.openxmlformats.org/drawingml/2006/main" name="Rentavia">
  <a:themeElements>
    <a:clrScheme name="Rentavia">
      <a:dk1>
        <a:srgbClr val="1F0F0F"/>
      </a:dk1>
      <a:lt1>
        <a:srgbClr val="FCDBDA"/>
      </a:lt1>
      <a:dk2>
        <a:srgbClr val="2D1B1B"/>
      </a:dk2>
      <a:lt2>
        <a:srgbClr val="E6BDBC"/>
      </a:lt2>
      <a:accent1>
        <a:srgbClr val="E0103A"/>
      </a:accent1>
      <a:accent2>
        <a:srgbClr val="FFB3B3"/>
      </a:accent2>
      <a:accent3>
        <a:srgbClr val="78D5D9"/>
      </a:accent3>
      <a:accent4>
        <a:srgbClr val="81DB81"/>
      </a:accent4>
      <a:accent5>
        <a:srgbClr val="FFB77F"/>
      </a:accent5>
      <a:accent6>
        <a:srgbClr val="392525"/>
      </a:accent6>
      <a:hlink>
        <a:srgbClr val="FFB3B3"/>
      </a:hlink>
      <a:folHlink>
        <a:srgbClr val="E6BDBC"/>
      </a:folHlink>
    </a:clrScheme>
    <a:fontScheme name="Rentavia">
      <a:majorFont>
        <a:latin typeface="Bahnschrift SemiBold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Universidad Don Bosco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Rentavía · Proyecto de Cátedra Fase II</dc:title>
  <dc:subject>PptxGenJS Presentation</dc:subject>
  <dc:creator>Equipo Rentavía</dc:creator>
  <cp:lastModifiedBy>Equipo Rentavía</cp:lastModifiedBy>
  <cp:revision>1</cp:revision>
  <dcterms:created xsi:type="dcterms:W3CDTF">2026-10-23T04:21:14Z</dcterms:created>
  <dcterms:modified xsi:type="dcterms:W3CDTF">2026-10-23T04:21:14Z</dcterms:modified>
</cp:coreProperties>
</file>